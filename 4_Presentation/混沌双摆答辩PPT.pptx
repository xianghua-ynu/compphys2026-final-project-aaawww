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5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各位老师好，我是王翔熙，来自云南大学物理与天文学院。我今天答辩的题目是"混沌双摆的数值模拟与混沌诊断"，这是我的计算物理课程期末项目。</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双摆虽然构造简单——只是两根连杆和两个质点——但它的动力学行为极其丰富，是展示确定性混沌概念的经典模型。学生可以直接观察到大角度翻转和不可预测的方向切换，这是对混沌最生动的诠释。</a:t>
            </a:r>
            <a:endParaRPr lang="zh-CN" dirty="0"/>
          </a:p>
          <a:p>
            <a:endParaRPr lang="zh-CN" dirty="0"/>
          </a:p>
          <a:p>
            <a:r>
              <a:rPr lang="zh-CN" dirty="0"/>
              <a:t>从方法论角度看，双摆的数值模拟涉及非线性ODE积分、Hamiltonian几何积分、误差传播控制以及混沌定量表征，这些议题在分子动力学、天体力学和等离子体物理中同样核心。</a:t>
            </a:r>
            <a:endParaRPr lang="zh-CN" dirty="0"/>
          </a:p>
          <a:p>
            <a:endParaRPr lang="zh-CN" dirty="0"/>
          </a:p>
          <a:p>
            <a:r>
              <a:rPr lang="zh-CN" dirty="0"/>
              <a:t>我的研究有三个目标：第一，在统一参数下系统比较四种数值方法的精度、能量守恒和效率；第二，综合运用FFT、Lyapunov指数、Poincaré截面和分岔图等多种手段，定量刻画从规则到混沌的转变；第三，所有结果以论文级图表呈现，代码做到模块化和可复现。</a:t>
            </a:r>
            <a:endParaRPr lang="zh-CN" dirty="0"/>
          </a:p>
          <a:p>
            <a:endParaRPr lang="zh-CN" dirty="0"/>
          </a:p>
          <a:p>
            <a:r>
              <a:rPr lang="zh-CN" dirty="0"/>
              <a:t>核心主题是：数值方法的选择与混沌诊断手段的应用是相辅相成的——没有可靠的数值方法，混沌诊断就失去了可重复性。</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系统由两个耦合的摆组成，广义坐标取两个摆角θ₁和θ₂。我通过Lagrange力学导出了运动方程，状态向量是一个四维的，包含两个角度和两个角速度。</a:t>
            </a:r>
            <a:endParaRPr lang="zh-CN" dirty="0"/>
          </a:p>
          <a:p>
            <a:endParaRPr lang="zh-CN" dirty="0"/>
          </a:p>
          <a:p>
            <a:r>
              <a:rPr lang="zh-CN" dirty="0"/>
              <a:t>动能表达式里最关键的是第三项，也就是Coriolis耦合项，它包含两个角速度的乘积，反映了两摆杆之间的惯性耦合——正是这个非线性项使得能量可以在两个摆之间高效传递，从而产生混沌行为。</a:t>
            </a:r>
            <a:endParaRPr lang="zh-CN" dirty="0"/>
          </a:p>
          <a:p>
            <a:endParaRPr lang="zh-CN" dirty="0"/>
          </a:p>
          <a:p>
            <a:r>
              <a:rPr lang="zh-CN" dirty="0"/>
              <a:t>为了研究分岔现象，我还引入了受迫阻尼拓展模型，加入线性阻尼项和周期驱动力，阻尼系数取零点五，驱动频率取二弧度每秒。</a:t>
            </a:r>
            <a:endParaRPr lang="zh-CN" dirty="0"/>
          </a:p>
          <a:p>
            <a:endParaRPr lang="zh-CN" dirty="0"/>
          </a:p>
          <a:p>
            <a:r>
              <a:rPr lang="zh-CN" dirty="0"/>
              <a:t>底部是系统结构示意图的占位区域，后续会插入实际的示意图。</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我选择了四种有代表性的数值方法进行系统比较。Forward Euler是最朴素的显式方法，作为精度的底线参照；RK4是四阶精度的金标准；Symplectic Euler和Velocity Verlet则代表了面向Hamiltonian系统的几何积分路径。</a:t>
            </a:r>
            <a:endParaRPr lang="zh-CN" dirty="0"/>
          </a:p>
          <a:p>
            <a:endParaRPr lang="zh-CN" dirty="0"/>
          </a:p>
          <a:p>
            <a:r>
              <a:rPr lang="zh-CN" dirty="0"/>
              <a:t>从这个对比表可以清楚看到，Forward Euler和Symplectic Euler同为一阶方法，但Symplectic Euler的辛结构使其能量行为是有界振荡而非单向漂移。RK4精度最高，达到四阶，但每步需要四次函数求值。</a:t>
            </a:r>
            <a:endParaRPr lang="zh-CN" dirty="0"/>
          </a:p>
          <a:p>
            <a:endParaRPr lang="zh-CN" dirty="0"/>
          </a:p>
          <a:p>
            <a:r>
              <a:rPr lang="zh-CN" dirty="0"/>
              <a:t>值得注意的是，Symplectic Euler在计算速度上与Forward Euler几乎相同——二十三万六千步每秒对比二十一万四千步每秒——但却多了辛结构的优势，因此是长时间Hamiltonian演化中性价比最高的选择。</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要信任数值结果，首先需要验证方法的实现正确性。我将系统退化至单摆极限——此时Lyapunov指数为零，不存在混沌发散——然后用极高精度的参考解对比。结果显示，四种方法的实测阶数与理论预期偏差全部小于百分之二，这确认了代码实现的正确性。</a:t>
            </a:r>
            <a:endParaRPr lang="zh-CN" dirty="0"/>
          </a:p>
          <a:p>
            <a:endParaRPr lang="zh-CN" dirty="0"/>
          </a:p>
          <a:p>
            <a:r>
              <a:rPr lang="zh-CN" dirty="0"/>
              <a:t>能量守恒分析揭示了更本质的差异。Forward Euler的能量在二十秒内漂移了百分之三千五百七十，这是非辛显式方法的反耗散行为——系统性地向系统注入能量。相比之下，两种辛方法的能量误差围绕零值有界振荡，没有长期漂移，这正是辛积分器保持相空间结构的直接体现。</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四种方法的相空间轨迹在定性上都展现出混沌的弥散结构，但细节存在差异。更有意思的是轨线的时域对比——在相同的物理参数和初始条件下，不同方法在两秒后就开始出现分歧，五秒后完全分离。</a:t>
            </a:r>
            <a:endParaRPr lang="zh-CN" dirty="0"/>
          </a:p>
          <a:p>
            <a:endParaRPr lang="zh-CN" dirty="0"/>
          </a:p>
          <a:p>
            <a:r>
              <a:rPr lang="zh-CN" dirty="0"/>
              <a:t>这不是物理系统本身的不确定性，而是混沌对微小数值扰动的指数放大效应。这一观察本身就构成了重要警示：单一数值方法的结果不应被视为真实解，需要通过不同方法的交叉验证来评估可靠性。</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来看混沌诊断的结果。首先，FFT功率谱能够快速区分周期运动和混沌运动——周期运动在频谱上表现为离散的尖峰，包括约零点三七赫兹的基频及其谐波；混沌运动则呈现连续的宽带谱，能量分布在很宽的频率范围内。</a:t>
            </a:r>
            <a:endParaRPr lang="zh-CN" dirty="0"/>
          </a:p>
          <a:p>
            <a:endParaRPr lang="zh-CN" dirty="0"/>
          </a:p>
          <a:p>
            <a:r>
              <a:rPr lang="zh-CN" dirty="0"/>
              <a:t>然而功率谱只能做定性判断，准周期运动也可能被误判。为此我计算了最大Lyapunov指数。采用Benettin轨道分离法，得到的λ_max约为零点零五零每秒，大于零，这是混沌的定量判据。相应的Lyapunov时间约为二十秒——这意味着任何超过约六位有效数字的数值积分在二十秒后都无法提供有意义的确定性预测。</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Poincaré截面将四维相空间的连续流映射为二维平面上的离散点。我选取θ₁等于零作为截面条件，记录摆杆经过竖直位置时的状态。从截面图可以看到，RK4、Symplectic Euler和Velocity Verlet都呈现弥散的点云分布——这正是混沌运动的典型特征。</a:t>
            </a:r>
            <a:endParaRPr lang="zh-CN" dirty="0"/>
          </a:p>
          <a:p>
            <a:endParaRPr lang="zh-CN" dirty="0"/>
          </a:p>
          <a:p>
            <a:r>
              <a:rPr lang="zh-CN" dirty="0"/>
              <a:t>分岔图展示了更丰富的动力学转变。在弱驱动下，系统稳定在周期一的极限环上；当驱动振幅增大到约一点零，极限环失稳并发生第一次倍周期分岔；进一步增大驱动振幅触发了级联式分岔——周期一到周期二到周期四——最终在振幅大于一点三后进入混沌带。这一路径与Feigenbaum普适性理论的预言完全一致，也和Duffing振子等经典非线性系统中观察到的行为具有相同的普适特征。</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我在质量比和初始能量的参数空间中逐点计算了Lyapunov指数，构建了混沌相图。红色区域表示正Lyapunov指数即混沌，蓝色表示规则运动。</a:t>
            </a:r>
            <a:endParaRPr lang="zh-CN" dirty="0"/>
          </a:p>
          <a:p>
            <a:endParaRPr lang="zh-CN" dirty="0"/>
          </a:p>
          <a:p>
            <a:r>
              <a:rPr lang="zh-CN" dirty="0"/>
              <a:t>一个有趣的发现是，等质量比时混沌最强——这是因为惯性耦合项在R约等于一时最大化，能量在两摆之间传递效率最高。当外摆远重于内摆或者反过来，系统分别退化为驱动单摆或受迫振子，混沌程度就会减弱。</a:t>
            </a:r>
            <a:endParaRPr lang="zh-CN" dirty="0"/>
          </a:p>
          <a:p>
            <a:endParaRPr lang="zh-CN" dirty="0"/>
          </a:p>
          <a:p>
            <a:r>
              <a:rPr lang="zh-CN" dirty="0"/>
              <a:t>在几何层面，我利用Grassberger-Procaccia算法计算了关联维数。D₂约为一点二四，介于曲线的一维和曲面的二维之间，这说明混沌吸引子具有fractal几何结构。这一结果与Kaplan-Yorke猜想一致：对于最大Lyapunov指数为正但两个Lyapunov指数之和为负的耗散系统，Lyapunov维数通常落在一到二之间。</a:t>
            </a:r>
            <a:endParaRPr lang="zh-CN" dirty="0"/>
          </a:p>
          <a:p>
            <a:endParaRPr lang="zh-CN" dirty="0"/>
          </a:p>
          <a:p>
            <a:r>
              <a:rPr lang="zh-CN" dirty="0"/>
              <a:t>Lyapunov指数从动力学角度回答了相邻轨道是否指数分离，关联维数从几何角度回答了吸引子占据了多少维的空间——两者从不同侧面完整地刻画了混沌吸引子的性质。</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结来看，我得到了七条核心结论。首先，四种数值方法的实测精度阶数与理论预期高度吻合，验证了代码实现的正确性。其次，辛方法在能量守恒方面展现了本质优势——有界振荡而无长期漂移。第三，通过综合运用多种诊断手段，我确认了双摆系统的混沌性质，Lyapunov指数为正提供了定量判据。</a:t>
            </a:r>
            <a:endParaRPr lang="zh-CN" dirty="0"/>
          </a:p>
          <a:p>
            <a:endParaRPr lang="zh-CN" dirty="0"/>
          </a:p>
          <a:p>
            <a:r>
              <a:rPr lang="zh-CN" dirty="0"/>
              <a:t>在参数空间层面，等质量比时混沌最强，分岔图清晰地展示了Feigenbaum倍周期分岔路径。计算效率方面，Symplectic Euler以与Forward Euler相当的速度提供了辛结构的优势，性价比最优。关联维数一点二四的结果表明混沌吸引子具有fractal几何特征。</a:t>
            </a:r>
            <a:endParaRPr lang="zh-CN" dirty="0"/>
          </a:p>
          <a:p>
            <a:endParaRPr lang="zh-CN" dirty="0"/>
          </a:p>
          <a:p>
            <a:r>
              <a:rPr lang="zh-CN" dirty="0"/>
              <a:t>展望未来，可以通过Numba JIT编译或GPU加速将计算速度提升一到两个数量级，从而支持更高分辨率的参数空间扫描；分岔图中混沌带内部的周期窗口也值得进一步探索，以验证Feigenbaum普适常数在双摆系统中的适用性。</a:t>
            </a:r>
            <a:endParaRPr lang="zh-CN" dirty="0"/>
          </a:p>
          <a:p>
            <a:endParaRPr lang="zh-CN" dirty="0"/>
          </a:p>
          <a:p>
            <a:r>
              <a:rPr lang="zh-CN" dirty="0"/>
              <a:t>最后，我想用一句话概括这个项目的核心启示：确定性的方程不等于可预测的运动——数值方法的选择决定了我们能多好地探索这个确定性中的不可预测之美。</a:t>
            </a:r>
            <a:endParaRPr lang="zh-CN" dirty="0"/>
          </a:p>
          <a:p>
            <a:endParaRPr lang="zh-CN" dirty="0"/>
          </a:p>
          <a:p>
            <a:r>
              <a:rPr lang="zh-CN" dirty="0"/>
              <a:t>以上就是我的答辩，谢谢各位老师。</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40000">
                <a:srgbClr val="1E4D7B"/>
              </a:gs>
              <a:gs pos="100000">
                <a:srgbClr val="2E86C1"/>
              </a:gs>
            </a:gsLst>
            <a:lin ang="2700000" scaled="1"/>
          </a:gradFill>
          <a:ln>
            <a:noFill/>
          </a:ln>
        </p:spPr>
      </p:sp>
      <p:sp>
        <p:nvSpPr>
          <p:cNvPr id="3" name="Ellipse 3"/>
          <p:cNvSpPr/>
          <p:nvPr/>
        </p:nvSpPr>
        <p:spPr>
          <a:xfrm>
            <a:off x="8763000" y="-285750"/>
            <a:ext cx="3429000" cy="3429000"/>
          </a:xfrm>
          <a:prstGeom prst="ellipse">
            <a:avLst/>
          </a:prstGeom>
          <a:solidFill>
            <a:srgbClr val="FFFFFF">
              <a:alpha val="3000"/>
            </a:srgbClr>
          </a:solidFill>
          <a:ln>
            <a:noFill/>
          </a:ln>
        </p:spPr>
      </p:sp>
      <p:sp>
        <p:nvSpPr>
          <p:cNvPr id="4" name="Ellipse 4"/>
          <p:cNvSpPr/>
          <p:nvPr/>
        </p:nvSpPr>
        <p:spPr>
          <a:xfrm>
            <a:off x="9334500" y="285750"/>
            <a:ext cx="2286000" cy="2286000"/>
          </a:xfrm>
          <a:prstGeom prst="ellipse">
            <a:avLst/>
          </a:prstGeom>
          <a:solidFill>
            <a:srgbClr val="FFFFFF">
              <a:alpha val="4000"/>
            </a:srgbClr>
          </a:solidFill>
          <a:ln>
            <a:noFill/>
          </a:ln>
        </p:spPr>
      </p:sp>
      <p:sp>
        <p:nvSpPr>
          <p:cNvPr id="5" name="Ellipse 5"/>
          <p:cNvSpPr/>
          <p:nvPr/>
        </p:nvSpPr>
        <p:spPr>
          <a:xfrm>
            <a:off x="762000" y="4572000"/>
            <a:ext cx="1905000" cy="1905000"/>
          </a:xfrm>
          <a:prstGeom prst="ellipse">
            <a:avLst/>
          </a:prstGeom>
          <a:solidFill>
            <a:srgbClr val="FFFFFF">
              <a:alpha val="3000"/>
            </a:srgbClr>
          </a:solidFill>
          <a:ln>
            <a:noFill/>
          </a:ln>
        </p:spPr>
      </p:sp>
      <p:sp>
        <p:nvSpPr>
          <p:cNvPr id="6" name="Line 6"/>
          <p:cNvSpPr/>
          <p:nvPr/>
        </p:nvSpPr>
        <p:spPr>
          <a:xfrm>
            <a:off x="1905000" y="1905000"/>
            <a:ext cx="1714500" cy="9525"/>
          </a:xfrm>
          <a:custGeom>
            <a:avLst/>
            <a:gdLst/>
            <a:ahLst/>
            <a:cxnLst/>
            <a:rect l="l" t="t" r="r" b="b"/>
            <a:pathLst>
              <a:path w="1714500" h="9525">
                <a:moveTo>
                  <a:pt x="0" y="0"/>
                </a:moveTo>
                <a:lnTo>
                  <a:pt x="1714500" y="0"/>
                </a:lnTo>
              </a:path>
            </a:pathLst>
          </a:custGeom>
          <a:noFill/>
          <a:ln w="9525">
            <a:solidFill>
              <a:srgbClr val="FFFFFF">
                <a:alpha val="8000"/>
              </a:srgbClr>
            </a:solidFill>
          </a:ln>
        </p:spPr>
      </p:sp>
      <p:sp>
        <p:nvSpPr>
          <p:cNvPr id="7" name="Line 7"/>
          <p:cNvSpPr/>
          <p:nvPr/>
        </p:nvSpPr>
        <p:spPr>
          <a:xfrm>
            <a:off x="8572500" y="5238750"/>
            <a:ext cx="1714500" cy="9525"/>
          </a:xfrm>
          <a:custGeom>
            <a:avLst/>
            <a:gdLst/>
            <a:ahLst/>
            <a:cxnLst/>
            <a:rect l="l" t="t" r="r" b="b"/>
            <a:pathLst>
              <a:path w="1714500" h="9525">
                <a:moveTo>
                  <a:pt x="0" y="0"/>
                </a:moveTo>
                <a:lnTo>
                  <a:pt x="1714500" y="0"/>
                </a:lnTo>
              </a:path>
            </a:pathLst>
          </a:custGeom>
          <a:noFill/>
          <a:ln w="9525">
            <a:solidFill>
              <a:srgbClr val="FFFFFF">
                <a:alpha val="6000"/>
              </a:srgbClr>
            </a:solidFill>
          </a:ln>
        </p:spPr>
      </p:sp>
      <p:sp>
        <p:nvSpPr>
          <p:cNvPr id="8" name="Ellipse 8"/>
          <p:cNvSpPr/>
          <p:nvPr/>
        </p:nvSpPr>
        <p:spPr>
          <a:xfrm>
            <a:off x="2352675" y="1114425"/>
            <a:ext cx="57150" cy="57150"/>
          </a:xfrm>
          <a:prstGeom prst="ellipse">
            <a:avLst/>
          </a:prstGeom>
          <a:solidFill>
            <a:srgbClr val="2E86C1">
              <a:alpha val="50000"/>
            </a:srgbClr>
          </a:solidFill>
          <a:ln>
            <a:noFill/>
          </a:ln>
        </p:spPr>
      </p:sp>
      <p:sp>
        <p:nvSpPr>
          <p:cNvPr id="9" name="Ellipse 9"/>
          <p:cNvSpPr/>
          <p:nvPr/>
        </p:nvSpPr>
        <p:spPr>
          <a:xfrm>
            <a:off x="2543175" y="1114425"/>
            <a:ext cx="57150" cy="57150"/>
          </a:xfrm>
          <a:prstGeom prst="ellipse">
            <a:avLst/>
          </a:prstGeom>
          <a:solidFill>
            <a:srgbClr val="2E86C1">
              <a:alpha val="30000"/>
            </a:srgbClr>
          </a:solidFill>
          <a:ln>
            <a:noFill/>
          </a:ln>
        </p:spPr>
      </p:sp>
      <p:sp>
        <p:nvSpPr>
          <p:cNvPr id="10" name="Ellipse 10"/>
          <p:cNvSpPr/>
          <p:nvPr/>
        </p:nvSpPr>
        <p:spPr>
          <a:xfrm>
            <a:off x="2733675" y="1114425"/>
            <a:ext cx="57150" cy="57150"/>
          </a:xfrm>
          <a:prstGeom prst="ellipse">
            <a:avLst/>
          </a:prstGeom>
          <a:solidFill>
            <a:srgbClr val="2E86C1">
              <a:alpha val="15000"/>
            </a:srgbClr>
          </a:solidFill>
          <a:ln>
            <a:noFill/>
          </a:ln>
        </p:spPr>
      </p:sp>
      <p:sp>
        <p:nvSpPr>
          <p:cNvPr id="11" name="TextBox 11"/>
          <p:cNvSpPr txBox="1"/>
          <p:nvPr/>
        </p:nvSpPr>
        <p:spPr>
          <a:xfrm>
            <a:off x="1628299" y="2133600"/>
            <a:ext cx="8935402"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Segoe UI" panose="020B0502040204020203"/>
                <a:ea typeface="黑体" panose="02010609060101010101" charset="-122"/>
                <a:cs typeface="Segoe UI" panose="020B0502040204020203"/>
              </a:rPr>
              <a:t>混沌双摆的数值模拟与混沌诊断</a:t>
            </a:r>
            <a:endParaRPr lang="zh-CN" sz="4500" b="1" dirty="0">
              <a:solidFill>
                <a:srgbClr val="FFFFFF"/>
              </a:solidFill>
              <a:latin typeface="Segoe UI" panose="020B0502040204020203"/>
              <a:ea typeface="黑体" panose="02010609060101010101" charset="-122"/>
              <a:cs typeface="Segoe UI" panose="020B0502040204020203"/>
            </a:endParaRPr>
          </a:p>
        </p:txBody>
      </p:sp>
      <p:sp>
        <p:nvSpPr>
          <p:cNvPr id="12" name="Rectangle 12"/>
          <p:cNvSpPr/>
          <p:nvPr/>
        </p:nvSpPr>
        <p:spPr>
          <a:xfrm>
            <a:off x="4191000" y="2905125"/>
            <a:ext cx="3810000" cy="28575"/>
          </a:xfrm>
          <a:prstGeom prst="roundRect">
            <a:avLst>
              <a:gd name="adj" fmla="val 50000"/>
            </a:avLst>
          </a:prstGeom>
          <a:gradFill>
            <a:gsLst>
              <a:gs pos="0">
                <a:srgbClr val="2E86C1">
                  <a:alpha val="0"/>
                </a:srgbClr>
              </a:gs>
              <a:gs pos="50000">
                <a:srgbClr val="E74C3C">
                  <a:alpha val="70000"/>
                </a:srgbClr>
              </a:gs>
              <a:gs pos="100000">
                <a:srgbClr val="2E86C1">
                  <a:alpha val="0"/>
                </a:srgbClr>
              </a:gs>
            </a:gsLst>
            <a:lin ang="0" scaled="1"/>
          </a:gradFill>
          <a:ln>
            <a:noFill/>
          </a:ln>
        </p:spPr>
      </p:sp>
      <p:sp>
        <p:nvSpPr>
          <p:cNvPr id="13" name="TextBox 13"/>
          <p:cNvSpPr txBox="1"/>
          <p:nvPr/>
        </p:nvSpPr>
        <p:spPr>
          <a:xfrm>
            <a:off x="4599146" y="3154680"/>
            <a:ext cx="2993708" cy="426720"/>
          </a:xfrm>
          <a:prstGeom prst="rect">
            <a:avLst/>
          </a:prstGeom>
          <a:noFill/>
          <a:ln>
            <a:noFill/>
          </a:ln>
        </p:spPr>
        <p:txBody>
          <a:bodyPr wrap="none" lIns="0" tIns="0" rIns="0" bIns="0" anchor="t" anchorCtr="0">
            <a:spAutoFit/>
          </a:bodyPr>
          <a:lstStyle/>
          <a:p>
            <a:pPr algn="ctr"/>
            <a:r>
              <a:rPr lang="zh-CN" sz="2100" b="1" dirty="0">
                <a:solidFill>
                  <a:srgbClr val="FFFFFF">
                    <a:alphaMod val="85000"/>
                  </a:srgbClr>
                </a:solidFill>
                <a:latin typeface="Arial" panose="020B0604020202020204"/>
                <a:ea typeface="微软雅黑" panose="020B0503020204020204" charset="-122"/>
                <a:cs typeface="Arial" panose="020B0604020202020204"/>
              </a:rPr>
              <a:t>计算物理课程期末答辩</a:t>
            </a:r>
            <a:endParaRPr lang="zh-CN" sz="2100" b="1" dirty="0">
              <a:solidFill>
                <a:srgbClr val="FFFFFF">
                  <a:alphaMod val="85000"/>
                </a:srgbClr>
              </a:solidFill>
              <a:latin typeface="Arial" panose="020B0604020202020204"/>
              <a:ea typeface="微软雅黑" panose="020B0503020204020204" charset="-122"/>
              <a:cs typeface="Arial" panose="020B0604020202020204"/>
            </a:endParaRPr>
          </a:p>
        </p:txBody>
      </p:sp>
      <p:sp>
        <p:nvSpPr>
          <p:cNvPr id="14" name="Line 14"/>
          <p:cNvSpPr/>
          <p:nvPr/>
        </p:nvSpPr>
        <p:spPr>
          <a:xfrm>
            <a:off x="5334000" y="3762375"/>
            <a:ext cx="1524000" cy="9525"/>
          </a:xfrm>
          <a:custGeom>
            <a:avLst/>
            <a:gdLst/>
            <a:ahLst/>
            <a:cxnLst/>
            <a:rect l="l" t="t" r="r" b="b"/>
            <a:pathLst>
              <a:path w="1524000" h="9525">
                <a:moveTo>
                  <a:pt x="0" y="0"/>
                </a:moveTo>
                <a:lnTo>
                  <a:pt x="1524000" y="0"/>
                </a:lnTo>
              </a:path>
            </a:pathLst>
          </a:custGeom>
          <a:noFill/>
          <a:ln w="9525">
            <a:solidFill>
              <a:srgbClr val="FFFFFF">
                <a:alpha val="25000"/>
              </a:srgbClr>
            </a:solidFill>
          </a:ln>
        </p:spPr>
      </p:sp>
      <p:sp>
        <p:nvSpPr>
          <p:cNvPr id="15" name="TextBox 15"/>
          <p:cNvSpPr txBox="1"/>
          <p:nvPr/>
        </p:nvSpPr>
        <p:spPr>
          <a:xfrm>
            <a:off x="5713095" y="4044315"/>
            <a:ext cx="765810" cy="365760"/>
          </a:xfrm>
          <a:prstGeom prst="rect">
            <a:avLst/>
          </a:prstGeom>
          <a:noFill/>
          <a:ln>
            <a:noFill/>
          </a:ln>
        </p:spPr>
        <p:txBody>
          <a:bodyPr wrap="none" lIns="0" tIns="0" rIns="0" bIns="0" anchor="t" anchorCtr="0">
            <a:spAutoFit/>
          </a:bodyPr>
          <a:lstStyle/>
          <a:p>
            <a:pPr algn="ctr"/>
            <a:r>
              <a:rPr lang="zh-CN" sz="1800" dirty="0">
                <a:solidFill>
                  <a:srgbClr val="FFFFFF">
                    <a:alphaMod val="90000"/>
                  </a:srgbClr>
                </a:solidFill>
                <a:latin typeface="Arial" panose="020B0604020202020204"/>
                <a:ea typeface="微软雅黑" panose="020B0503020204020204" charset="-122"/>
                <a:cs typeface="Arial" panose="020B0604020202020204"/>
              </a:rPr>
              <a:t>王翔熙</a:t>
            </a:r>
            <a:endParaRPr lang="zh-CN" sz="1800" dirty="0">
              <a:solidFill>
                <a:srgbClr val="FFFFFF">
                  <a:alphaMod val="90000"/>
                </a:srgbClr>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5061728" y="4426268"/>
            <a:ext cx="2068544" cy="274320"/>
          </a:xfrm>
          <a:prstGeom prst="rect">
            <a:avLst/>
          </a:prstGeom>
          <a:noFill/>
          <a:ln>
            <a:noFill/>
          </a:ln>
        </p:spPr>
        <p:txBody>
          <a:bodyPr wrap="none" lIns="0" tIns="0" rIns="0" bIns="0" anchor="t" anchorCtr="0">
            <a:spAutoFit/>
          </a:bodyPr>
          <a:lstStyle/>
          <a:p>
            <a:pPr algn="ctr"/>
            <a:r>
              <a:rPr lang="zh-CN" sz="1350" dirty="0">
                <a:solidFill>
                  <a:srgbClr val="FFFFFF">
                    <a:alphaMod val="60000"/>
                  </a:srgbClr>
                </a:solidFill>
                <a:latin typeface="Arial" panose="020B0604020202020204"/>
                <a:ea typeface="微软雅黑" panose="020B0503020204020204" charset="-122"/>
                <a:cs typeface="Arial" panose="020B0604020202020204"/>
              </a:rPr>
              <a:t>云南大学 物理与天文学院</a:t>
            </a:r>
            <a:endParaRPr lang="zh-CN" sz="1350" dirty="0">
              <a:solidFill>
                <a:srgbClr val="FFFFFF">
                  <a:alphaMod val="60000"/>
                </a:srgbClr>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5700712" y="4728210"/>
            <a:ext cx="790575" cy="243840"/>
          </a:xfrm>
          <a:prstGeom prst="rect">
            <a:avLst/>
          </a:prstGeom>
          <a:noFill/>
          <a:ln>
            <a:noFill/>
          </a:ln>
        </p:spPr>
        <p:txBody>
          <a:bodyPr wrap="none" lIns="0" tIns="0" rIns="0" bIns="0" anchor="t" anchorCtr="0">
            <a:spAutoFit/>
          </a:bodyPr>
          <a:lstStyle/>
          <a:p>
            <a:pPr algn="ctr"/>
            <a:r>
              <a:rPr lang="zh-CN" sz="1200" dirty="0">
                <a:solidFill>
                  <a:srgbClr val="FFFFFF">
                    <a:alphaMod val="45000"/>
                  </a:srgbClr>
                </a:solidFill>
                <a:latin typeface="Arial" panose="020B0604020202020204"/>
                <a:ea typeface="微软雅黑" panose="020B0503020204020204" charset="-122"/>
                <a:cs typeface="Arial" panose="020B0604020202020204"/>
              </a:rPr>
              <a:t>2026年7月</a:t>
            </a:r>
            <a:endParaRPr lang="zh-CN" sz="1200" dirty="0">
              <a:solidFill>
                <a:srgbClr val="FFFFFF">
                  <a:alphaMod val="45000"/>
                </a:srgbClr>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559118" y="6514624"/>
            <a:ext cx="2534079" cy="198120"/>
          </a:xfrm>
          <a:prstGeom prst="rect">
            <a:avLst/>
          </a:prstGeom>
          <a:noFill/>
          <a:ln>
            <a:noFill/>
          </a:ln>
        </p:spPr>
        <p:txBody>
          <a:bodyPr wrap="none" lIns="0" tIns="0" rIns="0" bIns="0" anchor="t" anchorCtr="0">
            <a:spAutoFit/>
          </a:bodyPr>
          <a:lstStyle/>
          <a:p>
            <a:pPr algn="l"/>
            <a:r>
              <a:rPr lang="zh-CN" sz="975" dirty="0">
                <a:solidFill>
                  <a:srgbClr val="FFFFFF">
                    <a:alphaMod val="35000"/>
                  </a:srgbClr>
                </a:solidFill>
                <a:latin typeface="Arial" panose="020B0604020202020204"/>
                <a:ea typeface="微软雅黑" panose="020B0503020204020204" charset="-122"/>
                <a:cs typeface="Arial" panose="020B0604020202020204"/>
              </a:rPr>
              <a:t>云南大学 · 物理与天文学院 · 计算物理课程</a:t>
            </a:r>
            <a:endParaRPr lang="zh-CN" sz="975" dirty="0">
              <a:solidFill>
                <a:srgbClr val="FFFFFF">
                  <a:alphaMod val="35000"/>
                </a:srgbClr>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11237571" y="6514624"/>
            <a:ext cx="395311" cy="198120"/>
          </a:xfrm>
          <a:prstGeom prst="rect">
            <a:avLst/>
          </a:prstGeom>
          <a:noFill/>
          <a:ln>
            <a:noFill/>
          </a:ln>
        </p:spPr>
        <p:txBody>
          <a:bodyPr wrap="none" lIns="0" tIns="0" rIns="0" bIns="0" anchor="t" anchorCtr="0">
            <a:spAutoFit/>
          </a:bodyPr>
          <a:lstStyle/>
          <a:p>
            <a:pPr algn="r"/>
            <a:r>
              <a:rPr lang="zh-CN" sz="975" dirty="0">
                <a:solidFill>
                  <a:srgbClr val="FFFFFF">
                    <a:alphaMod val="35000"/>
                  </a:srgbClr>
                </a:solidFill>
                <a:latin typeface="Arial" panose="020B0604020202020204"/>
                <a:ea typeface="微软雅黑" panose="020B0503020204020204" charset="-122"/>
                <a:cs typeface="Arial" panose="020B0604020202020204"/>
              </a:rPr>
              <a:t>01 / 10</a:t>
            </a:r>
            <a:endParaRPr lang="zh-CN" sz="975" dirty="0">
              <a:solidFill>
                <a:srgbClr val="FFFFFF">
                  <a:alphaMod val="35000"/>
                </a:srgbClr>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187643"/>
            <a:ext cx="2865739"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研究背景与目标</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2667000" cy="9525"/>
          </a:xfrm>
          <a:custGeom>
            <a:avLst/>
            <a:gdLst/>
            <a:ahLst/>
            <a:cxnLst/>
            <a:rect l="l" t="t" r="r" b="b"/>
            <a:pathLst>
              <a:path w="2667000" h="9525">
                <a:moveTo>
                  <a:pt x="0" y="0"/>
                </a:moveTo>
                <a:lnTo>
                  <a:pt x="2667000" y="0"/>
                </a:lnTo>
              </a:path>
            </a:pathLst>
          </a:custGeom>
          <a:noFill/>
          <a:ln w="19050" cap="rnd">
            <a:solidFill>
              <a:srgbClr val="2E86C1"/>
            </a:solidFill>
          </a:ln>
        </p:spPr>
      </p:sp>
      <p:sp>
        <p:nvSpPr>
          <p:cNvPr id="6" name="Rectangle 6"/>
          <p:cNvSpPr/>
          <p:nvPr/>
        </p:nvSpPr>
        <p:spPr>
          <a:xfrm>
            <a:off x="571500" y="904875"/>
            <a:ext cx="4953000" cy="2697480"/>
          </a:xfrm>
          <a:prstGeom prst="roundRect">
            <a:avLst>
              <a:gd name="adj" fmla="val 2581"/>
            </a:avLst>
          </a:prstGeom>
          <a:solidFill>
            <a:srgbClr val="F4F6F8"/>
          </a:solidFill>
          <a:ln>
            <a:noFill/>
          </a:ln>
        </p:spPr>
      </p:sp>
      <p:grpSp>
        <p:nvGrpSpPr>
          <p:cNvPr id="10" name="Group 10"/>
          <p:cNvGrpSpPr/>
          <p:nvPr/>
        </p:nvGrpSpPr>
        <p:grpSpPr>
          <a:xfrm>
            <a:off x="900112" y="1185862"/>
            <a:ext cx="257175" cy="257175"/>
            <a:chOff x="900112" y="1185862"/>
            <a:chExt cx="257175" cy="257175"/>
          </a:xfrm>
        </p:grpSpPr>
        <p:sp>
          <p:nvSpPr>
            <p:cNvPr id="7" name="Freeform 7"/>
            <p:cNvSpPr/>
            <p:nvPr/>
          </p:nvSpPr>
          <p:spPr>
            <a:xfrm>
              <a:off x="900112" y="1185862"/>
              <a:ext cx="257175" cy="128588"/>
            </a:xfrm>
            <a:custGeom>
              <a:avLst/>
              <a:gdLst/>
              <a:ahLst/>
              <a:cxnLst/>
              <a:rect l="l" t="t" r="r" b="b"/>
              <a:pathLst>
                <a:path w="257175" h="128588">
                  <a:moveTo>
                    <a:pt x="0" y="128588"/>
                  </a:moveTo>
                  <a:lnTo>
                    <a:pt x="14288" y="128588"/>
                  </a:lnTo>
                  <a:moveTo>
                    <a:pt x="128588" y="0"/>
                  </a:moveTo>
                  <a:lnTo>
                    <a:pt x="128588" y="14288"/>
                  </a:lnTo>
                  <a:moveTo>
                    <a:pt x="242888" y="128588"/>
                  </a:moveTo>
                  <a:lnTo>
                    <a:pt x="257175" y="128588"/>
                  </a:lnTo>
                  <a:moveTo>
                    <a:pt x="37148" y="37148"/>
                  </a:moveTo>
                  <a:lnTo>
                    <a:pt x="47149" y="47149"/>
                  </a:lnTo>
                  <a:moveTo>
                    <a:pt x="220027" y="37148"/>
                  </a:moveTo>
                  <a:lnTo>
                    <a:pt x="210026" y="47149"/>
                  </a:lnTo>
                </a:path>
              </a:pathLst>
            </a:custGeom>
            <a:noFill/>
            <a:ln w="19050">
              <a:solidFill>
                <a:srgbClr val="1A3A5C"/>
              </a:solidFill>
            </a:ln>
          </p:spPr>
        </p:sp>
        <p:sp>
          <p:nvSpPr>
            <p:cNvPr id="8" name="Freeform 8"/>
            <p:cNvSpPr/>
            <p:nvPr/>
          </p:nvSpPr>
          <p:spPr>
            <a:xfrm>
              <a:off x="951205" y="1243012"/>
              <a:ext cx="154990" cy="200025"/>
            </a:xfrm>
            <a:custGeom>
              <a:avLst/>
              <a:gdLst/>
              <a:ahLst/>
              <a:cxnLst/>
              <a:rect l="l" t="t" r="r" b="b"/>
              <a:pathLst>
                <a:path w="154990" h="200025">
                  <a:moveTo>
                    <a:pt x="34633" y="128588"/>
                  </a:moveTo>
                  <a:cubicBezTo>
                    <a:pt x="10034" y="110138"/>
                    <a:pt x="0" y="78018"/>
                    <a:pt x="9724" y="48847"/>
                  </a:cubicBezTo>
                  <a:cubicBezTo>
                    <a:pt x="19447" y="19676"/>
                    <a:pt x="46746" y="0"/>
                    <a:pt x="77495" y="0"/>
                  </a:cubicBezTo>
                  <a:cubicBezTo>
                    <a:pt x="108244" y="0"/>
                    <a:pt x="135543" y="19676"/>
                    <a:pt x="145267" y="48847"/>
                  </a:cubicBezTo>
                  <a:cubicBezTo>
                    <a:pt x="154990" y="78018"/>
                    <a:pt x="144957" y="110138"/>
                    <a:pt x="120358" y="128588"/>
                  </a:cubicBezTo>
                  <a:cubicBezTo>
                    <a:pt x="109044" y="139786"/>
                    <a:pt x="103739" y="155703"/>
                    <a:pt x="106070" y="171450"/>
                  </a:cubicBezTo>
                  <a:cubicBezTo>
                    <a:pt x="106070" y="187232"/>
                    <a:pt x="93277" y="200025"/>
                    <a:pt x="77495" y="200025"/>
                  </a:cubicBezTo>
                  <a:cubicBezTo>
                    <a:pt x="61714" y="200025"/>
                    <a:pt x="48920" y="187232"/>
                    <a:pt x="48920" y="171450"/>
                  </a:cubicBezTo>
                  <a:cubicBezTo>
                    <a:pt x="51252" y="155703"/>
                    <a:pt x="45946" y="139786"/>
                    <a:pt x="34633" y="128588"/>
                  </a:cubicBezTo>
                </a:path>
              </a:pathLst>
            </a:custGeom>
            <a:noFill/>
            <a:ln w="19050">
              <a:solidFill>
                <a:srgbClr val="1A3A5C"/>
              </a:solidFill>
            </a:ln>
          </p:spPr>
        </p:sp>
        <p:sp>
          <p:nvSpPr>
            <p:cNvPr id="9" name="Freeform 9"/>
            <p:cNvSpPr/>
            <p:nvPr/>
          </p:nvSpPr>
          <p:spPr>
            <a:xfrm>
              <a:off x="995839" y="1385888"/>
              <a:ext cx="65723" cy="9525"/>
            </a:xfrm>
            <a:custGeom>
              <a:avLst/>
              <a:gdLst/>
              <a:ahLst/>
              <a:cxnLst/>
              <a:rect l="l" t="t" r="r" b="b"/>
              <a:pathLst>
                <a:path w="65723" h="9525">
                  <a:moveTo>
                    <a:pt x="0" y="0"/>
                  </a:moveTo>
                  <a:lnTo>
                    <a:pt x="65723" y="0"/>
                  </a:lnTo>
                </a:path>
              </a:pathLst>
            </a:custGeom>
            <a:noFill/>
            <a:ln w="19050">
              <a:solidFill>
                <a:srgbClr val="1A3A5C"/>
              </a:solidFill>
            </a:ln>
          </p:spPr>
        </p:sp>
      </p:grpSp>
      <p:sp>
        <p:nvSpPr>
          <p:cNvPr id="11" name="TextBox 11"/>
          <p:cNvSpPr txBox="1"/>
          <p:nvPr/>
        </p:nvSpPr>
        <p:spPr>
          <a:xfrm>
            <a:off x="1293495" y="1203008"/>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研究动机</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12" name="TextBox 12"/>
          <p:cNvSpPr txBox="1"/>
          <p:nvPr/>
        </p:nvSpPr>
        <p:spPr>
          <a:xfrm>
            <a:off x="840105" y="1616392"/>
            <a:ext cx="3814763"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双摆是经典混沌演示模型：构造简单（两根连杆</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840105" y="1883092"/>
            <a:ext cx="2887647"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 两个质点），动力学行为极其丰富</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840105" y="2264092"/>
            <a:ext cx="363474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学生可直接观察大角度翻转、方向不可预测切</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840105" y="2530792"/>
            <a:ext cx="2410587"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换——"确定性混沌"的生动诠释</a:t>
            </a:r>
            <a:endParaRPr lang="zh-CN" sz="1350" dirty="0">
              <a:solidFill>
                <a:srgbClr val="2C3E50"/>
              </a:solidFill>
              <a:latin typeface="Arial" panose="020B0604020202020204"/>
              <a:ea typeface="微软雅黑" panose="020B0503020204020204" charset="-122"/>
              <a:cs typeface="Arial" panose="020B0604020202020204"/>
            </a:endParaRPr>
          </a:p>
        </p:txBody>
      </p:sp>
      <p:grpSp>
        <p:nvGrpSpPr>
          <p:cNvPr id="56" name="组合 55"/>
          <p:cNvGrpSpPr/>
          <p:nvPr/>
        </p:nvGrpSpPr>
        <p:grpSpPr>
          <a:xfrm>
            <a:off x="853440" y="4074795"/>
            <a:ext cx="4192270" cy="1204595"/>
            <a:chOff x="1344" y="6417"/>
            <a:chExt cx="6602" cy="1897"/>
          </a:xfrm>
        </p:grpSpPr>
        <p:grpSp>
          <p:nvGrpSpPr>
            <p:cNvPr id="19" name="Group 19"/>
            <p:cNvGrpSpPr/>
            <p:nvPr/>
          </p:nvGrpSpPr>
          <p:grpSpPr>
            <a:xfrm>
              <a:off x="1447" y="6417"/>
              <a:ext cx="388" cy="388"/>
              <a:chOff x="905356" y="3496156"/>
              <a:chExt cx="246688" cy="246688"/>
            </a:xfrm>
          </p:grpSpPr>
          <p:sp>
            <p:nvSpPr>
              <p:cNvPr id="16" name="Freeform 16"/>
              <p:cNvSpPr/>
              <p:nvPr/>
            </p:nvSpPr>
            <p:spPr>
              <a:xfrm>
                <a:off x="1028700" y="3619500"/>
                <a:ext cx="9525" cy="9525"/>
              </a:xfrm>
              <a:custGeom>
                <a:avLst/>
                <a:gdLst/>
                <a:ahLst/>
                <a:cxnLst/>
                <a:rect l="l" t="t" r="r" b="b"/>
                <a:pathLst>
                  <a:path w="9525" h="9525">
                    <a:moveTo>
                      <a:pt x="0" y="0"/>
                    </a:moveTo>
                    <a:lnTo>
                      <a:pt x="0" y="143"/>
                    </a:lnTo>
                  </a:path>
                </a:pathLst>
              </a:custGeom>
              <a:noFill/>
              <a:ln w="19050">
                <a:solidFill>
                  <a:srgbClr val="1A3A5C"/>
                </a:solidFill>
              </a:ln>
            </p:spPr>
          </p:sp>
          <p:sp>
            <p:nvSpPr>
              <p:cNvPr id="17" name="Freeform 17"/>
              <p:cNvSpPr/>
              <p:nvPr/>
            </p:nvSpPr>
            <p:spPr>
              <a:xfrm>
                <a:off x="905356" y="3496156"/>
                <a:ext cx="246688" cy="246688"/>
              </a:xfrm>
              <a:custGeom>
                <a:avLst/>
                <a:gdLst/>
                <a:ahLst/>
                <a:cxnLst/>
                <a:rect l="l" t="t" r="r" b="b"/>
                <a:pathLst>
                  <a:path w="246688" h="246688">
                    <a:moveTo>
                      <a:pt x="224371" y="22317"/>
                    </a:moveTo>
                    <a:cubicBezTo>
                      <a:pt x="202054" y="0"/>
                      <a:pt x="138646" y="27132"/>
                      <a:pt x="82925" y="82939"/>
                    </a:cubicBezTo>
                    <a:cubicBezTo>
                      <a:pt x="27132" y="138732"/>
                      <a:pt x="0" y="202054"/>
                      <a:pt x="22317" y="224385"/>
                    </a:cubicBezTo>
                    <a:cubicBezTo>
                      <a:pt x="44634" y="246688"/>
                      <a:pt x="108042" y="219556"/>
                      <a:pt x="163763" y="163749"/>
                    </a:cubicBezTo>
                    <a:cubicBezTo>
                      <a:pt x="219556" y="107956"/>
                      <a:pt x="246688" y="44634"/>
                      <a:pt x="224371" y="22303"/>
                    </a:cubicBezTo>
                  </a:path>
                </a:pathLst>
              </a:custGeom>
              <a:noFill/>
              <a:ln w="19050">
                <a:solidFill>
                  <a:srgbClr val="1A3A5C"/>
                </a:solidFill>
              </a:ln>
            </p:spPr>
          </p:sp>
          <p:sp>
            <p:nvSpPr>
              <p:cNvPr id="18" name="Freeform 18"/>
              <p:cNvSpPr/>
              <p:nvPr/>
            </p:nvSpPr>
            <p:spPr>
              <a:xfrm>
                <a:off x="905356" y="3496156"/>
                <a:ext cx="246688" cy="246688"/>
              </a:xfrm>
              <a:custGeom>
                <a:avLst/>
                <a:gdLst/>
                <a:ahLst/>
                <a:cxnLst/>
                <a:rect l="l" t="t" r="r" b="b"/>
                <a:pathLst>
                  <a:path w="246688" h="246688">
                    <a:moveTo>
                      <a:pt x="22317" y="22317"/>
                    </a:moveTo>
                    <a:cubicBezTo>
                      <a:pt x="0" y="44634"/>
                      <a:pt x="27132" y="108042"/>
                      <a:pt x="82939" y="163763"/>
                    </a:cubicBezTo>
                    <a:cubicBezTo>
                      <a:pt x="138732" y="219556"/>
                      <a:pt x="202054" y="246688"/>
                      <a:pt x="224385" y="224371"/>
                    </a:cubicBezTo>
                    <a:cubicBezTo>
                      <a:pt x="246688" y="202054"/>
                      <a:pt x="219556" y="138646"/>
                      <a:pt x="163749" y="82925"/>
                    </a:cubicBezTo>
                    <a:cubicBezTo>
                      <a:pt x="107956" y="27132"/>
                      <a:pt x="44634" y="0"/>
                      <a:pt x="22303" y="22317"/>
                    </a:cubicBezTo>
                  </a:path>
                </a:pathLst>
              </a:custGeom>
              <a:noFill/>
              <a:ln w="19050">
                <a:solidFill>
                  <a:srgbClr val="1A3A5C"/>
                </a:solidFill>
              </a:ln>
            </p:spPr>
          </p:sp>
        </p:grpSp>
        <p:sp>
          <p:nvSpPr>
            <p:cNvPr id="20" name="TextBox 20"/>
            <p:cNvSpPr txBox="1"/>
            <p:nvPr/>
          </p:nvSpPr>
          <p:spPr>
            <a:xfrm>
              <a:off x="2058" y="6436"/>
              <a:ext cx="1885" cy="528"/>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方法论意义</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21" name="TextBox 21"/>
            <p:cNvSpPr txBox="1"/>
            <p:nvPr/>
          </p:nvSpPr>
          <p:spPr>
            <a:xfrm>
              <a:off x="1344" y="7042"/>
              <a:ext cx="6390" cy="432"/>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涉及非线性ODE数值积分、Hamiltonian几何积分、</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1344" y="7462"/>
              <a:ext cx="6603" cy="432"/>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误差传播控制、混沌定量表征——这些在分子动力学、</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344" y="7882"/>
              <a:ext cx="4590" cy="432"/>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天体力学、等离子体物理中同样关键</a:t>
              </a:r>
              <a:endParaRPr lang="zh-CN" sz="1350" dirty="0">
                <a:solidFill>
                  <a:srgbClr val="2C3E50"/>
                </a:solidFill>
                <a:latin typeface="Arial" panose="020B0604020202020204"/>
                <a:ea typeface="微软雅黑" panose="020B0503020204020204" charset="-122"/>
                <a:cs typeface="Arial" panose="020B0604020202020204"/>
              </a:endParaRPr>
            </a:p>
          </p:txBody>
        </p:sp>
      </p:grpSp>
      <p:sp>
        <p:nvSpPr>
          <p:cNvPr id="24" name="Rectangle 24"/>
          <p:cNvSpPr/>
          <p:nvPr/>
        </p:nvSpPr>
        <p:spPr>
          <a:xfrm>
            <a:off x="5905500" y="904875"/>
            <a:ext cx="5715000" cy="5469255"/>
          </a:xfrm>
          <a:prstGeom prst="roundRect">
            <a:avLst>
              <a:gd name="adj" fmla="val 1441"/>
            </a:avLst>
          </a:prstGeom>
          <a:solidFill>
            <a:srgbClr val="F4F6F8"/>
          </a:solidFill>
          <a:ln>
            <a:noFill/>
          </a:ln>
        </p:spPr>
      </p:sp>
      <p:grpSp>
        <p:nvGrpSpPr>
          <p:cNvPr id="28" name="Group 28"/>
          <p:cNvGrpSpPr/>
          <p:nvPr/>
        </p:nvGrpSpPr>
        <p:grpSpPr>
          <a:xfrm>
            <a:off x="6234112" y="1185862"/>
            <a:ext cx="257175" cy="257175"/>
            <a:chOff x="6234112" y="1185862"/>
            <a:chExt cx="257175" cy="257175"/>
          </a:xfrm>
        </p:grpSpPr>
        <p:sp>
          <p:nvSpPr>
            <p:cNvPr id="25" name="Freeform 25"/>
            <p:cNvSpPr/>
            <p:nvPr/>
          </p:nvSpPr>
          <p:spPr>
            <a:xfrm>
              <a:off x="6348412" y="130016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E74C3C"/>
              </a:solidFill>
            </a:ln>
          </p:spPr>
        </p:sp>
        <p:sp>
          <p:nvSpPr>
            <p:cNvPr id="26" name="Freeform 26"/>
            <p:cNvSpPr/>
            <p:nvPr/>
          </p:nvSpPr>
          <p:spPr>
            <a:xfrm>
              <a:off x="6291262" y="12430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E74C3C"/>
              </a:solidFill>
            </a:ln>
          </p:spPr>
        </p:sp>
        <p:sp>
          <p:nvSpPr>
            <p:cNvPr id="27" name="Freeform 27"/>
            <p:cNvSpPr/>
            <p:nvPr/>
          </p:nvSpPr>
          <p:spPr>
            <a:xfrm>
              <a:off x="6234112" y="118586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E74C3C"/>
              </a:solidFill>
            </a:ln>
          </p:spPr>
        </p:sp>
      </p:grpSp>
      <p:sp>
        <p:nvSpPr>
          <p:cNvPr id="29" name="TextBox 29"/>
          <p:cNvSpPr txBox="1"/>
          <p:nvPr/>
        </p:nvSpPr>
        <p:spPr>
          <a:xfrm>
            <a:off x="6627495" y="1203008"/>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研究目标</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0" name="Rectangle 30"/>
          <p:cNvSpPr/>
          <p:nvPr/>
        </p:nvSpPr>
        <p:spPr>
          <a:xfrm>
            <a:off x="6191250" y="1619250"/>
            <a:ext cx="5143500" cy="1095375"/>
          </a:xfrm>
          <a:prstGeom prst="roundRect">
            <a:avLst>
              <a:gd name="adj" fmla="val 5217"/>
            </a:avLst>
          </a:prstGeom>
          <a:solidFill>
            <a:srgbClr val="FFFFFF"/>
          </a:solidFill>
          <a:ln w="9525">
            <a:solidFill>
              <a:srgbClr val="D5D8DC"/>
            </a:solidFill>
          </a:ln>
        </p:spPr>
      </p:sp>
      <p:sp>
        <p:nvSpPr>
          <p:cNvPr id="31" name="Ellipse 31"/>
          <p:cNvSpPr/>
          <p:nvPr/>
        </p:nvSpPr>
        <p:spPr>
          <a:xfrm>
            <a:off x="6324600" y="1809750"/>
            <a:ext cx="381000" cy="381000"/>
          </a:xfrm>
          <a:prstGeom prst="ellipse">
            <a:avLst/>
          </a:prstGeom>
          <a:solidFill>
            <a:srgbClr val="1A3A5C"/>
          </a:solidFill>
          <a:ln>
            <a:noFill/>
          </a:ln>
        </p:spPr>
      </p:sp>
      <p:sp>
        <p:nvSpPr>
          <p:cNvPr id="32" name="TextBox 32"/>
          <p:cNvSpPr txBox="1"/>
          <p:nvPr/>
        </p:nvSpPr>
        <p:spPr>
          <a:xfrm>
            <a:off x="6474657" y="1927860"/>
            <a:ext cx="8088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onsolas" panose="020B0609020204030204"/>
                <a:ea typeface="微软雅黑" panose="020B0503020204020204" charset="-122"/>
                <a:cs typeface="Consolas" panose="020B0609020204030204"/>
              </a:rPr>
              <a:t>1</a:t>
            </a:r>
            <a:endParaRPr lang="zh-CN" sz="1200" b="1" dirty="0">
              <a:solidFill>
                <a:srgbClr val="FFFFFF"/>
              </a:solidFill>
              <a:latin typeface="Consolas" panose="020B0609020204030204"/>
              <a:ea typeface="微软雅黑" panose="020B0503020204020204" charset="-122"/>
              <a:cs typeface="Consolas" panose="020B0609020204030204"/>
            </a:endParaRPr>
          </a:p>
        </p:txBody>
      </p:sp>
      <p:sp>
        <p:nvSpPr>
          <p:cNvPr id="33" name="TextBox 33"/>
          <p:cNvSpPr txBox="1"/>
          <p:nvPr/>
        </p:nvSpPr>
        <p:spPr>
          <a:xfrm>
            <a:off x="6838950" y="1790700"/>
            <a:ext cx="2138362" cy="304800"/>
          </a:xfrm>
          <a:prstGeom prst="rect">
            <a:avLst/>
          </a:prstGeom>
          <a:noFill/>
          <a:ln>
            <a:noFill/>
          </a:ln>
        </p:spPr>
        <p:txBody>
          <a:bodyPr wrap="none" lIns="0" tIns="0" rIns="0" bIns="0" anchor="t" anchorCtr="0">
            <a:spAutoFit/>
          </a:bodyPr>
          <a:lstStyle/>
          <a:p>
            <a:pPr algn="l"/>
            <a:r>
              <a:rPr lang="zh-CN" sz="1500" b="1" dirty="0">
                <a:solidFill>
                  <a:srgbClr val="2C3E50"/>
                </a:solidFill>
                <a:latin typeface="Arial" panose="020B0604020202020204"/>
                <a:ea typeface="微软雅黑" panose="020B0503020204020204" charset="-122"/>
                <a:cs typeface="Arial" panose="020B0604020202020204"/>
              </a:rPr>
              <a:t>四种数值方法系统比较</a:t>
            </a:r>
            <a:endParaRPr lang="zh-CN" sz="1500" b="1" dirty="0">
              <a:solidFill>
                <a:srgbClr val="2C3E5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6842760" y="2099310"/>
            <a:ext cx="3390900"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统一参数下比较精度阶数、能量守恒和计算效率</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842760" y="2327910"/>
            <a:ext cx="4383024"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Forward Euler / RK4 / Symplectic Euler / Velocity Verlet</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36" name="Rectangle 36"/>
          <p:cNvSpPr/>
          <p:nvPr/>
        </p:nvSpPr>
        <p:spPr>
          <a:xfrm>
            <a:off x="6191250" y="2905125"/>
            <a:ext cx="5143500" cy="1095375"/>
          </a:xfrm>
          <a:prstGeom prst="roundRect">
            <a:avLst>
              <a:gd name="adj" fmla="val 5217"/>
            </a:avLst>
          </a:prstGeom>
          <a:solidFill>
            <a:srgbClr val="FFFFFF"/>
          </a:solidFill>
          <a:ln w="9525">
            <a:solidFill>
              <a:srgbClr val="D5D8DC"/>
            </a:solidFill>
          </a:ln>
        </p:spPr>
      </p:sp>
      <p:sp>
        <p:nvSpPr>
          <p:cNvPr id="37" name="Ellipse 37"/>
          <p:cNvSpPr/>
          <p:nvPr/>
        </p:nvSpPr>
        <p:spPr>
          <a:xfrm>
            <a:off x="6324600" y="3095625"/>
            <a:ext cx="381000" cy="381000"/>
          </a:xfrm>
          <a:prstGeom prst="ellipse">
            <a:avLst/>
          </a:prstGeom>
          <a:solidFill>
            <a:srgbClr val="1A3A5C"/>
          </a:solidFill>
          <a:ln>
            <a:noFill/>
          </a:ln>
        </p:spPr>
      </p:sp>
      <p:sp>
        <p:nvSpPr>
          <p:cNvPr id="38" name="TextBox 38"/>
          <p:cNvSpPr txBox="1"/>
          <p:nvPr/>
        </p:nvSpPr>
        <p:spPr>
          <a:xfrm>
            <a:off x="6453654" y="32137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onsolas" panose="020B0609020204030204"/>
                <a:ea typeface="微软雅黑" panose="020B0503020204020204" charset="-122"/>
                <a:cs typeface="Consolas" panose="020B0609020204030204"/>
              </a:rPr>
              <a:t>2</a:t>
            </a:r>
            <a:endParaRPr lang="zh-CN" sz="1200" b="1" dirty="0">
              <a:solidFill>
                <a:srgbClr val="FFFFFF"/>
              </a:solidFill>
              <a:latin typeface="Consolas" panose="020B0609020204030204"/>
              <a:ea typeface="微软雅黑" panose="020B0503020204020204" charset="-122"/>
              <a:cs typeface="Consolas" panose="020B0609020204030204"/>
            </a:endParaRPr>
          </a:p>
        </p:txBody>
      </p:sp>
      <p:sp>
        <p:nvSpPr>
          <p:cNvPr id="39" name="TextBox 39"/>
          <p:cNvSpPr txBox="1"/>
          <p:nvPr/>
        </p:nvSpPr>
        <p:spPr>
          <a:xfrm>
            <a:off x="6838950" y="3076575"/>
            <a:ext cx="1508284" cy="304800"/>
          </a:xfrm>
          <a:prstGeom prst="rect">
            <a:avLst/>
          </a:prstGeom>
          <a:noFill/>
          <a:ln>
            <a:noFill/>
          </a:ln>
        </p:spPr>
        <p:txBody>
          <a:bodyPr wrap="none" lIns="0" tIns="0" rIns="0" bIns="0" anchor="t" anchorCtr="0">
            <a:spAutoFit/>
          </a:bodyPr>
          <a:lstStyle/>
          <a:p>
            <a:pPr algn="l"/>
            <a:r>
              <a:rPr lang="zh-CN" sz="1500" b="1" dirty="0">
                <a:solidFill>
                  <a:srgbClr val="2C3E50"/>
                </a:solidFill>
                <a:latin typeface="Arial" panose="020B0604020202020204"/>
                <a:ea typeface="微软雅黑" panose="020B0503020204020204" charset="-122"/>
                <a:cs typeface="Arial" panose="020B0604020202020204"/>
              </a:rPr>
              <a:t>多手段混沌诊断</a:t>
            </a:r>
            <a:endParaRPr lang="zh-CN" sz="1500" b="1" dirty="0">
              <a:solidFill>
                <a:srgbClr val="2C3E50"/>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6842760" y="3385185"/>
            <a:ext cx="3470910"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FFT功率谱 + 最大Lyapunov指数 + Poincaré截面</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6842760" y="3613785"/>
            <a:ext cx="3414903"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 关联维数 + 分岔图 — 定量刻画规则到混沌转变</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42" name="Rectangle 42"/>
          <p:cNvSpPr/>
          <p:nvPr/>
        </p:nvSpPr>
        <p:spPr>
          <a:xfrm>
            <a:off x="6191250" y="4191000"/>
            <a:ext cx="5143500" cy="1095375"/>
          </a:xfrm>
          <a:prstGeom prst="roundRect">
            <a:avLst>
              <a:gd name="adj" fmla="val 5217"/>
            </a:avLst>
          </a:prstGeom>
          <a:solidFill>
            <a:srgbClr val="FFFFFF"/>
          </a:solidFill>
          <a:ln w="9525">
            <a:solidFill>
              <a:srgbClr val="D5D8DC"/>
            </a:solidFill>
          </a:ln>
        </p:spPr>
      </p:sp>
      <p:sp>
        <p:nvSpPr>
          <p:cNvPr id="43" name="Ellipse 43"/>
          <p:cNvSpPr/>
          <p:nvPr/>
        </p:nvSpPr>
        <p:spPr>
          <a:xfrm>
            <a:off x="6324600" y="4381500"/>
            <a:ext cx="381000" cy="381000"/>
          </a:xfrm>
          <a:prstGeom prst="ellipse">
            <a:avLst/>
          </a:prstGeom>
          <a:solidFill>
            <a:srgbClr val="1A3A5C"/>
          </a:solidFill>
          <a:ln>
            <a:noFill/>
          </a:ln>
        </p:spPr>
      </p:sp>
      <p:sp>
        <p:nvSpPr>
          <p:cNvPr id="44" name="TextBox 44"/>
          <p:cNvSpPr txBox="1"/>
          <p:nvPr/>
        </p:nvSpPr>
        <p:spPr>
          <a:xfrm>
            <a:off x="6453654" y="44996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onsolas" panose="020B0609020204030204"/>
                <a:ea typeface="微软雅黑" panose="020B0503020204020204" charset="-122"/>
                <a:cs typeface="Consolas" panose="020B0609020204030204"/>
              </a:rPr>
              <a:t>3</a:t>
            </a:r>
            <a:endParaRPr lang="zh-CN" sz="1200" b="1" dirty="0">
              <a:solidFill>
                <a:srgbClr val="FFFFFF"/>
              </a:solidFill>
              <a:latin typeface="Consolas" panose="020B0609020204030204"/>
              <a:ea typeface="微软雅黑" panose="020B0503020204020204" charset="-122"/>
              <a:cs typeface="Consolas" panose="020B0609020204030204"/>
            </a:endParaRPr>
          </a:p>
        </p:txBody>
      </p:sp>
      <p:sp>
        <p:nvSpPr>
          <p:cNvPr id="45" name="TextBox 45"/>
          <p:cNvSpPr txBox="1"/>
          <p:nvPr/>
        </p:nvSpPr>
        <p:spPr>
          <a:xfrm>
            <a:off x="6838950" y="4362450"/>
            <a:ext cx="1718310" cy="304800"/>
          </a:xfrm>
          <a:prstGeom prst="rect">
            <a:avLst/>
          </a:prstGeom>
          <a:noFill/>
          <a:ln>
            <a:noFill/>
          </a:ln>
        </p:spPr>
        <p:txBody>
          <a:bodyPr wrap="none" lIns="0" tIns="0" rIns="0" bIns="0" anchor="t" anchorCtr="0">
            <a:spAutoFit/>
          </a:bodyPr>
          <a:lstStyle/>
          <a:p>
            <a:pPr algn="l"/>
            <a:r>
              <a:rPr lang="zh-CN" sz="1500" b="1" dirty="0">
                <a:solidFill>
                  <a:srgbClr val="2C3E50"/>
                </a:solidFill>
                <a:latin typeface="Arial" panose="020B0604020202020204"/>
                <a:ea typeface="微软雅黑" panose="020B0503020204020204" charset="-122"/>
                <a:cs typeface="Arial" panose="020B0604020202020204"/>
              </a:rPr>
              <a:t>模块化可复现代码</a:t>
            </a:r>
            <a:endParaRPr lang="zh-CN" sz="1500" b="1" dirty="0">
              <a:solidFill>
                <a:srgbClr val="2C3E50"/>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6842760" y="4671060"/>
            <a:ext cx="3710940"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所有结果以论文级图表呈现，代码模块化、参数可配</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6842760" y="4899660"/>
            <a:ext cx="3134868"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15张插图 + 4个动画GIF + 完整Python代码库</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48" name="Rectangle 48"/>
          <p:cNvSpPr/>
          <p:nvPr/>
        </p:nvSpPr>
        <p:spPr>
          <a:xfrm>
            <a:off x="6191250" y="5476875"/>
            <a:ext cx="5143500" cy="711200"/>
          </a:xfrm>
          <a:prstGeom prst="roundRect">
            <a:avLst>
              <a:gd name="adj" fmla="val 12000"/>
            </a:avLst>
          </a:prstGeom>
          <a:solidFill>
            <a:srgbClr val="1A3A5C">
              <a:alpha val="6000"/>
            </a:srgbClr>
          </a:solidFill>
          <a:ln>
            <a:noFill/>
          </a:ln>
        </p:spPr>
      </p:sp>
      <p:grpSp>
        <p:nvGrpSpPr>
          <p:cNvPr id="51" name="Group 51"/>
          <p:cNvGrpSpPr/>
          <p:nvPr/>
        </p:nvGrpSpPr>
        <p:grpSpPr>
          <a:xfrm>
            <a:off x="6457950" y="5715000"/>
            <a:ext cx="171450" cy="114300"/>
            <a:chOff x="6457950" y="5715000"/>
            <a:chExt cx="171450" cy="114300"/>
          </a:xfrm>
        </p:grpSpPr>
        <p:sp>
          <p:nvSpPr>
            <p:cNvPr id="49" name="Freeform 49"/>
            <p:cNvSpPr/>
            <p:nvPr/>
          </p:nvSpPr>
          <p:spPr>
            <a:xfrm>
              <a:off x="6524625" y="57531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E74C3C"/>
              </a:solidFill>
            </a:ln>
          </p:spPr>
        </p:sp>
        <p:sp>
          <p:nvSpPr>
            <p:cNvPr id="50" name="Freeform 50"/>
            <p:cNvSpPr/>
            <p:nvPr/>
          </p:nvSpPr>
          <p:spPr>
            <a:xfrm>
              <a:off x="6457950" y="5715000"/>
              <a:ext cx="171450" cy="114300"/>
            </a:xfrm>
            <a:custGeom>
              <a:avLst/>
              <a:gdLst/>
              <a:ahLst/>
              <a:cxnLst/>
              <a:rect l="l" t="t" r="r" b="b"/>
              <a:pathLst>
                <a:path w="171450" h="114300">
                  <a:moveTo>
                    <a:pt x="171450" y="57150"/>
                  </a:moveTo>
                  <a:cubicBezTo>
                    <a:pt x="148590" y="95250"/>
                    <a:pt x="120015" y="114300"/>
                    <a:pt x="85725" y="114300"/>
                  </a:cubicBezTo>
                  <a:cubicBezTo>
                    <a:pt x="51435" y="114300"/>
                    <a:pt x="22860" y="95250"/>
                    <a:pt x="0" y="57150"/>
                  </a:cubicBezTo>
                  <a:cubicBezTo>
                    <a:pt x="22860" y="19050"/>
                    <a:pt x="51435" y="0"/>
                    <a:pt x="85725" y="0"/>
                  </a:cubicBezTo>
                  <a:cubicBezTo>
                    <a:pt x="120015" y="0"/>
                    <a:pt x="148590" y="19050"/>
                    <a:pt x="171450" y="57150"/>
                  </a:cubicBezTo>
                </a:path>
              </a:pathLst>
            </a:custGeom>
            <a:noFill/>
            <a:ln w="19050">
              <a:solidFill>
                <a:srgbClr val="E74C3C"/>
              </a:solidFill>
            </a:ln>
          </p:spPr>
        </p:sp>
      </p:grpSp>
      <p:sp>
        <p:nvSpPr>
          <p:cNvPr id="52" name="TextBox 52"/>
          <p:cNvSpPr txBox="1"/>
          <p:nvPr/>
        </p:nvSpPr>
        <p:spPr>
          <a:xfrm>
            <a:off x="6766560" y="5528310"/>
            <a:ext cx="702564" cy="243840"/>
          </a:xfrm>
          <a:prstGeom prst="rect">
            <a:avLst/>
          </a:prstGeom>
          <a:noFill/>
          <a:ln>
            <a:noFill/>
          </a:ln>
        </p:spPr>
        <p:txBody>
          <a:bodyPr wrap="none" lIns="0" tIns="0" rIns="0" bIns="0" anchor="t" anchorCtr="0">
            <a:spAutoFit/>
          </a:bodyPr>
          <a:lstStyle/>
          <a:p>
            <a:pPr algn="l"/>
            <a:r>
              <a:rPr lang="zh-CN" sz="1200" b="1" dirty="0">
                <a:solidFill>
                  <a:srgbClr val="E74C3C"/>
                </a:solidFill>
                <a:latin typeface="Arial" panose="020B0604020202020204"/>
                <a:ea typeface="微软雅黑" panose="020B0503020204020204" charset="-122"/>
                <a:cs typeface="Arial" panose="020B0604020202020204"/>
              </a:rPr>
              <a:t>核心主题</a:t>
            </a:r>
            <a:endParaRPr lang="zh-CN" sz="1200" b="1" dirty="0">
              <a:solidFill>
                <a:srgbClr val="E74C3C"/>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6767195" y="5727065"/>
            <a:ext cx="3444240" cy="480695"/>
          </a:xfrm>
          <a:prstGeom prst="rect">
            <a:avLst/>
          </a:prstGeom>
          <a:noFill/>
          <a:ln>
            <a:noFill/>
          </a:ln>
        </p:spPr>
        <p:txBody>
          <a:bodyPr wrap="none" lIns="0" tIns="0" rIns="0" bIns="0" anchor="t" anchorCtr="0">
            <a:noAutofit/>
          </a:bodyPr>
          <a:lstStyle/>
          <a:p>
            <a:pPr algn="l"/>
            <a:r>
              <a:rPr lang="zh-CN" sz="1125" dirty="0">
                <a:solidFill>
                  <a:srgbClr val="2C3E50"/>
                </a:solidFill>
                <a:latin typeface="Arial" panose="020B0604020202020204"/>
                <a:ea typeface="微软雅黑" panose="020B0503020204020204" charset="-122"/>
                <a:cs typeface="Arial" panose="020B0604020202020204"/>
              </a:rPr>
              <a:t>数值方法的选择与混沌诊断手段的应用是相辅相成的</a:t>
            </a:r>
            <a:endParaRPr lang="zh-CN" sz="1125" dirty="0">
              <a:solidFill>
                <a:srgbClr val="2C3E50"/>
              </a:solidFill>
              <a:latin typeface="Arial" panose="020B0604020202020204"/>
              <a:ea typeface="微软雅黑" panose="020B0503020204020204" charset="-122"/>
              <a:cs typeface="Arial" panose="020B0604020202020204"/>
            </a:endParaRPr>
          </a:p>
          <a:p>
            <a:pPr algn="l"/>
            <a:r>
              <a:rPr lang="zh-CN" sz="1125" dirty="0">
                <a:solidFill>
                  <a:srgbClr val="2C3E50"/>
                </a:solidFill>
                <a:latin typeface="Arial" panose="020B0604020202020204"/>
                <a:ea typeface="微软雅黑" panose="020B0503020204020204" charset="-122"/>
                <a:cs typeface="Arial" panose="020B0604020202020204"/>
              </a:rPr>
              <a:t>——没有可靠的数值方法，混沌诊断就失去了可重复性</a:t>
            </a:r>
            <a:endParaRPr lang="zh-CN" sz="1125" dirty="0">
              <a:solidFill>
                <a:srgbClr val="2C3E50"/>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02 / 10</a:t>
            </a:r>
            <a:endParaRPr lang="zh-CN" sz="975"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5659088"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双摆系统的 Lagrange 力学模型</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3238500" cy="9525"/>
          </a:xfrm>
          <a:custGeom>
            <a:avLst/>
            <a:gdLst/>
            <a:ahLst/>
            <a:cxnLst/>
            <a:rect l="l" t="t" r="r" b="b"/>
            <a:pathLst>
              <a:path w="3238500" h="9525">
                <a:moveTo>
                  <a:pt x="0" y="0"/>
                </a:moveTo>
                <a:lnTo>
                  <a:pt x="3238500" y="0"/>
                </a:lnTo>
              </a:path>
            </a:pathLst>
          </a:custGeom>
          <a:noFill/>
          <a:ln w="19050" cap="rnd">
            <a:solidFill>
              <a:srgbClr val="2E86C1"/>
            </a:solidFill>
          </a:ln>
        </p:spPr>
      </p:sp>
      <p:sp>
        <p:nvSpPr>
          <p:cNvPr id="6" name="Rectangle 6"/>
          <p:cNvSpPr/>
          <p:nvPr/>
        </p:nvSpPr>
        <p:spPr>
          <a:xfrm>
            <a:off x="571500" y="904875"/>
            <a:ext cx="3619500" cy="1190625"/>
          </a:xfrm>
          <a:prstGeom prst="roundRect">
            <a:avLst>
              <a:gd name="adj" fmla="val 6400"/>
            </a:avLst>
          </a:prstGeom>
          <a:solidFill>
            <a:srgbClr val="F4F6F8"/>
          </a:solidFill>
          <a:ln>
            <a:noFill/>
          </a:ln>
        </p:spPr>
      </p:sp>
      <p:grpSp>
        <p:nvGrpSpPr>
          <p:cNvPr id="10" name="Group 10"/>
          <p:cNvGrpSpPr/>
          <p:nvPr/>
        </p:nvGrpSpPr>
        <p:grpSpPr>
          <a:xfrm>
            <a:off x="847041" y="1180416"/>
            <a:ext cx="191868" cy="191868"/>
            <a:chOff x="847041" y="1180416"/>
            <a:chExt cx="191868" cy="191868"/>
          </a:xfrm>
        </p:grpSpPr>
        <p:sp>
          <p:nvSpPr>
            <p:cNvPr id="7" name="Freeform 7"/>
            <p:cNvSpPr/>
            <p:nvPr/>
          </p:nvSpPr>
          <p:spPr>
            <a:xfrm>
              <a:off x="942975" y="1276350"/>
              <a:ext cx="9525" cy="9525"/>
            </a:xfrm>
            <a:custGeom>
              <a:avLst/>
              <a:gdLst/>
              <a:ahLst/>
              <a:cxnLst/>
              <a:rect l="l" t="t" r="r" b="b"/>
              <a:pathLst>
                <a:path w="9525" h="9525">
                  <a:moveTo>
                    <a:pt x="0" y="0"/>
                  </a:moveTo>
                  <a:lnTo>
                    <a:pt x="0" y="111"/>
                  </a:lnTo>
                </a:path>
              </a:pathLst>
            </a:custGeom>
            <a:noFill/>
            <a:ln w="19050">
              <a:solidFill>
                <a:srgbClr val="1A3A5C"/>
              </a:solidFill>
            </a:ln>
          </p:spPr>
        </p:sp>
        <p:sp>
          <p:nvSpPr>
            <p:cNvPr id="8" name="Freeform 8"/>
            <p:cNvSpPr/>
            <p:nvPr/>
          </p:nvSpPr>
          <p:spPr>
            <a:xfrm>
              <a:off x="847041" y="1180416"/>
              <a:ext cx="191868" cy="191868"/>
            </a:xfrm>
            <a:custGeom>
              <a:avLst/>
              <a:gdLst/>
              <a:ahLst/>
              <a:cxnLst/>
              <a:rect l="l" t="t" r="r" b="b"/>
              <a:pathLst>
                <a:path w="191868" h="191868">
                  <a:moveTo>
                    <a:pt x="174511" y="17358"/>
                  </a:moveTo>
                  <a:cubicBezTo>
                    <a:pt x="157153" y="0"/>
                    <a:pt x="107836" y="21103"/>
                    <a:pt x="64497" y="64508"/>
                  </a:cubicBezTo>
                  <a:cubicBezTo>
                    <a:pt x="21103" y="107902"/>
                    <a:pt x="0" y="157153"/>
                    <a:pt x="17358" y="174522"/>
                  </a:cubicBezTo>
                  <a:cubicBezTo>
                    <a:pt x="34715" y="191868"/>
                    <a:pt x="84033" y="170766"/>
                    <a:pt x="127371" y="127360"/>
                  </a:cubicBezTo>
                  <a:cubicBezTo>
                    <a:pt x="170766" y="83966"/>
                    <a:pt x="191868" y="34715"/>
                    <a:pt x="174511" y="17347"/>
                  </a:cubicBezTo>
                </a:path>
              </a:pathLst>
            </a:custGeom>
            <a:noFill/>
            <a:ln w="19050">
              <a:solidFill>
                <a:srgbClr val="1A3A5C"/>
              </a:solidFill>
            </a:ln>
          </p:spPr>
        </p:sp>
        <p:sp>
          <p:nvSpPr>
            <p:cNvPr id="9" name="Freeform 9"/>
            <p:cNvSpPr/>
            <p:nvPr/>
          </p:nvSpPr>
          <p:spPr>
            <a:xfrm>
              <a:off x="847041" y="1180416"/>
              <a:ext cx="191868" cy="191868"/>
            </a:xfrm>
            <a:custGeom>
              <a:avLst/>
              <a:gdLst/>
              <a:ahLst/>
              <a:cxnLst/>
              <a:rect l="l" t="t" r="r" b="b"/>
              <a:pathLst>
                <a:path w="191868" h="191868">
                  <a:moveTo>
                    <a:pt x="17358" y="17358"/>
                  </a:moveTo>
                  <a:cubicBezTo>
                    <a:pt x="0" y="34715"/>
                    <a:pt x="21103" y="84033"/>
                    <a:pt x="64508" y="127371"/>
                  </a:cubicBezTo>
                  <a:cubicBezTo>
                    <a:pt x="107902" y="170766"/>
                    <a:pt x="157153" y="191868"/>
                    <a:pt x="174522" y="174511"/>
                  </a:cubicBezTo>
                  <a:cubicBezTo>
                    <a:pt x="191868" y="157153"/>
                    <a:pt x="170766" y="107836"/>
                    <a:pt x="127360" y="64497"/>
                  </a:cubicBezTo>
                  <a:cubicBezTo>
                    <a:pt x="83966" y="21103"/>
                    <a:pt x="34715" y="0"/>
                    <a:pt x="17347" y="17358"/>
                  </a:cubicBezTo>
                </a:path>
              </a:pathLst>
            </a:custGeom>
            <a:noFill/>
            <a:ln w="19050">
              <a:solidFill>
                <a:srgbClr val="1A3A5C"/>
              </a:solidFill>
            </a:ln>
          </p:spPr>
        </p:sp>
      </p:grpSp>
      <p:sp>
        <p:nvSpPr>
          <p:cNvPr id="11" name="TextBox 11"/>
          <p:cNvSpPr txBox="1"/>
          <p:nvPr/>
        </p:nvSpPr>
        <p:spPr>
          <a:xfrm>
            <a:off x="1169670" y="1155382"/>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系统构型</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12" name="TextBox 12"/>
          <p:cNvSpPr txBox="1"/>
          <p:nvPr/>
        </p:nvSpPr>
        <p:spPr>
          <a:xfrm>
            <a:off x="792480" y="1492568"/>
            <a:ext cx="1861518"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广义坐标 q = (θ₁, θ₂)</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92480" y="1740218"/>
            <a:ext cx="2734628"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l₁ = l₂ = 1.0 m, m₁ = m₂ = 1.0 kg</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4" name="Rectangle 14"/>
          <p:cNvSpPr/>
          <p:nvPr/>
        </p:nvSpPr>
        <p:spPr>
          <a:xfrm>
            <a:off x="4381500" y="904875"/>
            <a:ext cx="3619500" cy="1190625"/>
          </a:xfrm>
          <a:prstGeom prst="roundRect">
            <a:avLst>
              <a:gd name="adj" fmla="val 6400"/>
            </a:avLst>
          </a:prstGeom>
          <a:solidFill>
            <a:srgbClr val="F4F6F8"/>
          </a:solidFill>
          <a:ln>
            <a:noFill/>
          </a:ln>
        </p:spPr>
      </p:sp>
      <p:grpSp>
        <p:nvGrpSpPr>
          <p:cNvPr id="19" name="Group 19"/>
          <p:cNvGrpSpPr/>
          <p:nvPr/>
        </p:nvGrpSpPr>
        <p:grpSpPr>
          <a:xfrm>
            <a:off x="4652962" y="1176338"/>
            <a:ext cx="200025" cy="200025"/>
            <a:chOff x="4652962" y="1176338"/>
            <a:chExt cx="200025" cy="200025"/>
          </a:xfrm>
        </p:grpSpPr>
        <p:sp>
          <p:nvSpPr>
            <p:cNvPr id="15" name="Freeform 15"/>
            <p:cNvSpPr/>
            <p:nvPr/>
          </p:nvSpPr>
          <p:spPr>
            <a:xfrm>
              <a:off x="4652962" y="1176338"/>
              <a:ext cx="111125" cy="200025"/>
            </a:xfrm>
            <a:custGeom>
              <a:avLst/>
              <a:gdLst/>
              <a:ahLst/>
              <a:cxnLst/>
              <a:rect l="l" t="t" r="r" b="b"/>
              <a:pathLst>
                <a:path w="111125" h="200025">
                  <a:moveTo>
                    <a:pt x="0" y="177800"/>
                  </a:moveTo>
                  <a:cubicBezTo>
                    <a:pt x="0" y="190075"/>
                    <a:pt x="9950" y="200025"/>
                    <a:pt x="22225" y="200025"/>
                  </a:cubicBezTo>
                  <a:cubicBezTo>
                    <a:pt x="44450" y="200025"/>
                    <a:pt x="44450" y="155575"/>
                    <a:pt x="55562" y="100012"/>
                  </a:cubicBezTo>
                  <a:cubicBezTo>
                    <a:pt x="66675" y="44450"/>
                    <a:pt x="66675" y="0"/>
                    <a:pt x="88900" y="0"/>
                  </a:cubicBezTo>
                  <a:cubicBezTo>
                    <a:pt x="101175" y="0"/>
                    <a:pt x="111125" y="9950"/>
                    <a:pt x="111125" y="22225"/>
                  </a:cubicBezTo>
                </a:path>
              </a:pathLst>
            </a:custGeom>
            <a:noFill/>
            <a:ln w="19050">
              <a:solidFill>
                <a:srgbClr val="1A3A5C"/>
              </a:solidFill>
            </a:ln>
          </p:spPr>
        </p:sp>
        <p:sp>
          <p:nvSpPr>
            <p:cNvPr id="16" name="Freeform 16"/>
            <p:cNvSpPr/>
            <p:nvPr/>
          </p:nvSpPr>
          <p:spPr>
            <a:xfrm>
              <a:off x="4675188" y="1276350"/>
              <a:ext cx="66675" cy="9525"/>
            </a:xfrm>
            <a:custGeom>
              <a:avLst/>
              <a:gdLst/>
              <a:ahLst/>
              <a:cxnLst/>
              <a:rect l="l" t="t" r="r" b="b"/>
              <a:pathLst>
                <a:path w="66675" h="9525">
                  <a:moveTo>
                    <a:pt x="0" y="0"/>
                  </a:moveTo>
                  <a:lnTo>
                    <a:pt x="66675" y="0"/>
                  </a:lnTo>
                </a:path>
              </a:pathLst>
            </a:custGeom>
            <a:noFill/>
            <a:ln w="19050">
              <a:solidFill>
                <a:srgbClr val="1A3A5C"/>
              </a:solidFill>
            </a:ln>
          </p:spPr>
        </p:sp>
        <p:sp>
          <p:nvSpPr>
            <p:cNvPr id="17" name="Freeform 17"/>
            <p:cNvSpPr/>
            <p:nvPr/>
          </p:nvSpPr>
          <p:spPr>
            <a:xfrm>
              <a:off x="4786312" y="1276350"/>
              <a:ext cx="66675" cy="66675"/>
            </a:xfrm>
            <a:custGeom>
              <a:avLst/>
              <a:gdLst/>
              <a:ahLst/>
              <a:cxnLst/>
              <a:rect l="l" t="t" r="r" b="b"/>
              <a:pathLst>
                <a:path w="66675" h="66675">
                  <a:moveTo>
                    <a:pt x="0" y="0"/>
                  </a:moveTo>
                  <a:lnTo>
                    <a:pt x="66675" y="66675"/>
                  </a:lnTo>
                </a:path>
              </a:pathLst>
            </a:custGeom>
            <a:noFill/>
            <a:ln w="19050">
              <a:solidFill>
                <a:srgbClr val="1A3A5C"/>
              </a:solidFill>
            </a:ln>
          </p:spPr>
        </p:sp>
        <p:sp>
          <p:nvSpPr>
            <p:cNvPr id="18" name="Freeform 18"/>
            <p:cNvSpPr/>
            <p:nvPr/>
          </p:nvSpPr>
          <p:spPr>
            <a:xfrm>
              <a:off x="4786312" y="1276350"/>
              <a:ext cx="66675" cy="66675"/>
            </a:xfrm>
            <a:custGeom>
              <a:avLst/>
              <a:gdLst/>
              <a:ahLst/>
              <a:cxnLst/>
              <a:rect l="l" t="t" r="r" b="b"/>
              <a:pathLst>
                <a:path w="66675" h="66675">
                  <a:moveTo>
                    <a:pt x="0" y="66675"/>
                  </a:moveTo>
                  <a:lnTo>
                    <a:pt x="66675" y="0"/>
                  </a:lnTo>
                </a:path>
              </a:pathLst>
            </a:custGeom>
            <a:noFill/>
            <a:ln w="19050">
              <a:solidFill>
                <a:srgbClr val="1A3A5C"/>
              </a:solidFill>
            </a:ln>
          </p:spPr>
        </p:sp>
      </p:grpSp>
      <p:sp>
        <p:nvSpPr>
          <p:cNvPr id="20" name="TextBox 20"/>
          <p:cNvSpPr txBox="1"/>
          <p:nvPr/>
        </p:nvSpPr>
        <p:spPr>
          <a:xfrm>
            <a:off x="4979670" y="1155382"/>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状态方程</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21" name="TextBox 21"/>
          <p:cNvSpPr txBox="1"/>
          <p:nvPr/>
        </p:nvSpPr>
        <p:spPr>
          <a:xfrm>
            <a:off x="4602480" y="1492568"/>
            <a:ext cx="1888522"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y = (θ₁, θ₂, ω₁, ω₂)ᵀ</a:t>
            </a:r>
            <a:endParaRPr lang="zh-CN" sz="1350" dirty="0">
              <a:solidFill>
                <a:srgbClr val="2C3E50"/>
              </a:solidFill>
              <a:latin typeface="Arial" panose="020B0604020202020204"/>
              <a:ea typeface="微软雅黑" panose="020B0503020204020204" charset="-122"/>
              <a:cs typeface="Arial" panose="020B0604020202020204"/>
            </a:endParaRPr>
          </a:p>
        </p:txBody>
      </p:sp>
      <mc:AlternateContent xmlns:mc="http://schemas.openxmlformats.org/markup-compatibility/2006">
        <mc:Choice xmlns:a14="http://schemas.microsoft.com/office/drawing/2010/main" Requires="a14">
          <p:sp>
            <p:nvSpPr>
              <p:cNvPr id="22" name="TextBox 22"/>
              <p:cNvSpPr txBox="1"/>
              <p:nvPr/>
            </p:nvSpPr>
            <p:spPr>
              <a:xfrm>
                <a:off x="4603432" y="1748314"/>
                <a:ext cx="2402840" cy="281305"/>
              </a:xfrm>
              <a:prstGeom prst="rect">
                <a:avLst/>
              </a:prstGeom>
              <a:noFill/>
              <a:ln>
                <a:noFill/>
              </a:ln>
            </p:spPr>
            <p:txBody>
              <a:bodyPr wrap="none" lIns="0" tIns="0" rIns="0" bIns="0" anchor="t" anchorCtr="0">
                <a:spAutoFit/>
              </a:bodyPr>
              <a:lstStyle/>
              <a:p>
                <a:pPr algn="l"/>
                <a14:m>
                  <m:oMath xmlns:m="http://schemas.openxmlformats.org/officeDocument/2006/math">
                    <m:f>
                      <m:fPr>
                        <m:ctrlPr>
                          <a:rPr lang="en-US" altLang="zh-CN" sz="1275" i="1" dirty="0">
                            <a:solidFill>
                              <a:srgbClr val="7F8C8D"/>
                            </a:solidFill>
                            <a:latin typeface="Cambria Math" panose="02040503050406030204" charset="0"/>
                            <a:ea typeface="微软雅黑" panose="020B0503020204020204" charset="-122"/>
                            <a:cs typeface="Cambria Math" panose="02040503050406030204" charset="0"/>
                          </a:rPr>
                        </m:ctrlPr>
                      </m:fPr>
                      <m:num>
                        <m:r>
                          <a:rPr lang="en-US" altLang="zh-CN" sz="1275" i="1" dirty="0">
                            <a:solidFill>
                              <a:srgbClr val="7F8C8D"/>
                            </a:solidFill>
                            <a:latin typeface="Cambria Math" panose="02040503050406030204" charset="0"/>
                            <a:ea typeface="微软雅黑" panose="020B0503020204020204" charset="-122"/>
                            <a:cs typeface="Cambria Math" panose="02040503050406030204" charset="0"/>
                          </a:rPr>
                          <m:t>dy</m:t>
                        </m:r>
                      </m:num>
                      <m:den>
                        <m:r>
                          <a:rPr lang="en-US" altLang="zh-CN" sz="1275" i="1" dirty="0">
                            <a:solidFill>
                              <a:srgbClr val="7F8C8D"/>
                            </a:solidFill>
                            <a:latin typeface="Cambria Math" panose="02040503050406030204" charset="0"/>
                            <a:ea typeface="微软雅黑" panose="020B0503020204020204" charset="-122"/>
                            <a:cs typeface="Cambria Math" panose="02040503050406030204" charset="0"/>
                          </a:rPr>
                          <m:t>dx</m:t>
                        </m:r>
                      </m:den>
                    </m:f>
                  </m:oMath>
                </a14:m>
                <a:r>
                  <a:rPr lang="zh-CN" sz="1275" dirty="0">
                    <a:solidFill>
                      <a:srgbClr val="7F8C8D"/>
                    </a:solidFill>
                    <a:latin typeface="Arial" panose="020B0604020202020204"/>
                    <a:ea typeface="微软雅黑" panose="020B0503020204020204" charset="-122"/>
                    <a:cs typeface="Arial" panose="020B0604020202020204"/>
                  </a:rPr>
                  <a:t> = f(t, y) = (ω₁, ω₂, α₁, α₂)ᵀ</a:t>
                </a:r>
                <a:endParaRPr lang="zh-CN" sz="1275" dirty="0">
                  <a:solidFill>
                    <a:srgbClr val="7F8C8D"/>
                  </a:solidFill>
                  <a:latin typeface="Arial" panose="020B0604020202020204"/>
                  <a:ea typeface="微软雅黑" panose="020B0503020204020204" charset="-122"/>
                  <a:cs typeface="Arial" panose="020B0604020202020204"/>
                </a:endParaRPr>
              </a:p>
            </p:txBody>
          </p:sp>
        </mc:Choice>
        <mc:Fallback>
          <p:sp>
            <p:nvSpPr>
              <p:cNvPr id="22" name="TextBox 22"/>
              <p:cNvSpPr txBox="1">
                <a:spLocks noRot="1" noChangeAspect="1" noMove="1" noResize="1" noEditPoints="1" noAdjustHandles="1" noChangeArrowheads="1" noChangeShapeType="1" noTextEdit="1"/>
              </p:cNvSpPr>
              <p:nvPr/>
            </p:nvSpPr>
            <p:spPr>
              <a:xfrm>
                <a:off x="4603432" y="1748314"/>
                <a:ext cx="2402840" cy="281305"/>
              </a:xfrm>
              <a:prstGeom prst="rect">
                <a:avLst/>
              </a:prstGeom>
              <a:blipFill rotWithShape="1">
                <a:blip r:embed="rId1"/>
                <a:stretch>
                  <a:fillRect l="-13" t="-57" r="-1493" b="57"/>
                </a:stretch>
              </a:blipFill>
              <a:ln>
                <a:noFill/>
              </a:ln>
            </p:spPr>
            <p:txBody>
              <a:bodyPr/>
              <a:lstStyle/>
              <a:p>
                <a:r>
                  <a:rPr lang="zh-CN" altLang="en-US">
                    <a:noFill/>
                  </a:rPr>
                  <a:t> </a:t>
                </a:r>
              </a:p>
            </p:txBody>
          </p:sp>
        </mc:Fallback>
      </mc:AlternateContent>
      <p:sp>
        <p:nvSpPr>
          <p:cNvPr id="23" name="Rectangle 23"/>
          <p:cNvSpPr/>
          <p:nvPr/>
        </p:nvSpPr>
        <p:spPr>
          <a:xfrm>
            <a:off x="8191500" y="904875"/>
            <a:ext cx="3429000" cy="1190625"/>
          </a:xfrm>
          <a:prstGeom prst="roundRect">
            <a:avLst>
              <a:gd name="adj" fmla="val 6400"/>
            </a:avLst>
          </a:prstGeom>
          <a:solidFill>
            <a:srgbClr val="F4F6F8"/>
          </a:solidFill>
          <a:ln>
            <a:noFill/>
          </a:ln>
        </p:spPr>
      </p:sp>
      <p:grpSp>
        <p:nvGrpSpPr>
          <p:cNvPr id="26" name="Group 26"/>
          <p:cNvGrpSpPr/>
          <p:nvPr/>
        </p:nvGrpSpPr>
        <p:grpSpPr>
          <a:xfrm>
            <a:off x="8474075" y="1209675"/>
            <a:ext cx="177800" cy="153988"/>
            <a:chOff x="8474075" y="1209675"/>
            <a:chExt cx="177800" cy="153988"/>
          </a:xfrm>
        </p:grpSpPr>
        <p:sp>
          <p:nvSpPr>
            <p:cNvPr id="24" name="Freeform 24"/>
            <p:cNvSpPr/>
            <p:nvPr/>
          </p:nvSpPr>
          <p:spPr>
            <a:xfrm>
              <a:off x="8474075" y="1354138"/>
              <a:ext cx="177800" cy="9525"/>
            </a:xfrm>
            <a:custGeom>
              <a:avLst/>
              <a:gdLst/>
              <a:ahLst/>
              <a:cxnLst/>
              <a:rect l="l" t="t" r="r" b="b"/>
              <a:pathLst>
                <a:path w="177800" h="9525">
                  <a:moveTo>
                    <a:pt x="0" y="0"/>
                  </a:moveTo>
                  <a:lnTo>
                    <a:pt x="177800" y="0"/>
                  </a:lnTo>
                </a:path>
              </a:pathLst>
            </a:custGeom>
            <a:noFill/>
            <a:ln w="19050">
              <a:solidFill>
                <a:srgbClr val="E74C3C"/>
              </a:solidFill>
            </a:ln>
          </p:spPr>
        </p:sp>
        <p:sp>
          <p:nvSpPr>
            <p:cNvPr id="25" name="Freeform 25"/>
            <p:cNvSpPr/>
            <p:nvPr/>
          </p:nvSpPr>
          <p:spPr>
            <a:xfrm>
              <a:off x="8474075" y="1209675"/>
              <a:ext cx="177800" cy="100012"/>
            </a:xfrm>
            <a:custGeom>
              <a:avLst/>
              <a:gdLst/>
              <a:ahLst/>
              <a:cxnLst/>
              <a:rect l="l" t="t" r="r" b="b"/>
              <a:pathLst>
                <a:path w="177800" h="100012">
                  <a:moveTo>
                    <a:pt x="0" y="100012"/>
                  </a:moveTo>
                  <a:lnTo>
                    <a:pt x="44450" y="33338"/>
                  </a:lnTo>
                  <a:lnTo>
                    <a:pt x="88900" y="55563"/>
                  </a:lnTo>
                  <a:lnTo>
                    <a:pt x="133350" y="0"/>
                  </a:lnTo>
                  <a:lnTo>
                    <a:pt x="177800" y="44450"/>
                  </a:lnTo>
                </a:path>
              </a:pathLst>
            </a:custGeom>
            <a:noFill/>
            <a:ln w="19050">
              <a:solidFill>
                <a:srgbClr val="E74C3C"/>
              </a:solidFill>
            </a:ln>
          </p:spPr>
        </p:sp>
      </p:grpSp>
      <p:sp>
        <p:nvSpPr>
          <p:cNvPr id="27" name="TextBox 27"/>
          <p:cNvSpPr txBox="1"/>
          <p:nvPr/>
        </p:nvSpPr>
        <p:spPr>
          <a:xfrm>
            <a:off x="8789670" y="1155382"/>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关键物理</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28" name="TextBox 28"/>
          <p:cNvSpPr txBox="1"/>
          <p:nvPr/>
        </p:nvSpPr>
        <p:spPr>
          <a:xfrm>
            <a:off x="8412480" y="1492568"/>
            <a:ext cx="283364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动能耦合: m₂l₁l₂ω₁ω₂cos(θ₁-θ₂)</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8413432" y="1748314"/>
            <a:ext cx="2098143"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惯性耦合 → 能量在摆间传递</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30" name="Rectangle 30"/>
          <p:cNvSpPr/>
          <p:nvPr/>
        </p:nvSpPr>
        <p:spPr>
          <a:xfrm>
            <a:off x="571500" y="2286000"/>
            <a:ext cx="7435850" cy="904875"/>
          </a:xfrm>
          <a:prstGeom prst="roundRect">
            <a:avLst>
              <a:gd name="adj" fmla="val 8421"/>
            </a:avLst>
          </a:prstGeom>
          <a:solidFill>
            <a:srgbClr val="F4F6F8"/>
          </a:solidFill>
          <a:ln>
            <a:noFill/>
          </a:ln>
        </p:spPr>
      </p:sp>
      <p:sp>
        <p:nvSpPr>
          <p:cNvPr id="31" name="TextBox 31"/>
          <p:cNvSpPr txBox="1"/>
          <p:nvPr/>
        </p:nvSpPr>
        <p:spPr>
          <a:xfrm>
            <a:off x="788670" y="2393632"/>
            <a:ext cx="3010631"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运动方程 (Euler-Lagrange)</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2" name="TextBox 32"/>
          <p:cNvSpPr txBox="1"/>
          <p:nvPr/>
        </p:nvSpPr>
        <p:spPr>
          <a:xfrm>
            <a:off x="792480" y="2692718"/>
            <a:ext cx="555198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角加速度 α₁, α₂ 由两摆杆的角位置、角速度和非线性耦合项共同决定</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795338" y="2945606"/>
            <a:ext cx="681692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Δ = θ₁ - θ₂; 分母包含 l₁[m₁ + m₂ - m₂ cos²Δ] — cos²Δ = (m₁+m₂)/m₂ 时出现奇点 (超越运动极限)</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34" name="Rectangle 34"/>
          <p:cNvSpPr/>
          <p:nvPr/>
        </p:nvSpPr>
        <p:spPr>
          <a:xfrm>
            <a:off x="8474075" y="2235200"/>
            <a:ext cx="3011805" cy="3722370"/>
          </a:xfrm>
          <a:prstGeom prst="roundRect">
            <a:avLst>
              <a:gd name="adj" fmla="val 3333"/>
            </a:avLst>
          </a:prstGeom>
          <a:solidFill>
            <a:srgbClr val="FFFFFF"/>
          </a:solidFill>
          <a:ln w="14288">
            <a:solidFill>
              <a:srgbClr val="D5D8DC"/>
            </a:solidFill>
            <a:custDash>
              <a:ds d="666666" sp="333333"/>
            </a:custDash>
          </a:ln>
        </p:spPr>
      </p:sp>
      <p:sp>
        <p:nvSpPr>
          <p:cNvPr id="38" name="TextBox 38"/>
          <p:cNvSpPr txBox="1"/>
          <p:nvPr/>
        </p:nvSpPr>
        <p:spPr>
          <a:xfrm>
            <a:off x="8412270" y="6017419"/>
            <a:ext cx="3118271" cy="259080"/>
          </a:xfrm>
          <a:prstGeom prst="rect">
            <a:avLst/>
          </a:prstGeom>
          <a:noFill/>
          <a:ln>
            <a:noFill/>
          </a:ln>
        </p:spPr>
        <p:txBody>
          <a:bodyPr wrap="none" lIns="0" tIns="0" rIns="0" bIns="0" anchor="t" anchorCtr="0">
            <a:spAutoFit/>
          </a:bodyPr>
          <a:lstStyle/>
          <a:p>
            <a:pPr algn="ctr"/>
            <a:r>
              <a:rPr lang="zh-CN" sz="1275" dirty="0">
                <a:solidFill>
                  <a:srgbClr val="7F8C8D"/>
                </a:solidFill>
                <a:latin typeface="Arial" panose="020B0604020202020204"/>
                <a:ea typeface="微软雅黑" panose="020B0503020204020204" charset="-122"/>
                <a:cs typeface="Arial" panose="020B0604020202020204"/>
              </a:rPr>
              <a:t>图1: 平面双摆系统的几何结构与坐标定义</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8248650" y="6252686"/>
            <a:ext cx="3445510" cy="173355"/>
          </a:xfrm>
          <a:prstGeom prst="rect">
            <a:avLst/>
          </a:prstGeom>
          <a:noFill/>
          <a:ln>
            <a:noFill/>
          </a:ln>
        </p:spPr>
        <p:txBody>
          <a:bodyPr wrap="none" lIns="0" tIns="0" rIns="0" bIns="0" anchor="t" anchorCtr="0">
            <a:spAutoFit/>
          </a:bodyPr>
          <a:lstStyle/>
          <a:p>
            <a:pPr algn="ctr"/>
            <a:r>
              <a:rPr lang="zh-CN" sz="1125" dirty="0">
                <a:solidFill>
                  <a:srgbClr val="B0B8C1"/>
                </a:solidFill>
                <a:latin typeface="Arial" panose="020B0604020202020204"/>
                <a:ea typeface="微软雅黑" panose="020B0503020204020204" charset="-122"/>
                <a:cs typeface="Arial" panose="020B0604020202020204"/>
              </a:rPr>
              <a:t> O 为悬挂点，θ₁/θ₂ 以竖直向下为零点，逆时针为正</a:t>
            </a:r>
            <a:endParaRPr lang="zh-CN" sz="1125" dirty="0">
              <a:solidFill>
                <a:srgbClr val="B0B8C1"/>
              </a:solidFill>
              <a:latin typeface="Arial" panose="020B0604020202020204"/>
              <a:ea typeface="微软雅黑" panose="020B0503020204020204" charset="-122"/>
              <a:cs typeface="Arial" panose="020B0604020202020204"/>
            </a:endParaRPr>
          </a:p>
        </p:txBody>
      </p:sp>
      <p:sp>
        <p:nvSpPr>
          <p:cNvPr id="40" name="Rectangle 40"/>
          <p:cNvSpPr/>
          <p:nvPr/>
        </p:nvSpPr>
        <p:spPr>
          <a:xfrm>
            <a:off x="588645" y="3439795"/>
            <a:ext cx="2762250" cy="2286000"/>
          </a:xfrm>
          <a:prstGeom prst="roundRect">
            <a:avLst>
              <a:gd name="adj" fmla="val 3333"/>
            </a:avLst>
          </a:prstGeom>
          <a:solidFill>
            <a:srgbClr val="1A3A5C">
              <a:alpha val="4000"/>
            </a:srgbClr>
          </a:solidFill>
          <a:ln>
            <a:noFill/>
          </a:ln>
        </p:spPr>
      </p:sp>
      <p:sp>
        <p:nvSpPr>
          <p:cNvPr id="41" name="TextBox 41"/>
          <p:cNvSpPr txBox="1"/>
          <p:nvPr/>
        </p:nvSpPr>
        <p:spPr>
          <a:xfrm>
            <a:off x="807720" y="3563620"/>
            <a:ext cx="1298258" cy="304800"/>
          </a:xfrm>
          <a:prstGeom prst="rect">
            <a:avLst/>
          </a:prstGeom>
          <a:noFill/>
          <a:ln>
            <a:noFill/>
          </a:ln>
        </p:spPr>
        <p:txBody>
          <a:bodyPr wrap="none" lIns="0" tIns="0" rIns="0" bIns="0" anchor="t" anchorCtr="0">
            <a:spAutoFit/>
          </a:bodyPr>
          <a:lstStyle/>
          <a:p>
            <a:pPr algn="l"/>
            <a:r>
              <a:rPr lang="zh-CN" sz="1500" b="1" dirty="0">
                <a:solidFill>
                  <a:srgbClr val="E74C3C"/>
                </a:solidFill>
                <a:latin typeface="Segoe UI" panose="020B0502040204020203"/>
                <a:ea typeface="黑体" panose="02010609060101010101" charset="-122"/>
                <a:cs typeface="Segoe UI" panose="020B0502040204020203"/>
              </a:rPr>
              <a:t>受迫阻尼拓展</a:t>
            </a:r>
            <a:endParaRPr lang="zh-CN" sz="1500" b="1" dirty="0">
              <a:solidFill>
                <a:srgbClr val="E74C3C"/>
              </a:solidFill>
              <a:latin typeface="Segoe UI" panose="020B0502040204020203"/>
              <a:ea typeface="黑体" panose="02010609060101010101" charset="-122"/>
              <a:cs typeface="Segoe UI" panose="020B0502040204020203"/>
            </a:endParaRPr>
          </a:p>
        </p:txBody>
      </p:sp>
      <p:sp>
        <p:nvSpPr>
          <p:cNvPr id="42" name="TextBox 42"/>
          <p:cNvSpPr txBox="1"/>
          <p:nvPr/>
        </p:nvSpPr>
        <p:spPr>
          <a:xfrm>
            <a:off x="810577" y="3902234"/>
            <a:ext cx="2820733"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dωᵢ/dt = αᵢ(y) - b·ωᵢ + A·sin(Ωt)</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810577" y="4283234"/>
            <a:ext cx="1520071"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b = 0.5 (阻尼系数)</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810577" y="4511834"/>
            <a:ext cx="2038636"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Ω = 2.0 rad/s (驱动频率)</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810577" y="4816634"/>
            <a:ext cx="2013133"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A: 0.1 → 2.0 (200值扫描)</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810577" y="5140484"/>
            <a:ext cx="1222534"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用于分岔图分析</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03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49" name="图片 48" descr="schematic"/>
          <p:cNvPicPr>
            <a:picLocks noChangeAspect="1"/>
          </p:cNvPicPr>
          <p:nvPr/>
        </p:nvPicPr>
        <p:blipFill>
          <a:blip r:embed="rId2"/>
          <a:stretch>
            <a:fillRect/>
          </a:stretch>
        </p:blipFill>
        <p:spPr>
          <a:xfrm>
            <a:off x="8474075" y="2235200"/>
            <a:ext cx="3010535" cy="37820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3264789"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四种数值方法比较</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2286000" cy="9525"/>
          </a:xfrm>
          <a:custGeom>
            <a:avLst/>
            <a:gdLst/>
            <a:ahLst/>
            <a:cxnLst/>
            <a:rect l="l" t="t" r="r" b="b"/>
            <a:pathLst>
              <a:path w="2286000" h="9525">
                <a:moveTo>
                  <a:pt x="0" y="0"/>
                </a:moveTo>
                <a:lnTo>
                  <a:pt x="2286000" y="0"/>
                </a:lnTo>
              </a:path>
            </a:pathLst>
          </a:custGeom>
          <a:noFill/>
          <a:ln w="19050" cap="rnd">
            <a:solidFill>
              <a:srgbClr val="2E86C1"/>
            </a:solidFill>
          </a:ln>
        </p:spPr>
      </p:sp>
      <p:sp>
        <p:nvSpPr>
          <p:cNvPr id="6" name="TextBox 6"/>
          <p:cNvSpPr txBox="1"/>
          <p:nvPr/>
        </p:nvSpPr>
        <p:spPr>
          <a:xfrm>
            <a:off x="555308" y="757714"/>
            <a:ext cx="6765227"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统一参数: m₁=m₂=1.0kg, l₁=l₂=1.0m, g=9.81m/s² · 初始: (π/2+0.3, π/2-0.3, 0, 0)</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7" name="Rectangle 7"/>
          <p:cNvSpPr/>
          <p:nvPr/>
        </p:nvSpPr>
        <p:spPr>
          <a:xfrm>
            <a:off x="571500" y="1047750"/>
            <a:ext cx="1714500" cy="495300"/>
          </a:xfrm>
          <a:prstGeom prst="roundRect">
            <a:avLst>
              <a:gd name="adj" fmla="val 15385"/>
            </a:avLst>
          </a:prstGeom>
          <a:solidFill>
            <a:srgbClr val="F4F6F8"/>
          </a:solidFill>
          <a:ln>
            <a:noFill/>
          </a:ln>
        </p:spPr>
      </p:sp>
      <p:sp>
        <p:nvSpPr>
          <p:cNvPr id="8" name="TextBox 8"/>
          <p:cNvSpPr txBox="1"/>
          <p:nvPr/>
        </p:nvSpPr>
        <p:spPr>
          <a:xfrm>
            <a:off x="1033558" y="1206818"/>
            <a:ext cx="790384"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panose="020B0502040204020203"/>
                <a:ea typeface="黑体" panose="02010609060101010101" charset="-122"/>
                <a:cs typeface="Segoe UI" panose="020B0502040204020203"/>
              </a:rPr>
              <a:t>评估维度</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9" name="Rectangle 9"/>
          <p:cNvSpPr/>
          <p:nvPr/>
        </p:nvSpPr>
        <p:spPr>
          <a:xfrm>
            <a:off x="2428875" y="1047750"/>
            <a:ext cx="2143125" cy="495300"/>
          </a:xfrm>
          <a:prstGeom prst="roundRect">
            <a:avLst>
              <a:gd name="adj" fmla="val 15385"/>
            </a:avLst>
          </a:prstGeom>
          <a:gradFill>
            <a:gsLst>
              <a:gs pos="0">
                <a:srgbClr val="64748B"/>
              </a:gs>
              <a:gs pos="100000">
                <a:srgbClr val="475569"/>
              </a:gs>
            </a:gsLst>
            <a:lin ang="5400000" scaled="1"/>
          </a:gradFill>
          <a:ln>
            <a:noFill/>
          </a:ln>
        </p:spPr>
      </p:sp>
      <p:sp>
        <p:nvSpPr>
          <p:cNvPr id="10" name="TextBox 10"/>
          <p:cNvSpPr txBox="1"/>
          <p:nvPr/>
        </p:nvSpPr>
        <p:spPr>
          <a:xfrm>
            <a:off x="2757285" y="1162050"/>
            <a:ext cx="147678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panose="020B0502040204020203"/>
                <a:ea typeface="黑体" panose="02010609060101010101" charset="-122"/>
                <a:cs typeface="Segoe UI" panose="020B0502040204020203"/>
              </a:rPr>
              <a:t>Forward Euler</a:t>
            </a:r>
            <a:endParaRPr lang="zh-CN" sz="1500" b="1" dirty="0">
              <a:solidFill>
                <a:srgbClr val="FFFFFF"/>
              </a:solidFill>
              <a:latin typeface="Segoe UI" panose="020B0502040204020203"/>
              <a:ea typeface="黑体" panose="02010609060101010101" charset="-122"/>
              <a:cs typeface="Segoe UI" panose="020B0502040204020203"/>
            </a:endParaRPr>
          </a:p>
        </p:txBody>
      </p:sp>
      <p:sp>
        <p:nvSpPr>
          <p:cNvPr id="11" name="TextBox 11"/>
          <p:cNvSpPr txBox="1"/>
          <p:nvPr/>
        </p:nvSpPr>
        <p:spPr>
          <a:xfrm>
            <a:off x="3223260" y="1380649"/>
            <a:ext cx="544830" cy="198120"/>
          </a:xfrm>
          <a:prstGeom prst="rect">
            <a:avLst/>
          </a:prstGeom>
          <a:noFill/>
          <a:ln>
            <a:noFill/>
          </a:ln>
        </p:spPr>
        <p:txBody>
          <a:bodyPr wrap="none" lIns="0" tIns="0" rIns="0" bIns="0" anchor="t" anchorCtr="0">
            <a:spAutoFit/>
          </a:bodyPr>
          <a:lstStyle/>
          <a:p>
            <a:pPr algn="ctr"/>
            <a:r>
              <a:rPr lang="zh-CN" sz="975" dirty="0">
                <a:solidFill>
                  <a:srgbClr val="FFFFFF">
                    <a:alphaMod val="70000"/>
                  </a:srgbClr>
                </a:solidFill>
                <a:latin typeface="Arial" panose="020B0604020202020204"/>
                <a:ea typeface="微软雅黑" panose="020B0503020204020204" charset="-122"/>
                <a:cs typeface="Arial" panose="020B0604020202020204"/>
              </a:rPr>
              <a:t>一阶显式</a:t>
            </a:r>
            <a:endParaRPr lang="zh-CN" sz="975" dirty="0">
              <a:solidFill>
                <a:srgbClr val="FFFFFF">
                  <a:alphaMod val="70000"/>
                </a:srgbClr>
              </a:solidFill>
              <a:latin typeface="Arial" panose="020B0604020202020204"/>
              <a:ea typeface="微软雅黑" panose="020B0503020204020204" charset="-122"/>
              <a:cs typeface="Arial" panose="020B0604020202020204"/>
            </a:endParaRPr>
          </a:p>
        </p:txBody>
      </p:sp>
      <p:sp>
        <p:nvSpPr>
          <p:cNvPr id="12" name="Rectangle 12"/>
          <p:cNvSpPr/>
          <p:nvPr/>
        </p:nvSpPr>
        <p:spPr>
          <a:xfrm>
            <a:off x="4714875" y="990600"/>
            <a:ext cx="2143125" cy="609600"/>
          </a:xfrm>
          <a:prstGeom prst="roundRect">
            <a:avLst>
              <a:gd name="adj" fmla="val 12500"/>
            </a:avLst>
          </a:prstGeom>
          <a:gradFill>
            <a:gsLst>
              <a:gs pos="0">
                <a:srgbClr val="2E86C1"/>
              </a:gs>
              <a:gs pos="100000">
                <a:srgbClr val="1A3A5C"/>
              </a:gs>
            </a:gsLst>
            <a:lin ang="5400000" scaled="1"/>
          </a:gradFill>
          <a:ln>
            <a:noFill/>
          </a:ln>
        </p:spPr>
      </p:sp>
      <p:sp>
        <p:nvSpPr>
          <p:cNvPr id="13" name="Rectangle 13"/>
          <p:cNvSpPr/>
          <p:nvPr/>
        </p:nvSpPr>
        <p:spPr>
          <a:xfrm>
            <a:off x="6048375" y="914400"/>
            <a:ext cx="552450" cy="171450"/>
          </a:xfrm>
          <a:prstGeom prst="roundRect">
            <a:avLst>
              <a:gd name="adj" fmla="val 44444"/>
            </a:avLst>
          </a:prstGeom>
          <a:solidFill>
            <a:srgbClr val="E74C3C"/>
          </a:solidFill>
          <a:ln>
            <a:noFill/>
          </a:ln>
        </p:spPr>
      </p:sp>
      <p:sp>
        <p:nvSpPr>
          <p:cNvPr id="14" name="TextBox 14"/>
          <p:cNvSpPr txBox="1"/>
          <p:nvPr/>
        </p:nvSpPr>
        <p:spPr>
          <a:xfrm>
            <a:off x="6187154" y="941070"/>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推荐</a:t>
            </a:r>
            <a:endParaRPr lang="zh-CN" sz="900" b="1" dirty="0">
              <a:solidFill>
                <a:srgbClr val="FFFFFF"/>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5589353" y="1162050"/>
            <a:ext cx="38464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panose="020B0502040204020203"/>
                <a:ea typeface="黑体" panose="02010609060101010101" charset="-122"/>
                <a:cs typeface="Segoe UI" panose="020B0502040204020203"/>
              </a:rPr>
              <a:t>RK4</a:t>
            </a:r>
            <a:endParaRPr lang="zh-CN" sz="1500" b="1" dirty="0">
              <a:solidFill>
                <a:srgbClr val="FFFFFF"/>
              </a:solidFill>
              <a:latin typeface="Segoe UI" panose="020B0502040204020203"/>
              <a:ea typeface="黑体" panose="02010609060101010101" charset="-122"/>
              <a:cs typeface="Segoe UI" panose="020B0502040204020203"/>
            </a:endParaRPr>
          </a:p>
        </p:txBody>
      </p:sp>
      <p:sp>
        <p:nvSpPr>
          <p:cNvPr id="16" name="TextBox 16"/>
          <p:cNvSpPr txBox="1"/>
          <p:nvPr/>
        </p:nvSpPr>
        <p:spPr>
          <a:xfrm>
            <a:off x="5245977" y="1399699"/>
            <a:ext cx="1071396" cy="198120"/>
          </a:xfrm>
          <a:prstGeom prst="rect">
            <a:avLst/>
          </a:prstGeom>
          <a:noFill/>
          <a:ln>
            <a:noFill/>
          </a:ln>
        </p:spPr>
        <p:txBody>
          <a:bodyPr wrap="none" lIns="0" tIns="0" rIns="0" bIns="0" anchor="t" anchorCtr="0">
            <a:spAutoFit/>
          </a:bodyPr>
          <a:lstStyle/>
          <a:p>
            <a:pPr algn="ctr"/>
            <a:r>
              <a:rPr lang="zh-CN" sz="975" dirty="0">
                <a:solidFill>
                  <a:srgbClr val="FFFFFF">
                    <a:alphaMod val="70000"/>
                  </a:srgbClr>
                </a:solidFill>
                <a:latin typeface="Arial" panose="020B0604020202020204"/>
                <a:ea typeface="微软雅黑" panose="020B0503020204020204" charset="-122"/>
                <a:cs typeface="Arial" panose="020B0604020202020204"/>
              </a:rPr>
              <a:t>四阶Runge-Kutta</a:t>
            </a:r>
            <a:endParaRPr lang="zh-CN" sz="975" dirty="0">
              <a:solidFill>
                <a:srgbClr val="FFFFFF">
                  <a:alphaMod val="70000"/>
                </a:srgbClr>
              </a:solidFill>
              <a:latin typeface="Arial" panose="020B0604020202020204"/>
              <a:ea typeface="微软雅黑" panose="020B0503020204020204" charset="-122"/>
              <a:cs typeface="Arial" panose="020B0604020202020204"/>
            </a:endParaRPr>
          </a:p>
        </p:txBody>
      </p:sp>
      <p:sp>
        <p:nvSpPr>
          <p:cNvPr id="17" name="Rectangle 17"/>
          <p:cNvSpPr/>
          <p:nvPr/>
        </p:nvSpPr>
        <p:spPr>
          <a:xfrm>
            <a:off x="7000875" y="1047750"/>
            <a:ext cx="2143125" cy="495300"/>
          </a:xfrm>
          <a:prstGeom prst="roundRect">
            <a:avLst>
              <a:gd name="adj" fmla="val 15385"/>
            </a:avLst>
          </a:prstGeom>
          <a:gradFill>
            <a:gsLst>
              <a:gs pos="0">
                <a:srgbClr val="27AE60"/>
              </a:gs>
              <a:gs pos="100000">
                <a:srgbClr val="1E8449"/>
              </a:gs>
            </a:gsLst>
            <a:lin ang="5400000" scaled="1"/>
          </a:gradFill>
          <a:ln>
            <a:noFill/>
          </a:ln>
        </p:spPr>
      </p:sp>
      <p:sp>
        <p:nvSpPr>
          <p:cNvPr id="18" name="TextBox 18"/>
          <p:cNvSpPr txBox="1"/>
          <p:nvPr/>
        </p:nvSpPr>
        <p:spPr>
          <a:xfrm>
            <a:off x="7208520" y="1162050"/>
            <a:ext cx="171831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panose="020B0502040204020203"/>
                <a:ea typeface="黑体" panose="02010609060101010101" charset="-122"/>
                <a:cs typeface="Segoe UI" panose="020B0502040204020203"/>
              </a:rPr>
              <a:t>Symplectic Euler</a:t>
            </a:r>
            <a:endParaRPr lang="zh-CN" sz="1500" b="1" dirty="0">
              <a:solidFill>
                <a:srgbClr val="FFFFFF"/>
              </a:solidFill>
              <a:latin typeface="Segoe UI" panose="020B0502040204020203"/>
              <a:ea typeface="黑体" panose="02010609060101010101" charset="-122"/>
              <a:cs typeface="Segoe UI" panose="020B0502040204020203"/>
            </a:endParaRPr>
          </a:p>
        </p:txBody>
      </p:sp>
      <p:sp>
        <p:nvSpPr>
          <p:cNvPr id="19" name="TextBox 19"/>
          <p:cNvSpPr txBox="1"/>
          <p:nvPr/>
        </p:nvSpPr>
        <p:spPr>
          <a:xfrm>
            <a:off x="7730252" y="1380649"/>
            <a:ext cx="674846" cy="198120"/>
          </a:xfrm>
          <a:prstGeom prst="rect">
            <a:avLst/>
          </a:prstGeom>
          <a:noFill/>
          <a:ln>
            <a:noFill/>
          </a:ln>
        </p:spPr>
        <p:txBody>
          <a:bodyPr wrap="none" lIns="0" tIns="0" rIns="0" bIns="0" anchor="t" anchorCtr="0">
            <a:spAutoFit/>
          </a:bodyPr>
          <a:lstStyle/>
          <a:p>
            <a:pPr algn="ctr"/>
            <a:r>
              <a:rPr lang="zh-CN" sz="975" dirty="0">
                <a:solidFill>
                  <a:srgbClr val="FFFFFF">
                    <a:alphaMod val="70000"/>
                  </a:srgbClr>
                </a:solidFill>
                <a:latin typeface="Arial" panose="020B0604020202020204"/>
                <a:ea typeface="微软雅黑" panose="020B0503020204020204" charset="-122"/>
                <a:cs typeface="Arial" panose="020B0604020202020204"/>
              </a:rPr>
              <a:t>一阶辛方法</a:t>
            </a:r>
            <a:endParaRPr lang="zh-CN" sz="975" dirty="0">
              <a:solidFill>
                <a:srgbClr val="FFFFFF">
                  <a:alphaMod val="70000"/>
                </a:srgbClr>
              </a:solidFill>
              <a:latin typeface="Arial" panose="020B0604020202020204"/>
              <a:ea typeface="微软雅黑" panose="020B0503020204020204" charset="-122"/>
              <a:cs typeface="Arial" panose="020B0604020202020204"/>
            </a:endParaRPr>
          </a:p>
        </p:txBody>
      </p:sp>
      <p:sp>
        <p:nvSpPr>
          <p:cNvPr id="20" name="Rectangle 20"/>
          <p:cNvSpPr/>
          <p:nvPr/>
        </p:nvSpPr>
        <p:spPr>
          <a:xfrm>
            <a:off x="9286875" y="1047750"/>
            <a:ext cx="2143125" cy="495300"/>
          </a:xfrm>
          <a:prstGeom prst="roundRect">
            <a:avLst>
              <a:gd name="adj" fmla="val 15385"/>
            </a:avLst>
          </a:prstGeom>
          <a:gradFill>
            <a:gsLst>
              <a:gs pos="0">
                <a:srgbClr val="8E44AD"/>
              </a:gs>
              <a:gs pos="100000">
                <a:srgbClr val="6C3483"/>
              </a:gs>
            </a:gsLst>
            <a:lin ang="5400000" scaled="1"/>
          </a:gradFill>
          <a:ln>
            <a:noFill/>
          </a:ln>
        </p:spPr>
      </p:sp>
      <p:sp>
        <p:nvSpPr>
          <p:cNvPr id="21" name="TextBox 21"/>
          <p:cNvSpPr txBox="1"/>
          <p:nvPr/>
        </p:nvSpPr>
        <p:spPr>
          <a:xfrm>
            <a:off x="9573280" y="1162050"/>
            <a:ext cx="156079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panose="020B0502040204020203"/>
                <a:ea typeface="黑体" panose="02010609060101010101" charset="-122"/>
                <a:cs typeface="Segoe UI" panose="020B0502040204020203"/>
              </a:rPr>
              <a:t>Velocity Verlet</a:t>
            </a:r>
            <a:endParaRPr lang="zh-CN" sz="1500" b="1" dirty="0">
              <a:solidFill>
                <a:srgbClr val="FFFFFF"/>
              </a:solidFill>
              <a:latin typeface="Segoe UI" panose="020B0502040204020203"/>
              <a:ea typeface="黑体" panose="02010609060101010101" charset="-122"/>
              <a:cs typeface="Segoe UI" panose="020B0502040204020203"/>
            </a:endParaRPr>
          </a:p>
        </p:txBody>
      </p:sp>
      <p:sp>
        <p:nvSpPr>
          <p:cNvPr id="22" name="TextBox 22"/>
          <p:cNvSpPr txBox="1"/>
          <p:nvPr/>
        </p:nvSpPr>
        <p:spPr>
          <a:xfrm>
            <a:off x="10016252" y="1380649"/>
            <a:ext cx="674846" cy="198120"/>
          </a:xfrm>
          <a:prstGeom prst="rect">
            <a:avLst/>
          </a:prstGeom>
          <a:noFill/>
          <a:ln>
            <a:noFill/>
          </a:ln>
        </p:spPr>
        <p:txBody>
          <a:bodyPr wrap="none" lIns="0" tIns="0" rIns="0" bIns="0" anchor="t" anchorCtr="0">
            <a:spAutoFit/>
          </a:bodyPr>
          <a:lstStyle/>
          <a:p>
            <a:pPr algn="ctr"/>
            <a:r>
              <a:rPr lang="zh-CN" sz="975" dirty="0">
                <a:solidFill>
                  <a:srgbClr val="FFFFFF">
                    <a:alphaMod val="70000"/>
                  </a:srgbClr>
                </a:solidFill>
                <a:latin typeface="Arial" panose="020B0604020202020204"/>
                <a:ea typeface="微软雅黑" panose="020B0503020204020204" charset="-122"/>
                <a:cs typeface="Arial" panose="020B0604020202020204"/>
              </a:rPr>
              <a:t>二阶辛方法</a:t>
            </a:r>
            <a:endParaRPr lang="zh-CN" sz="975" dirty="0">
              <a:solidFill>
                <a:srgbClr val="FFFFFF">
                  <a:alphaMod val="70000"/>
                </a:srgbClr>
              </a:solidFill>
              <a:latin typeface="Arial" panose="020B0604020202020204"/>
              <a:ea typeface="微软雅黑" panose="020B0503020204020204" charset="-122"/>
              <a:cs typeface="Arial" panose="020B0604020202020204"/>
            </a:endParaRPr>
          </a:p>
        </p:txBody>
      </p:sp>
      <p:sp>
        <p:nvSpPr>
          <p:cNvPr id="23" name="Rectangle 23"/>
          <p:cNvSpPr/>
          <p:nvPr/>
        </p:nvSpPr>
        <p:spPr>
          <a:xfrm>
            <a:off x="571500" y="1695450"/>
            <a:ext cx="1714500" cy="628650"/>
          </a:xfrm>
          <a:prstGeom prst="roundRect">
            <a:avLst>
              <a:gd name="adj" fmla="val 9091"/>
            </a:avLst>
          </a:prstGeom>
          <a:solidFill>
            <a:srgbClr val="F4F6F8"/>
          </a:solidFill>
          <a:ln>
            <a:noFill/>
          </a:ln>
        </p:spPr>
      </p:sp>
      <p:sp>
        <p:nvSpPr>
          <p:cNvPr id="24" name="TextBox 24"/>
          <p:cNvSpPr txBox="1"/>
          <p:nvPr/>
        </p:nvSpPr>
        <p:spPr>
          <a:xfrm>
            <a:off x="1033558" y="1835468"/>
            <a:ext cx="790384"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全局误差</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1039416" y="2088356"/>
            <a:ext cx="778669"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理论收敛阶</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26" name="Rectangle 26"/>
          <p:cNvSpPr/>
          <p:nvPr/>
        </p:nvSpPr>
        <p:spPr>
          <a:xfrm>
            <a:off x="2428875" y="1695450"/>
            <a:ext cx="2143125" cy="628650"/>
          </a:xfrm>
          <a:prstGeom prst="roundRect">
            <a:avLst>
              <a:gd name="adj" fmla="val 9091"/>
            </a:avLst>
          </a:prstGeom>
          <a:solidFill>
            <a:srgbClr val="FFFFFF"/>
          </a:solidFill>
          <a:ln w="9525">
            <a:solidFill>
              <a:srgbClr val="E2E8F0"/>
            </a:solidFill>
          </a:ln>
        </p:spPr>
      </p:sp>
      <p:sp>
        <p:nvSpPr>
          <p:cNvPr id="27" name="TextBox 27"/>
          <p:cNvSpPr txBox="1"/>
          <p:nvPr/>
        </p:nvSpPr>
        <p:spPr>
          <a:xfrm>
            <a:off x="3197485" y="1898332"/>
            <a:ext cx="596379" cy="335280"/>
          </a:xfrm>
          <a:prstGeom prst="rect">
            <a:avLst/>
          </a:prstGeom>
          <a:noFill/>
          <a:ln>
            <a:noFill/>
          </a:ln>
        </p:spPr>
        <p:txBody>
          <a:bodyPr wrap="none" lIns="0" tIns="0" rIns="0" bIns="0" anchor="t" anchorCtr="0">
            <a:spAutoFit/>
          </a:bodyPr>
          <a:lstStyle/>
          <a:p>
            <a:pPr algn="ctr"/>
            <a:r>
              <a:rPr lang="zh-CN" sz="1650" b="1" dirty="0">
                <a:solidFill>
                  <a:srgbClr val="E74C3C"/>
                </a:solidFill>
                <a:latin typeface="Consolas" panose="020B0609020204030204"/>
                <a:ea typeface="微软雅黑" panose="020B0503020204020204" charset="-122"/>
                <a:cs typeface="Consolas" panose="020B0609020204030204"/>
              </a:rPr>
              <a:t>O(h)</a:t>
            </a:r>
            <a:endParaRPr lang="zh-CN" sz="1650" b="1" dirty="0">
              <a:solidFill>
                <a:srgbClr val="E74C3C"/>
              </a:solidFill>
              <a:latin typeface="Consolas" panose="020B0609020204030204"/>
              <a:ea typeface="微软雅黑" panose="020B0503020204020204" charset="-122"/>
              <a:cs typeface="Consolas" panose="020B0609020204030204"/>
            </a:endParaRPr>
          </a:p>
        </p:txBody>
      </p:sp>
      <p:sp>
        <p:nvSpPr>
          <p:cNvPr id="28" name="Rectangle 28"/>
          <p:cNvSpPr/>
          <p:nvPr/>
        </p:nvSpPr>
        <p:spPr>
          <a:xfrm>
            <a:off x="4714875" y="1695450"/>
            <a:ext cx="2143125" cy="628650"/>
          </a:xfrm>
          <a:prstGeom prst="roundRect">
            <a:avLst>
              <a:gd name="adj" fmla="val 9091"/>
            </a:avLst>
          </a:prstGeom>
          <a:solidFill>
            <a:srgbClr val="2E86C1">
              <a:alpha val="5000"/>
            </a:srgbClr>
          </a:solidFill>
          <a:ln w="14288">
            <a:solidFill>
              <a:srgbClr val="2E86C1"/>
            </a:solidFill>
          </a:ln>
        </p:spPr>
      </p:sp>
      <p:sp>
        <p:nvSpPr>
          <p:cNvPr id="29" name="TextBox 29"/>
          <p:cNvSpPr txBox="1"/>
          <p:nvPr/>
        </p:nvSpPr>
        <p:spPr>
          <a:xfrm>
            <a:off x="5419952" y="1898332"/>
            <a:ext cx="723445" cy="335280"/>
          </a:xfrm>
          <a:prstGeom prst="rect">
            <a:avLst/>
          </a:prstGeom>
          <a:noFill/>
          <a:ln>
            <a:noFill/>
          </a:ln>
        </p:spPr>
        <p:txBody>
          <a:bodyPr wrap="none" lIns="0" tIns="0" rIns="0" bIns="0" anchor="t" anchorCtr="0">
            <a:spAutoFit/>
          </a:bodyPr>
          <a:lstStyle/>
          <a:p>
            <a:pPr algn="ctr"/>
            <a:r>
              <a:rPr lang="zh-CN" sz="1650" b="1" dirty="0">
                <a:solidFill>
                  <a:srgbClr val="27AE60"/>
                </a:solidFill>
                <a:latin typeface="Consolas" panose="020B0609020204030204"/>
                <a:ea typeface="微软雅黑" panose="020B0503020204020204" charset="-122"/>
                <a:cs typeface="Consolas" panose="020B0609020204030204"/>
              </a:rPr>
              <a:t>O(h⁴)</a:t>
            </a:r>
            <a:endParaRPr lang="zh-CN" sz="1650" b="1" dirty="0">
              <a:solidFill>
                <a:srgbClr val="27AE60"/>
              </a:solidFill>
              <a:latin typeface="Consolas" panose="020B0609020204030204"/>
              <a:ea typeface="微软雅黑" panose="020B0503020204020204" charset="-122"/>
              <a:cs typeface="Consolas" panose="020B0609020204030204"/>
            </a:endParaRPr>
          </a:p>
        </p:txBody>
      </p:sp>
      <p:sp>
        <p:nvSpPr>
          <p:cNvPr id="30" name="Rectangle 30"/>
          <p:cNvSpPr/>
          <p:nvPr/>
        </p:nvSpPr>
        <p:spPr>
          <a:xfrm>
            <a:off x="7000875" y="1695450"/>
            <a:ext cx="2143125" cy="628650"/>
          </a:xfrm>
          <a:prstGeom prst="roundRect">
            <a:avLst>
              <a:gd name="adj" fmla="val 9091"/>
            </a:avLst>
          </a:prstGeom>
          <a:solidFill>
            <a:srgbClr val="FFFFFF"/>
          </a:solidFill>
          <a:ln w="9525">
            <a:solidFill>
              <a:srgbClr val="E2E8F0"/>
            </a:solidFill>
          </a:ln>
        </p:spPr>
      </p:sp>
      <p:sp>
        <p:nvSpPr>
          <p:cNvPr id="31" name="TextBox 31"/>
          <p:cNvSpPr txBox="1"/>
          <p:nvPr/>
        </p:nvSpPr>
        <p:spPr>
          <a:xfrm>
            <a:off x="7769485" y="1898332"/>
            <a:ext cx="596379" cy="335280"/>
          </a:xfrm>
          <a:prstGeom prst="rect">
            <a:avLst/>
          </a:prstGeom>
          <a:noFill/>
          <a:ln>
            <a:noFill/>
          </a:ln>
        </p:spPr>
        <p:txBody>
          <a:bodyPr wrap="none" lIns="0" tIns="0" rIns="0" bIns="0" anchor="t" anchorCtr="0">
            <a:spAutoFit/>
          </a:bodyPr>
          <a:lstStyle/>
          <a:p>
            <a:pPr algn="ctr"/>
            <a:r>
              <a:rPr lang="zh-CN" sz="1650" b="1" dirty="0">
                <a:solidFill>
                  <a:srgbClr val="E74C3C"/>
                </a:solidFill>
                <a:latin typeface="Consolas" panose="020B0609020204030204"/>
                <a:ea typeface="微软雅黑" panose="020B0503020204020204" charset="-122"/>
                <a:cs typeface="Consolas" panose="020B0609020204030204"/>
              </a:rPr>
              <a:t>O(h)</a:t>
            </a:r>
            <a:endParaRPr lang="zh-CN" sz="1650" b="1" dirty="0">
              <a:solidFill>
                <a:srgbClr val="E74C3C"/>
              </a:solidFill>
              <a:latin typeface="Consolas" panose="020B0609020204030204"/>
              <a:ea typeface="微软雅黑" panose="020B0503020204020204" charset="-122"/>
              <a:cs typeface="Consolas" panose="020B0609020204030204"/>
            </a:endParaRPr>
          </a:p>
        </p:txBody>
      </p:sp>
      <p:sp>
        <p:nvSpPr>
          <p:cNvPr id="32" name="Rectangle 32"/>
          <p:cNvSpPr/>
          <p:nvPr/>
        </p:nvSpPr>
        <p:spPr>
          <a:xfrm>
            <a:off x="9286875" y="1695450"/>
            <a:ext cx="2143125" cy="628650"/>
          </a:xfrm>
          <a:prstGeom prst="roundRect">
            <a:avLst>
              <a:gd name="adj" fmla="val 9091"/>
            </a:avLst>
          </a:prstGeom>
          <a:solidFill>
            <a:srgbClr val="FFFFFF"/>
          </a:solidFill>
          <a:ln w="9525">
            <a:solidFill>
              <a:srgbClr val="E2E8F0"/>
            </a:solidFill>
          </a:ln>
        </p:spPr>
      </p:sp>
      <p:sp>
        <p:nvSpPr>
          <p:cNvPr id="33" name="TextBox 33"/>
          <p:cNvSpPr txBox="1"/>
          <p:nvPr/>
        </p:nvSpPr>
        <p:spPr>
          <a:xfrm>
            <a:off x="9991952" y="1898332"/>
            <a:ext cx="723445" cy="335280"/>
          </a:xfrm>
          <a:prstGeom prst="rect">
            <a:avLst/>
          </a:prstGeom>
          <a:noFill/>
          <a:ln>
            <a:noFill/>
          </a:ln>
        </p:spPr>
        <p:txBody>
          <a:bodyPr wrap="none" lIns="0" tIns="0" rIns="0" bIns="0" anchor="t" anchorCtr="0">
            <a:spAutoFit/>
          </a:bodyPr>
          <a:lstStyle/>
          <a:p>
            <a:pPr algn="ctr"/>
            <a:r>
              <a:rPr lang="zh-CN" sz="1650" b="1" dirty="0">
                <a:solidFill>
                  <a:srgbClr val="2E86C1"/>
                </a:solidFill>
                <a:latin typeface="Consolas" panose="020B0609020204030204"/>
                <a:ea typeface="微软雅黑" panose="020B0503020204020204" charset="-122"/>
                <a:cs typeface="Consolas" panose="020B0609020204030204"/>
              </a:rPr>
              <a:t>O(h²)</a:t>
            </a:r>
            <a:endParaRPr lang="zh-CN" sz="1650" b="1" dirty="0">
              <a:solidFill>
                <a:srgbClr val="2E86C1"/>
              </a:solidFill>
              <a:latin typeface="Consolas" panose="020B0609020204030204"/>
              <a:ea typeface="微软雅黑" panose="020B0503020204020204" charset="-122"/>
              <a:cs typeface="Consolas" panose="020B0609020204030204"/>
            </a:endParaRPr>
          </a:p>
        </p:txBody>
      </p:sp>
      <p:sp>
        <p:nvSpPr>
          <p:cNvPr id="34" name="Rectangle 34"/>
          <p:cNvSpPr/>
          <p:nvPr/>
        </p:nvSpPr>
        <p:spPr>
          <a:xfrm>
            <a:off x="571500" y="2438400"/>
            <a:ext cx="1714500" cy="628650"/>
          </a:xfrm>
          <a:prstGeom prst="roundRect">
            <a:avLst>
              <a:gd name="adj" fmla="val 9091"/>
            </a:avLst>
          </a:prstGeom>
          <a:solidFill>
            <a:srgbClr val="F4F6F8"/>
          </a:solidFill>
          <a:ln>
            <a:noFill/>
          </a:ln>
        </p:spPr>
      </p:sp>
      <p:sp>
        <p:nvSpPr>
          <p:cNvPr id="35" name="TextBox 35"/>
          <p:cNvSpPr txBox="1"/>
          <p:nvPr/>
        </p:nvSpPr>
        <p:spPr>
          <a:xfrm>
            <a:off x="887064" y="2578418"/>
            <a:ext cx="1083371"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求值次数/步</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964406" y="2831306"/>
            <a:ext cx="92868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右端函数调用</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37" name="Rectangle 37"/>
          <p:cNvSpPr/>
          <p:nvPr/>
        </p:nvSpPr>
        <p:spPr>
          <a:xfrm>
            <a:off x="2428875" y="2438400"/>
            <a:ext cx="2143125" cy="628650"/>
          </a:xfrm>
          <a:prstGeom prst="roundRect">
            <a:avLst>
              <a:gd name="adj" fmla="val 9091"/>
            </a:avLst>
          </a:prstGeom>
          <a:solidFill>
            <a:srgbClr val="FFFFFF"/>
          </a:solidFill>
          <a:ln w="9525">
            <a:solidFill>
              <a:srgbClr val="E2E8F0"/>
            </a:solidFill>
          </a:ln>
        </p:spPr>
      </p:sp>
      <p:sp>
        <p:nvSpPr>
          <p:cNvPr id="38" name="TextBox 38"/>
          <p:cNvSpPr txBox="1"/>
          <p:nvPr/>
        </p:nvSpPr>
        <p:spPr>
          <a:xfrm>
            <a:off x="3435010" y="2625090"/>
            <a:ext cx="121329" cy="365760"/>
          </a:xfrm>
          <a:prstGeom prst="rect">
            <a:avLst/>
          </a:prstGeom>
          <a:noFill/>
          <a:ln>
            <a:noFill/>
          </a:ln>
        </p:spPr>
        <p:txBody>
          <a:bodyPr wrap="none" lIns="0" tIns="0" rIns="0" bIns="0" anchor="t" anchorCtr="0">
            <a:spAutoFit/>
          </a:bodyPr>
          <a:lstStyle/>
          <a:p>
            <a:pPr algn="ctr"/>
            <a:r>
              <a:rPr lang="zh-CN" sz="1800" b="1" dirty="0">
                <a:solidFill>
                  <a:srgbClr val="27AE60"/>
                </a:solidFill>
                <a:latin typeface="Consolas" panose="020B0609020204030204"/>
                <a:ea typeface="微软雅黑" panose="020B0503020204020204" charset="-122"/>
                <a:cs typeface="Consolas" panose="020B0609020204030204"/>
              </a:rPr>
              <a:t>1</a:t>
            </a:r>
            <a:endParaRPr lang="zh-CN" sz="1800" b="1" dirty="0">
              <a:solidFill>
                <a:srgbClr val="27AE60"/>
              </a:solidFill>
              <a:latin typeface="Consolas" panose="020B0609020204030204"/>
              <a:ea typeface="微软雅黑" panose="020B0503020204020204" charset="-122"/>
              <a:cs typeface="Consolas" panose="020B0609020204030204"/>
            </a:endParaRPr>
          </a:p>
        </p:txBody>
      </p:sp>
      <p:sp>
        <p:nvSpPr>
          <p:cNvPr id="39" name="Rectangle 39"/>
          <p:cNvSpPr/>
          <p:nvPr/>
        </p:nvSpPr>
        <p:spPr>
          <a:xfrm>
            <a:off x="4714875" y="2438400"/>
            <a:ext cx="2143125" cy="628650"/>
          </a:xfrm>
          <a:prstGeom prst="roundRect">
            <a:avLst>
              <a:gd name="adj" fmla="val 9091"/>
            </a:avLst>
          </a:prstGeom>
          <a:solidFill>
            <a:srgbClr val="2E86C1">
              <a:alpha val="5000"/>
            </a:srgbClr>
          </a:solidFill>
          <a:ln w="14288">
            <a:solidFill>
              <a:srgbClr val="2E86C1"/>
            </a:solidFill>
          </a:ln>
        </p:spPr>
      </p:sp>
      <p:sp>
        <p:nvSpPr>
          <p:cNvPr id="40" name="TextBox 40"/>
          <p:cNvSpPr txBox="1"/>
          <p:nvPr/>
        </p:nvSpPr>
        <p:spPr>
          <a:xfrm>
            <a:off x="5689506" y="2625090"/>
            <a:ext cx="184337" cy="365760"/>
          </a:xfrm>
          <a:prstGeom prst="rect">
            <a:avLst/>
          </a:prstGeom>
          <a:noFill/>
          <a:ln>
            <a:noFill/>
          </a:ln>
        </p:spPr>
        <p:txBody>
          <a:bodyPr wrap="none" lIns="0" tIns="0" rIns="0" bIns="0" anchor="t" anchorCtr="0">
            <a:spAutoFit/>
          </a:bodyPr>
          <a:lstStyle/>
          <a:p>
            <a:pPr algn="ctr"/>
            <a:r>
              <a:rPr lang="zh-CN" sz="1800" b="1" dirty="0">
                <a:solidFill>
                  <a:srgbClr val="E74C3C"/>
                </a:solidFill>
                <a:latin typeface="Consolas" panose="020B0609020204030204"/>
                <a:ea typeface="微软雅黑" panose="020B0503020204020204" charset="-122"/>
                <a:cs typeface="Consolas" panose="020B0609020204030204"/>
              </a:rPr>
              <a:t>4</a:t>
            </a:r>
            <a:endParaRPr lang="zh-CN" sz="1800" b="1" dirty="0">
              <a:solidFill>
                <a:srgbClr val="E74C3C"/>
              </a:solidFill>
              <a:latin typeface="Consolas" panose="020B0609020204030204"/>
              <a:ea typeface="微软雅黑" panose="020B0503020204020204" charset="-122"/>
              <a:cs typeface="Consolas" panose="020B0609020204030204"/>
            </a:endParaRPr>
          </a:p>
        </p:txBody>
      </p:sp>
      <p:sp>
        <p:nvSpPr>
          <p:cNvPr id="41" name="Rectangle 41"/>
          <p:cNvSpPr/>
          <p:nvPr/>
        </p:nvSpPr>
        <p:spPr>
          <a:xfrm>
            <a:off x="7000875" y="2438400"/>
            <a:ext cx="2143125" cy="628650"/>
          </a:xfrm>
          <a:prstGeom prst="roundRect">
            <a:avLst>
              <a:gd name="adj" fmla="val 9091"/>
            </a:avLst>
          </a:prstGeom>
          <a:solidFill>
            <a:srgbClr val="FFFFFF"/>
          </a:solidFill>
          <a:ln w="9525">
            <a:solidFill>
              <a:srgbClr val="E2E8F0"/>
            </a:solidFill>
          </a:ln>
        </p:spPr>
      </p:sp>
      <p:sp>
        <p:nvSpPr>
          <p:cNvPr id="42" name="TextBox 42"/>
          <p:cNvSpPr txBox="1"/>
          <p:nvPr/>
        </p:nvSpPr>
        <p:spPr>
          <a:xfrm>
            <a:off x="8007010" y="2625090"/>
            <a:ext cx="121329" cy="365760"/>
          </a:xfrm>
          <a:prstGeom prst="rect">
            <a:avLst/>
          </a:prstGeom>
          <a:noFill/>
          <a:ln>
            <a:noFill/>
          </a:ln>
        </p:spPr>
        <p:txBody>
          <a:bodyPr wrap="none" lIns="0" tIns="0" rIns="0" bIns="0" anchor="t" anchorCtr="0">
            <a:spAutoFit/>
          </a:bodyPr>
          <a:lstStyle/>
          <a:p>
            <a:pPr algn="ctr"/>
            <a:r>
              <a:rPr lang="zh-CN" sz="1800" b="1" dirty="0">
                <a:solidFill>
                  <a:srgbClr val="27AE60"/>
                </a:solidFill>
                <a:latin typeface="Consolas" panose="020B0609020204030204"/>
                <a:ea typeface="微软雅黑" panose="020B0503020204020204" charset="-122"/>
                <a:cs typeface="Consolas" panose="020B0609020204030204"/>
              </a:rPr>
              <a:t>1</a:t>
            </a:r>
            <a:endParaRPr lang="zh-CN" sz="1800" b="1" dirty="0">
              <a:solidFill>
                <a:srgbClr val="27AE60"/>
              </a:solidFill>
              <a:latin typeface="Consolas" panose="020B0609020204030204"/>
              <a:ea typeface="微软雅黑" panose="020B0503020204020204" charset="-122"/>
              <a:cs typeface="Consolas" panose="020B0609020204030204"/>
            </a:endParaRPr>
          </a:p>
        </p:txBody>
      </p:sp>
      <p:sp>
        <p:nvSpPr>
          <p:cNvPr id="43" name="Rectangle 43"/>
          <p:cNvSpPr/>
          <p:nvPr/>
        </p:nvSpPr>
        <p:spPr>
          <a:xfrm>
            <a:off x="9286875" y="2438400"/>
            <a:ext cx="2143125" cy="628650"/>
          </a:xfrm>
          <a:prstGeom prst="roundRect">
            <a:avLst>
              <a:gd name="adj" fmla="val 9091"/>
            </a:avLst>
          </a:prstGeom>
          <a:solidFill>
            <a:srgbClr val="FFFFFF"/>
          </a:solidFill>
          <a:ln w="9525">
            <a:solidFill>
              <a:srgbClr val="E2E8F0"/>
            </a:solidFill>
          </a:ln>
        </p:spPr>
      </p:sp>
      <p:sp>
        <p:nvSpPr>
          <p:cNvPr id="44" name="TextBox 44"/>
          <p:cNvSpPr txBox="1"/>
          <p:nvPr/>
        </p:nvSpPr>
        <p:spPr>
          <a:xfrm>
            <a:off x="10261506" y="2625090"/>
            <a:ext cx="184337" cy="365760"/>
          </a:xfrm>
          <a:prstGeom prst="rect">
            <a:avLst/>
          </a:prstGeom>
          <a:noFill/>
          <a:ln>
            <a:noFill/>
          </a:ln>
        </p:spPr>
        <p:txBody>
          <a:bodyPr wrap="none" lIns="0" tIns="0" rIns="0" bIns="0" anchor="t" anchorCtr="0">
            <a:spAutoFit/>
          </a:bodyPr>
          <a:lstStyle/>
          <a:p>
            <a:pPr algn="ctr"/>
            <a:r>
              <a:rPr lang="zh-CN" sz="1800" b="1" dirty="0">
                <a:solidFill>
                  <a:srgbClr val="2E86C1"/>
                </a:solidFill>
                <a:latin typeface="Consolas" panose="020B0609020204030204"/>
                <a:ea typeface="微软雅黑" panose="020B0503020204020204" charset="-122"/>
                <a:cs typeface="Consolas" panose="020B0609020204030204"/>
              </a:rPr>
              <a:t>2</a:t>
            </a:r>
            <a:endParaRPr lang="zh-CN" sz="1800" b="1" dirty="0">
              <a:solidFill>
                <a:srgbClr val="2E86C1"/>
              </a:solidFill>
              <a:latin typeface="Consolas" panose="020B0609020204030204"/>
              <a:ea typeface="微软雅黑" panose="020B0503020204020204" charset="-122"/>
              <a:cs typeface="Consolas" panose="020B0609020204030204"/>
            </a:endParaRPr>
          </a:p>
        </p:txBody>
      </p:sp>
      <p:sp>
        <p:nvSpPr>
          <p:cNvPr id="45" name="Rectangle 45"/>
          <p:cNvSpPr/>
          <p:nvPr/>
        </p:nvSpPr>
        <p:spPr>
          <a:xfrm>
            <a:off x="571500" y="3181350"/>
            <a:ext cx="1714500" cy="628650"/>
          </a:xfrm>
          <a:prstGeom prst="roundRect">
            <a:avLst>
              <a:gd name="adj" fmla="val 9091"/>
            </a:avLst>
          </a:prstGeom>
          <a:solidFill>
            <a:srgbClr val="F4F6F8"/>
          </a:solidFill>
          <a:ln>
            <a:noFill/>
          </a:ln>
        </p:spPr>
      </p:sp>
      <p:sp>
        <p:nvSpPr>
          <p:cNvPr id="46" name="TextBox 46"/>
          <p:cNvSpPr txBox="1"/>
          <p:nvPr/>
        </p:nvSpPr>
        <p:spPr>
          <a:xfrm>
            <a:off x="1128070" y="3321368"/>
            <a:ext cx="601361"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辛结构</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889397" y="3574256"/>
            <a:ext cx="107870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相空间体积守恒</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48" name="Rectangle 48"/>
          <p:cNvSpPr/>
          <p:nvPr/>
        </p:nvSpPr>
        <p:spPr>
          <a:xfrm>
            <a:off x="2428875" y="3181350"/>
            <a:ext cx="2143125" cy="628650"/>
          </a:xfrm>
          <a:prstGeom prst="roundRect">
            <a:avLst>
              <a:gd name="adj" fmla="val 9091"/>
            </a:avLst>
          </a:prstGeom>
          <a:solidFill>
            <a:srgbClr val="FFFFFF"/>
          </a:solidFill>
          <a:ln w="9525">
            <a:solidFill>
              <a:srgbClr val="E2E8F0"/>
            </a:solidFill>
          </a:ln>
        </p:spPr>
      </p:sp>
      <p:sp>
        <p:nvSpPr>
          <p:cNvPr id="49" name="TextBox 49"/>
          <p:cNvSpPr txBox="1"/>
          <p:nvPr/>
        </p:nvSpPr>
        <p:spPr>
          <a:xfrm>
            <a:off x="3371612" y="3400425"/>
            <a:ext cx="248126" cy="304800"/>
          </a:xfrm>
          <a:prstGeom prst="rect">
            <a:avLst/>
          </a:prstGeom>
          <a:noFill/>
          <a:ln>
            <a:noFill/>
          </a:ln>
        </p:spPr>
        <p:txBody>
          <a:bodyPr wrap="none" lIns="0" tIns="0" rIns="0" bIns="0" anchor="t" anchorCtr="0">
            <a:spAutoFit/>
          </a:bodyPr>
          <a:lstStyle/>
          <a:p>
            <a:pPr algn="ctr"/>
            <a:r>
              <a:rPr lang="zh-CN" sz="1500" b="1" dirty="0">
                <a:solidFill>
                  <a:srgbClr val="E74C3C"/>
                </a:solidFill>
                <a:latin typeface="Segoe UI" panose="020B0502040204020203"/>
                <a:ea typeface="黑体" panose="02010609060101010101" charset="-122"/>
                <a:cs typeface="Segoe UI" panose="020B0502040204020203"/>
              </a:rPr>
              <a:t>否</a:t>
            </a:r>
            <a:endParaRPr lang="zh-CN" sz="1500" b="1" dirty="0">
              <a:solidFill>
                <a:srgbClr val="E74C3C"/>
              </a:solidFill>
              <a:latin typeface="Segoe UI" panose="020B0502040204020203"/>
              <a:ea typeface="黑体" panose="02010609060101010101" charset="-122"/>
              <a:cs typeface="Segoe UI" panose="020B0502040204020203"/>
            </a:endParaRPr>
          </a:p>
        </p:txBody>
      </p:sp>
      <p:sp>
        <p:nvSpPr>
          <p:cNvPr id="50" name="Rectangle 50"/>
          <p:cNvSpPr/>
          <p:nvPr/>
        </p:nvSpPr>
        <p:spPr>
          <a:xfrm>
            <a:off x="4714875" y="3181350"/>
            <a:ext cx="2143125" cy="628650"/>
          </a:xfrm>
          <a:prstGeom prst="roundRect">
            <a:avLst>
              <a:gd name="adj" fmla="val 9091"/>
            </a:avLst>
          </a:prstGeom>
          <a:solidFill>
            <a:srgbClr val="2E86C1">
              <a:alpha val="5000"/>
            </a:srgbClr>
          </a:solidFill>
          <a:ln w="14288">
            <a:solidFill>
              <a:srgbClr val="2E86C1"/>
            </a:solidFill>
          </a:ln>
        </p:spPr>
      </p:sp>
      <p:sp>
        <p:nvSpPr>
          <p:cNvPr id="51" name="TextBox 51"/>
          <p:cNvSpPr txBox="1"/>
          <p:nvPr/>
        </p:nvSpPr>
        <p:spPr>
          <a:xfrm>
            <a:off x="5657612" y="3400425"/>
            <a:ext cx="248126" cy="304800"/>
          </a:xfrm>
          <a:prstGeom prst="rect">
            <a:avLst/>
          </a:prstGeom>
          <a:noFill/>
          <a:ln>
            <a:noFill/>
          </a:ln>
        </p:spPr>
        <p:txBody>
          <a:bodyPr wrap="none" lIns="0" tIns="0" rIns="0" bIns="0" anchor="t" anchorCtr="0">
            <a:spAutoFit/>
          </a:bodyPr>
          <a:lstStyle/>
          <a:p>
            <a:pPr algn="ctr"/>
            <a:r>
              <a:rPr lang="zh-CN" sz="1500" b="1" dirty="0">
                <a:solidFill>
                  <a:srgbClr val="E74C3C"/>
                </a:solidFill>
                <a:latin typeface="Segoe UI" panose="020B0502040204020203"/>
                <a:ea typeface="黑体" panose="02010609060101010101" charset="-122"/>
                <a:cs typeface="Segoe UI" panose="020B0502040204020203"/>
              </a:rPr>
              <a:t>否</a:t>
            </a:r>
            <a:endParaRPr lang="zh-CN" sz="1500" b="1" dirty="0">
              <a:solidFill>
                <a:srgbClr val="E74C3C"/>
              </a:solidFill>
              <a:latin typeface="Segoe UI" panose="020B0502040204020203"/>
              <a:ea typeface="黑体" panose="02010609060101010101" charset="-122"/>
              <a:cs typeface="Segoe UI" panose="020B0502040204020203"/>
            </a:endParaRPr>
          </a:p>
        </p:txBody>
      </p:sp>
      <p:sp>
        <p:nvSpPr>
          <p:cNvPr id="52" name="Rectangle 52"/>
          <p:cNvSpPr/>
          <p:nvPr/>
        </p:nvSpPr>
        <p:spPr>
          <a:xfrm>
            <a:off x="7000875" y="3181350"/>
            <a:ext cx="2143125" cy="628650"/>
          </a:xfrm>
          <a:prstGeom prst="roundRect">
            <a:avLst>
              <a:gd name="adj" fmla="val 9091"/>
            </a:avLst>
          </a:prstGeom>
          <a:solidFill>
            <a:srgbClr val="27AE60">
              <a:alpha val="6000"/>
            </a:srgbClr>
          </a:solidFill>
          <a:ln w="14288">
            <a:solidFill>
              <a:srgbClr val="27AE60"/>
            </a:solidFill>
          </a:ln>
        </p:spPr>
      </p:sp>
      <p:sp>
        <p:nvSpPr>
          <p:cNvPr id="53" name="TextBox 53"/>
          <p:cNvSpPr txBox="1"/>
          <p:nvPr/>
        </p:nvSpPr>
        <p:spPr>
          <a:xfrm>
            <a:off x="7943612" y="3400425"/>
            <a:ext cx="248126" cy="304800"/>
          </a:xfrm>
          <a:prstGeom prst="rect">
            <a:avLst/>
          </a:prstGeom>
          <a:noFill/>
          <a:ln>
            <a:noFill/>
          </a:ln>
        </p:spPr>
        <p:txBody>
          <a:bodyPr wrap="none" lIns="0" tIns="0" rIns="0" bIns="0" anchor="t" anchorCtr="0">
            <a:spAutoFit/>
          </a:bodyPr>
          <a:lstStyle/>
          <a:p>
            <a:pPr algn="ctr"/>
            <a:r>
              <a:rPr lang="zh-CN" sz="1500" b="1" dirty="0">
                <a:solidFill>
                  <a:srgbClr val="27AE60"/>
                </a:solidFill>
                <a:latin typeface="Segoe UI" panose="020B0502040204020203"/>
                <a:ea typeface="黑体" panose="02010609060101010101" charset="-122"/>
                <a:cs typeface="Segoe UI" panose="020B0502040204020203"/>
              </a:rPr>
              <a:t>是</a:t>
            </a:r>
            <a:endParaRPr lang="zh-CN" sz="1500" b="1" dirty="0">
              <a:solidFill>
                <a:srgbClr val="27AE60"/>
              </a:solidFill>
              <a:latin typeface="Segoe UI" panose="020B0502040204020203"/>
              <a:ea typeface="黑体" panose="02010609060101010101" charset="-122"/>
              <a:cs typeface="Segoe UI" panose="020B0502040204020203"/>
            </a:endParaRPr>
          </a:p>
        </p:txBody>
      </p:sp>
      <p:sp>
        <p:nvSpPr>
          <p:cNvPr id="54" name="Rectangle 54"/>
          <p:cNvSpPr/>
          <p:nvPr/>
        </p:nvSpPr>
        <p:spPr>
          <a:xfrm>
            <a:off x="9286875" y="3181350"/>
            <a:ext cx="2143125" cy="628650"/>
          </a:xfrm>
          <a:prstGeom prst="roundRect">
            <a:avLst>
              <a:gd name="adj" fmla="val 9091"/>
            </a:avLst>
          </a:prstGeom>
          <a:solidFill>
            <a:srgbClr val="27AE60">
              <a:alpha val="6000"/>
            </a:srgbClr>
          </a:solidFill>
          <a:ln w="14288">
            <a:solidFill>
              <a:srgbClr val="27AE60"/>
            </a:solidFill>
          </a:ln>
        </p:spPr>
      </p:sp>
      <p:sp>
        <p:nvSpPr>
          <p:cNvPr id="55" name="TextBox 55"/>
          <p:cNvSpPr txBox="1"/>
          <p:nvPr/>
        </p:nvSpPr>
        <p:spPr>
          <a:xfrm>
            <a:off x="10229612" y="3400425"/>
            <a:ext cx="248126" cy="304800"/>
          </a:xfrm>
          <a:prstGeom prst="rect">
            <a:avLst/>
          </a:prstGeom>
          <a:noFill/>
          <a:ln>
            <a:noFill/>
          </a:ln>
        </p:spPr>
        <p:txBody>
          <a:bodyPr wrap="none" lIns="0" tIns="0" rIns="0" bIns="0" anchor="t" anchorCtr="0">
            <a:spAutoFit/>
          </a:bodyPr>
          <a:lstStyle/>
          <a:p>
            <a:pPr algn="ctr"/>
            <a:r>
              <a:rPr lang="zh-CN" sz="1500" b="1" dirty="0">
                <a:solidFill>
                  <a:srgbClr val="27AE60"/>
                </a:solidFill>
                <a:latin typeface="Segoe UI" panose="020B0502040204020203"/>
                <a:ea typeface="黑体" panose="02010609060101010101" charset="-122"/>
                <a:cs typeface="Segoe UI" panose="020B0502040204020203"/>
              </a:rPr>
              <a:t>是</a:t>
            </a:r>
            <a:endParaRPr lang="zh-CN" sz="1500" b="1" dirty="0">
              <a:solidFill>
                <a:srgbClr val="27AE60"/>
              </a:solidFill>
              <a:latin typeface="Segoe UI" panose="020B0502040204020203"/>
              <a:ea typeface="黑体" panose="02010609060101010101" charset="-122"/>
              <a:cs typeface="Segoe UI" panose="020B0502040204020203"/>
            </a:endParaRPr>
          </a:p>
        </p:txBody>
      </p:sp>
      <p:sp>
        <p:nvSpPr>
          <p:cNvPr id="56" name="Rectangle 56"/>
          <p:cNvSpPr/>
          <p:nvPr/>
        </p:nvSpPr>
        <p:spPr>
          <a:xfrm>
            <a:off x="571500" y="3924300"/>
            <a:ext cx="1714500" cy="628650"/>
          </a:xfrm>
          <a:prstGeom prst="roundRect">
            <a:avLst>
              <a:gd name="adj" fmla="val 9091"/>
            </a:avLst>
          </a:prstGeom>
          <a:solidFill>
            <a:srgbClr val="F4F6F8"/>
          </a:solidFill>
          <a:ln>
            <a:noFill/>
          </a:ln>
        </p:spPr>
      </p:sp>
      <p:sp>
        <p:nvSpPr>
          <p:cNvPr id="57" name="TextBox 57"/>
          <p:cNvSpPr txBox="1"/>
          <p:nvPr/>
        </p:nvSpPr>
        <p:spPr>
          <a:xfrm>
            <a:off x="1033558" y="4064318"/>
            <a:ext cx="790384"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能量行为</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964406" y="4317206"/>
            <a:ext cx="92868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长期漂移趋势</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59" name="Rectangle 59"/>
          <p:cNvSpPr/>
          <p:nvPr/>
        </p:nvSpPr>
        <p:spPr>
          <a:xfrm>
            <a:off x="2428875" y="3924300"/>
            <a:ext cx="2143125" cy="628650"/>
          </a:xfrm>
          <a:prstGeom prst="roundRect">
            <a:avLst>
              <a:gd name="adj" fmla="val 9091"/>
            </a:avLst>
          </a:prstGeom>
          <a:solidFill>
            <a:srgbClr val="FFFFFF"/>
          </a:solidFill>
          <a:ln w="9525">
            <a:solidFill>
              <a:srgbClr val="E2E8F0"/>
            </a:solidFill>
          </a:ln>
        </p:spPr>
      </p:sp>
      <p:sp>
        <p:nvSpPr>
          <p:cNvPr id="60" name="TextBox 60"/>
          <p:cNvSpPr txBox="1"/>
          <p:nvPr/>
        </p:nvSpPr>
        <p:spPr>
          <a:xfrm>
            <a:off x="2818950" y="4091464"/>
            <a:ext cx="1353450" cy="259080"/>
          </a:xfrm>
          <a:prstGeom prst="rect">
            <a:avLst/>
          </a:prstGeom>
          <a:noFill/>
          <a:ln>
            <a:noFill/>
          </a:ln>
        </p:spPr>
        <p:txBody>
          <a:bodyPr wrap="none" lIns="0" tIns="0" rIns="0" bIns="0" anchor="t" anchorCtr="0">
            <a:spAutoFit/>
          </a:bodyPr>
          <a:lstStyle/>
          <a:p>
            <a:pPr algn="ctr"/>
            <a:r>
              <a:rPr lang="zh-CN" sz="1275" b="1" dirty="0">
                <a:solidFill>
                  <a:srgbClr val="E74C3C"/>
                </a:solidFill>
                <a:latin typeface="Arial" panose="020B0604020202020204"/>
                <a:ea typeface="微软雅黑" panose="020B0503020204020204" charset="-122"/>
                <a:cs typeface="Arial" panose="020B0604020202020204"/>
              </a:rPr>
              <a:t>单向漂移 (增能)</a:t>
            </a:r>
            <a:endParaRPr lang="zh-CN" sz="1275" b="1" dirty="0">
              <a:solidFill>
                <a:srgbClr val="E74C3C"/>
              </a:solidFill>
              <a:latin typeface="Arial" panose="020B0604020202020204"/>
              <a:ea typeface="微软雅黑" panose="020B0503020204020204" charset="-122"/>
              <a:cs typeface="Arial" panose="020B0604020202020204"/>
            </a:endParaRPr>
          </a:p>
        </p:txBody>
      </p:sp>
      <p:sp>
        <p:nvSpPr>
          <p:cNvPr id="61" name="TextBox 61"/>
          <p:cNvSpPr txBox="1"/>
          <p:nvPr/>
        </p:nvSpPr>
        <p:spPr>
          <a:xfrm>
            <a:off x="2982575" y="4317206"/>
            <a:ext cx="1026200" cy="228600"/>
          </a:xfrm>
          <a:prstGeom prst="rect">
            <a:avLst/>
          </a:prstGeom>
          <a:noFill/>
          <a:ln>
            <a:noFill/>
          </a:ln>
        </p:spPr>
        <p:txBody>
          <a:bodyPr wrap="none" lIns="0" tIns="0" rIns="0" bIns="0" anchor="t" anchorCtr="0">
            <a:spAutoFit/>
          </a:bodyPr>
          <a:lstStyle/>
          <a:p>
            <a:pPr algn="ctr"/>
            <a:r>
              <a:rPr lang="zh-CN" sz="1125" dirty="0">
                <a:solidFill>
                  <a:srgbClr val="E74C3C"/>
                </a:solidFill>
                <a:latin typeface="Arial" panose="020B0604020202020204"/>
                <a:ea typeface="微软雅黑" panose="020B0503020204020204" charset="-122"/>
                <a:cs typeface="Arial" panose="020B0604020202020204"/>
              </a:rPr>
              <a:t>ΔE/E₀ ~ 3570%</a:t>
            </a:r>
            <a:endParaRPr lang="zh-CN" sz="1125" dirty="0">
              <a:solidFill>
                <a:srgbClr val="E74C3C"/>
              </a:solidFill>
              <a:latin typeface="Arial" panose="020B0604020202020204"/>
              <a:ea typeface="微软雅黑" panose="020B0503020204020204" charset="-122"/>
              <a:cs typeface="Arial" panose="020B0604020202020204"/>
            </a:endParaRPr>
          </a:p>
        </p:txBody>
      </p:sp>
      <p:sp>
        <p:nvSpPr>
          <p:cNvPr id="62" name="Rectangle 62"/>
          <p:cNvSpPr/>
          <p:nvPr/>
        </p:nvSpPr>
        <p:spPr>
          <a:xfrm>
            <a:off x="4714875" y="3924300"/>
            <a:ext cx="2143125" cy="628650"/>
          </a:xfrm>
          <a:prstGeom prst="roundRect">
            <a:avLst>
              <a:gd name="adj" fmla="val 9091"/>
            </a:avLst>
          </a:prstGeom>
          <a:solidFill>
            <a:srgbClr val="2E86C1">
              <a:alpha val="5000"/>
            </a:srgbClr>
          </a:solidFill>
          <a:ln w="14288">
            <a:solidFill>
              <a:srgbClr val="2E86C1"/>
            </a:solidFill>
          </a:ln>
        </p:spPr>
      </p:sp>
      <p:sp>
        <p:nvSpPr>
          <p:cNvPr id="63" name="TextBox 63"/>
          <p:cNvSpPr txBox="1"/>
          <p:nvPr/>
        </p:nvSpPr>
        <p:spPr>
          <a:xfrm>
            <a:off x="5408438" y="4091464"/>
            <a:ext cx="746474" cy="259080"/>
          </a:xfrm>
          <a:prstGeom prst="rect">
            <a:avLst/>
          </a:prstGeom>
          <a:noFill/>
          <a:ln>
            <a:noFill/>
          </a:ln>
        </p:spPr>
        <p:txBody>
          <a:bodyPr wrap="none" lIns="0" tIns="0" rIns="0" bIns="0" anchor="t" anchorCtr="0">
            <a:spAutoFit/>
          </a:bodyPr>
          <a:lstStyle/>
          <a:p>
            <a:pPr algn="ctr"/>
            <a:r>
              <a:rPr lang="zh-CN" sz="1275" b="1" dirty="0">
                <a:solidFill>
                  <a:srgbClr val="27AE60"/>
                </a:solidFill>
                <a:latin typeface="Arial" panose="020B0604020202020204"/>
                <a:ea typeface="微软雅黑" panose="020B0503020204020204" charset="-122"/>
                <a:cs typeface="Arial" panose="020B0604020202020204"/>
              </a:rPr>
              <a:t>极小振荡</a:t>
            </a:r>
            <a:endParaRPr lang="zh-CN" sz="1275" b="1" dirty="0">
              <a:solidFill>
                <a:srgbClr val="27AE60"/>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5163562" y="4317206"/>
            <a:ext cx="1236226" cy="228600"/>
          </a:xfrm>
          <a:prstGeom prst="rect">
            <a:avLst/>
          </a:prstGeom>
          <a:noFill/>
          <a:ln>
            <a:noFill/>
          </a:ln>
        </p:spPr>
        <p:txBody>
          <a:bodyPr wrap="none" lIns="0" tIns="0" rIns="0" bIns="0" anchor="t" anchorCtr="0">
            <a:spAutoFit/>
          </a:bodyPr>
          <a:lstStyle/>
          <a:p>
            <a:pPr algn="ctr"/>
            <a:r>
              <a:rPr lang="zh-CN" sz="1125" dirty="0">
                <a:solidFill>
                  <a:srgbClr val="27AE60"/>
                </a:solidFill>
                <a:latin typeface="Arial" panose="020B0604020202020204"/>
                <a:ea typeface="微软雅黑" panose="020B0503020204020204" charset="-122"/>
                <a:cs typeface="Arial" panose="020B0604020202020204"/>
              </a:rPr>
              <a:t>ΔE/E₀ ~ 6.6×10⁻⁷</a:t>
            </a:r>
            <a:endParaRPr lang="zh-CN" sz="1125" dirty="0">
              <a:solidFill>
                <a:srgbClr val="27AE60"/>
              </a:solidFill>
              <a:latin typeface="Arial" panose="020B0604020202020204"/>
              <a:ea typeface="微软雅黑" panose="020B0503020204020204" charset="-122"/>
              <a:cs typeface="Arial" panose="020B0604020202020204"/>
            </a:endParaRPr>
          </a:p>
        </p:txBody>
      </p:sp>
      <p:sp>
        <p:nvSpPr>
          <p:cNvPr id="65" name="Rectangle 65"/>
          <p:cNvSpPr/>
          <p:nvPr/>
        </p:nvSpPr>
        <p:spPr>
          <a:xfrm>
            <a:off x="7000875" y="3924300"/>
            <a:ext cx="2143125" cy="628650"/>
          </a:xfrm>
          <a:prstGeom prst="roundRect">
            <a:avLst>
              <a:gd name="adj" fmla="val 9091"/>
            </a:avLst>
          </a:prstGeom>
          <a:solidFill>
            <a:srgbClr val="27AE60">
              <a:alpha val="6000"/>
            </a:srgbClr>
          </a:solidFill>
          <a:ln w="14288">
            <a:solidFill>
              <a:srgbClr val="27AE60"/>
            </a:solidFill>
          </a:ln>
        </p:spPr>
      </p:sp>
      <p:sp>
        <p:nvSpPr>
          <p:cNvPr id="66" name="TextBox 66"/>
          <p:cNvSpPr txBox="1"/>
          <p:nvPr/>
        </p:nvSpPr>
        <p:spPr>
          <a:xfrm>
            <a:off x="7694438" y="4091464"/>
            <a:ext cx="746474" cy="259080"/>
          </a:xfrm>
          <a:prstGeom prst="rect">
            <a:avLst/>
          </a:prstGeom>
          <a:noFill/>
          <a:ln>
            <a:noFill/>
          </a:ln>
        </p:spPr>
        <p:txBody>
          <a:bodyPr wrap="none" lIns="0" tIns="0" rIns="0" bIns="0" anchor="t" anchorCtr="0">
            <a:spAutoFit/>
          </a:bodyPr>
          <a:lstStyle/>
          <a:p>
            <a:pPr algn="ctr"/>
            <a:r>
              <a:rPr lang="zh-CN" sz="1275" b="1" dirty="0">
                <a:solidFill>
                  <a:srgbClr val="27AE60"/>
                </a:solidFill>
                <a:latin typeface="Arial" panose="020B0604020202020204"/>
                <a:ea typeface="微软雅黑" panose="020B0503020204020204" charset="-122"/>
                <a:cs typeface="Arial" panose="020B0604020202020204"/>
              </a:rPr>
              <a:t>有界振荡</a:t>
            </a:r>
            <a:endParaRPr lang="zh-CN" sz="1275" b="1" dirty="0">
              <a:solidFill>
                <a:srgbClr val="27AE60"/>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7573328" y="4317206"/>
            <a:ext cx="988695" cy="228600"/>
          </a:xfrm>
          <a:prstGeom prst="rect">
            <a:avLst/>
          </a:prstGeom>
          <a:noFill/>
          <a:ln>
            <a:noFill/>
          </a:ln>
        </p:spPr>
        <p:txBody>
          <a:bodyPr wrap="none" lIns="0" tIns="0" rIns="0" bIns="0" anchor="t" anchorCtr="0">
            <a:spAutoFit/>
          </a:bodyPr>
          <a:lstStyle/>
          <a:p>
            <a:pPr algn="ctr"/>
            <a:r>
              <a:rPr lang="zh-CN" sz="1125" dirty="0">
                <a:solidFill>
                  <a:srgbClr val="27AE60"/>
                </a:solidFill>
                <a:latin typeface="Arial" panose="020B0604020202020204"/>
                <a:ea typeface="微软雅黑" panose="020B0503020204020204" charset="-122"/>
                <a:cs typeface="Arial" panose="020B0604020202020204"/>
              </a:rPr>
              <a:t>ΔE/E₀ ~ 0.16%</a:t>
            </a:r>
            <a:endParaRPr lang="zh-CN" sz="1125" dirty="0">
              <a:solidFill>
                <a:srgbClr val="27AE60"/>
              </a:solidFill>
              <a:latin typeface="Arial" panose="020B0604020202020204"/>
              <a:ea typeface="微软雅黑" panose="020B0503020204020204" charset="-122"/>
              <a:cs typeface="Arial" panose="020B0604020202020204"/>
            </a:endParaRPr>
          </a:p>
        </p:txBody>
      </p:sp>
      <p:sp>
        <p:nvSpPr>
          <p:cNvPr id="68" name="Rectangle 68"/>
          <p:cNvSpPr/>
          <p:nvPr/>
        </p:nvSpPr>
        <p:spPr>
          <a:xfrm>
            <a:off x="9286875" y="3924300"/>
            <a:ext cx="2143125" cy="628650"/>
          </a:xfrm>
          <a:prstGeom prst="roundRect">
            <a:avLst>
              <a:gd name="adj" fmla="val 9091"/>
            </a:avLst>
          </a:prstGeom>
          <a:solidFill>
            <a:srgbClr val="27AE60">
              <a:alpha val="6000"/>
            </a:srgbClr>
          </a:solidFill>
          <a:ln w="14288">
            <a:solidFill>
              <a:srgbClr val="27AE60"/>
            </a:solidFill>
          </a:ln>
        </p:spPr>
      </p:sp>
      <p:sp>
        <p:nvSpPr>
          <p:cNvPr id="69" name="TextBox 69"/>
          <p:cNvSpPr txBox="1"/>
          <p:nvPr/>
        </p:nvSpPr>
        <p:spPr>
          <a:xfrm>
            <a:off x="9980438" y="4091464"/>
            <a:ext cx="746474" cy="259080"/>
          </a:xfrm>
          <a:prstGeom prst="rect">
            <a:avLst/>
          </a:prstGeom>
          <a:noFill/>
          <a:ln>
            <a:noFill/>
          </a:ln>
        </p:spPr>
        <p:txBody>
          <a:bodyPr wrap="none" lIns="0" tIns="0" rIns="0" bIns="0" anchor="t" anchorCtr="0">
            <a:spAutoFit/>
          </a:bodyPr>
          <a:lstStyle/>
          <a:p>
            <a:pPr algn="ctr"/>
            <a:r>
              <a:rPr lang="zh-CN" sz="1275" b="1" dirty="0">
                <a:solidFill>
                  <a:srgbClr val="27AE60"/>
                </a:solidFill>
                <a:latin typeface="Arial" panose="020B0604020202020204"/>
                <a:ea typeface="微软雅黑" panose="020B0503020204020204" charset="-122"/>
                <a:cs typeface="Arial" panose="020B0604020202020204"/>
              </a:rPr>
              <a:t>有界振荡</a:t>
            </a:r>
            <a:endParaRPr lang="zh-CN" sz="1275" b="1" dirty="0">
              <a:solidFill>
                <a:srgbClr val="27AE60"/>
              </a:solidFill>
              <a:latin typeface="Arial" panose="020B0604020202020204"/>
              <a:ea typeface="微软雅黑" panose="020B0503020204020204" charset="-122"/>
              <a:cs typeface="Arial" panose="020B0604020202020204"/>
            </a:endParaRPr>
          </a:p>
        </p:txBody>
      </p:sp>
      <p:sp>
        <p:nvSpPr>
          <p:cNvPr id="70" name="TextBox 70"/>
          <p:cNvSpPr txBox="1"/>
          <p:nvPr/>
        </p:nvSpPr>
        <p:spPr>
          <a:xfrm>
            <a:off x="9840575" y="4317206"/>
            <a:ext cx="1026200" cy="228600"/>
          </a:xfrm>
          <a:prstGeom prst="rect">
            <a:avLst/>
          </a:prstGeom>
          <a:noFill/>
          <a:ln>
            <a:noFill/>
          </a:ln>
        </p:spPr>
        <p:txBody>
          <a:bodyPr wrap="none" lIns="0" tIns="0" rIns="0" bIns="0" anchor="t" anchorCtr="0">
            <a:spAutoFit/>
          </a:bodyPr>
          <a:lstStyle/>
          <a:p>
            <a:pPr algn="ctr"/>
            <a:r>
              <a:rPr lang="zh-CN" sz="1125" dirty="0">
                <a:solidFill>
                  <a:srgbClr val="27AE60"/>
                </a:solidFill>
                <a:latin typeface="Arial" panose="020B0604020202020204"/>
                <a:ea typeface="微软雅黑" panose="020B0503020204020204" charset="-122"/>
                <a:cs typeface="Arial" panose="020B0604020202020204"/>
              </a:rPr>
              <a:t>ΔE/E₀ ~ 0.37%</a:t>
            </a:r>
            <a:endParaRPr lang="zh-CN" sz="1125" dirty="0">
              <a:solidFill>
                <a:srgbClr val="27AE60"/>
              </a:solidFill>
              <a:latin typeface="Arial" panose="020B0604020202020204"/>
              <a:ea typeface="微软雅黑" panose="020B0503020204020204" charset="-122"/>
              <a:cs typeface="Arial" panose="020B0604020202020204"/>
            </a:endParaRPr>
          </a:p>
        </p:txBody>
      </p:sp>
      <p:sp>
        <p:nvSpPr>
          <p:cNvPr id="71" name="Rectangle 71"/>
          <p:cNvSpPr/>
          <p:nvPr/>
        </p:nvSpPr>
        <p:spPr>
          <a:xfrm>
            <a:off x="571500" y="4667250"/>
            <a:ext cx="1714500" cy="628650"/>
          </a:xfrm>
          <a:prstGeom prst="roundRect">
            <a:avLst>
              <a:gd name="adj" fmla="val 9091"/>
            </a:avLst>
          </a:prstGeom>
          <a:solidFill>
            <a:srgbClr val="F4F6F8"/>
          </a:solidFill>
          <a:ln>
            <a:noFill/>
          </a:ln>
        </p:spPr>
      </p:sp>
      <p:sp>
        <p:nvSpPr>
          <p:cNvPr id="72" name="TextBox 72"/>
          <p:cNvSpPr txBox="1"/>
          <p:nvPr/>
        </p:nvSpPr>
        <p:spPr>
          <a:xfrm>
            <a:off x="1033558" y="4883468"/>
            <a:ext cx="790384"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推荐场景</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73" name="Rectangle 73"/>
          <p:cNvSpPr/>
          <p:nvPr/>
        </p:nvSpPr>
        <p:spPr>
          <a:xfrm>
            <a:off x="2428875" y="4667250"/>
            <a:ext cx="2143125" cy="628650"/>
          </a:xfrm>
          <a:prstGeom prst="roundRect">
            <a:avLst>
              <a:gd name="adj" fmla="val 9091"/>
            </a:avLst>
          </a:prstGeom>
          <a:solidFill>
            <a:srgbClr val="FFFFFF"/>
          </a:solidFill>
          <a:ln w="9525">
            <a:solidFill>
              <a:srgbClr val="E2E8F0"/>
            </a:solidFill>
          </a:ln>
        </p:spPr>
      </p:sp>
      <p:sp>
        <p:nvSpPr>
          <p:cNvPr id="74" name="TextBox 74"/>
          <p:cNvSpPr txBox="1"/>
          <p:nvPr/>
        </p:nvSpPr>
        <p:spPr>
          <a:xfrm>
            <a:off x="3060382" y="4899660"/>
            <a:ext cx="870585" cy="243840"/>
          </a:xfrm>
          <a:prstGeom prst="rect">
            <a:avLst/>
          </a:prstGeom>
          <a:noFill/>
          <a:ln>
            <a:noFill/>
          </a:ln>
        </p:spPr>
        <p:txBody>
          <a:bodyPr wrap="none" lIns="0" tIns="0" rIns="0" bIns="0" anchor="t" anchorCtr="0">
            <a:spAutoFit/>
          </a:bodyPr>
          <a:lstStyle/>
          <a:p>
            <a:pPr algn="ctr"/>
            <a:r>
              <a:rPr lang="zh-CN" sz="1200" b="1" dirty="0">
                <a:solidFill>
                  <a:srgbClr val="E74C3C"/>
                </a:solidFill>
                <a:latin typeface="Arial" panose="020B0604020202020204"/>
                <a:ea typeface="微软雅黑" panose="020B0503020204020204" charset="-122"/>
                <a:cs typeface="Arial" panose="020B0604020202020204"/>
              </a:rPr>
              <a:t>不建议使用</a:t>
            </a:r>
            <a:endParaRPr lang="zh-CN" sz="1200" b="1" dirty="0">
              <a:solidFill>
                <a:srgbClr val="E74C3C"/>
              </a:solidFill>
              <a:latin typeface="Arial" panose="020B0604020202020204"/>
              <a:ea typeface="微软雅黑" panose="020B0503020204020204" charset="-122"/>
              <a:cs typeface="Arial" panose="020B0604020202020204"/>
            </a:endParaRPr>
          </a:p>
        </p:txBody>
      </p:sp>
      <p:sp>
        <p:nvSpPr>
          <p:cNvPr id="75" name="Rectangle 75"/>
          <p:cNvSpPr/>
          <p:nvPr/>
        </p:nvSpPr>
        <p:spPr>
          <a:xfrm>
            <a:off x="4714875" y="4667250"/>
            <a:ext cx="2143125" cy="628650"/>
          </a:xfrm>
          <a:prstGeom prst="roundRect">
            <a:avLst>
              <a:gd name="adj" fmla="val 9091"/>
            </a:avLst>
          </a:prstGeom>
          <a:solidFill>
            <a:srgbClr val="2E86C1">
              <a:alpha val="5000"/>
            </a:srgbClr>
          </a:solidFill>
          <a:ln w="14288">
            <a:solidFill>
              <a:srgbClr val="2E86C1"/>
            </a:solidFill>
          </a:ln>
        </p:spPr>
      </p:sp>
      <p:sp>
        <p:nvSpPr>
          <p:cNvPr id="76" name="TextBox 76"/>
          <p:cNvSpPr txBox="1"/>
          <p:nvPr/>
        </p:nvSpPr>
        <p:spPr>
          <a:xfrm>
            <a:off x="5048145" y="4899660"/>
            <a:ext cx="1467060"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高精度短/中时积分</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77" name="Rectangle 77"/>
          <p:cNvSpPr/>
          <p:nvPr/>
        </p:nvSpPr>
        <p:spPr>
          <a:xfrm>
            <a:off x="7000875" y="4667250"/>
            <a:ext cx="2143125" cy="628650"/>
          </a:xfrm>
          <a:prstGeom prst="roundRect">
            <a:avLst>
              <a:gd name="adj" fmla="val 9091"/>
            </a:avLst>
          </a:prstGeom>
          <a:solidFill>
            <a:srgbClr val="27AE60">
              <a:alpha val="6000"/>
            </a:srgbClr>
          </a:solidFill>
          <a:ln w="14288">
            <a:solidFill>
              <a:srgbClr val="27AE60"/>
            </a:solidFill>
          </a:ln>
        </p:spPr>
      </p:sp>
      <p:sp>
        <p:nvSpPr>
          <p:cNvPr id="78" name="TextBox 78"/>
          <p:cNvSpPr txBox="1"/>
          <p:nvPr/>
        </p:nvSpPr>
        <p:spPr>
          <a:xfrm>
            <a:off x="7170325" y="4899660"/>
            <a:ext cx="1794700"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长时间Hamiltonian演化</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79" name="Rectangle 79"/>
          <p:cNvSpPr/>
          <p:nvPr/>
        </p:nvSpPr>
        <p:spPr>
          <a:xfrm>
            <a:off x="9286875" y="4667250"/>
            <a:ext cx="2143125" cy="628650"/>
          </a:xfrm>
          <a:prstGeom prst="roundRect">
            <a:avLst>
              <a:gd name="adj" fmla="val 9091"/>
            </a:avLst>
          </a:prstGeom>
          <a:solidFill>
            <a:srgbClr val="27AE60">
              <a:alpha val="6000"/>
            </a:srgbClr>
          </a:solidFill>
          <a:ln w="14288">
            <a:solidFill>
              <a:srgbClr val="27AE60"/>
            </a:solidFill>
          </a:ln>
        </p:spPr>
      </p:sp>
      <p:sp>
        <p:nvSpPr>
          <p:cNvPr id="80" name="TextBox 80"/>
          <p:cNvSpPr txBox="1"/>
          <p:nvPr/>
        </p:nvSpPr>
        <p:spPr>
          <a:xfrm>
            <a:off x="9456325" y="4899660"/>
            <a:ext cx="1794700"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长时间Hamiltonian演化</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81" name="Rectangle 81"/>
          <p:cNvSpPr/>
          <p:nvPr/>
        </p:nvSpPr>
        <p:spPr>
          <a:xfrm>
            <a:off x="571500" y="5467350"/>
            <a:ext cx="11049000" cy="476250"/>
          </a:xfrm>
          <a:prstGeom prst="roundRect">
            <a:avLst>
              <a:gd name="adj" fmla="val 16000"/>
            </a:avLst>
          </a:prstGeom>
          <a:solidFill>
            <a:srgbClr val="1A3A5C">
              <a:alpha val="5000"/>
            </a:srgbClr>
          </a:solidFill>
          <a:ln>
            <a:noFill/>
          </a:ln>
        </p:spPr>
      </p:sp>
      <p:grpSp>
        <p:nvGrpSpPr>
          <p:cNvPr id="85" name="Group 85"/>
          <p:cNvGrpSpPr/>
          <p:nvPr/>
        </p:nvGrpSpPr>
        <p:grpSpPr>
          <a:xfrm>
            <a:off x="835819" y="5693569"/>
            <a:ext cx="157162" cy="157163"/>
            <a:chOff x="835819" y="5693569"/>
            <a:chExt cx="157162" cy="157163"/>
          </a:xfrm>
        </p:grpSpPr>
        <p:sp>
          <p:nvSpPr>
            <p:cNvPr id="82" name="Freeform 82"/>
            <p:cNvSpPr/>
            <p:nvPr/>
          </p:nvSpPr>
          <p:spPr>
            <a:xfrm>
              <a:off x="835819" y="5693569"/>
              <a:ext cx="157162" cy="78581"/>
            </a:xfrm>
            <a:custGeom>
              <a:avLst/>
              <a:gdLst/>
              <a:ahLst/>
              <a:cxnLst/>
              <a:rect l="l" t="t" r="r" b="b"/>
              <a:pathLst>
                <a:path w="157162" h="78581">
                  <a:moveTo>
                    <a:pt x="0" y="78581"/>
                  </a:moveTo>
                  <a:lnTo>
                    <a:pt x="8731" y="78581"/>
                  </a:lnTo>
                  <a:moveTo>
                    <a:pt x="78581" y="0"/>
                  </a:moveTo>
                  <a:lnTo>
                    <a:pt x="78581" y="8731"/>
                  </a:lnTo>
                  <a:moveTo>
                    <a:pt x="148431" y="78581"/>
                  </a:moveTo>
                  <a:lnTo>
                    <a:pt x="157162" y="78581"/>
                  </a:lnTo>
                  <a:moveTo>
                    <a:pt x="22701" y="22701"/>
                  </a:moveTo>
                  <a:lnTo>
                    <a:pt x="28813" y="28813"/>
                  </a:lnTo>
                  <a:moveTo>
                    <a:pt x="134461" y="22701"/>
                  </a:moveTo>
                  <a:lnTo>
                    <a:pt x="128349" y="28813"/>
                  </a:lnTo>
                </a:path>
              </a:pathLst>
            </a:custGeom>
            <a:noFill/>
            <a:ln w="19050">
              <a:solidFill>
                <a:srgbClr val="E74C3C"/>
              </a:solidFill>
            </a:ln>
          </p:spPr>
        </p:sp>
        <p:sp>
          <p:nvSpPr>
            <p:cNvPr id="83" name="Freeform 83"/>
            <p:cNvSpPr/>
            <p:nvPr/>
          </p:nvSpPr>
          <p:spPr>
            <a:xfrm>
              <a:off x="867042" y="5728494"/>
              <a:ext cx="94716" cy="122238"/>
            </a:xfrm>
            <a:custGeom>
              <a:avLst/>
              <a:gdLst/>
              <a:ahLst/>
              <a:cxnLst/>
              <a:rect l="l" t="t" r="r" b="b"/>
              <a:pathLst>
                <a:path w="94716" h="122238">
                  <a:moveTo>
                    <a:pt x="21164" y="78581"/>
                  </a:moveTo>
                  <a:cubicBezTo>
                    <a:pt x="6132" y="67307"/>
                    <a:pt x="0" y="47678"/>
                    <a:pt x="5942" y="29851"/>
                  </a:cubicBezTo>
                  <a:cubicBezTo>
                    <a:pt x="11884" y="12024"/>
                    <a:pt x="28567" y="0"/>
                    <a:pt x="47358" y="0"/>
                  </a:cubicBezTo>
                  <a:cubicBezTo>
                    <a:pt x="66149" y="0"/>
                    <a:pt x="82832" y="12024"/>
                    <a:pt x="88774" y="29851"/>
                  </a:cubicBezTo>
                  <a:cubicBezTo>
                    <a:pt x="94716" y="47678"/>
                    <a:pt x="88585" y="67307"/>
                    <a:pt x="73552" y="78581"/>
                  </a:cubicBezTo>
                  <a:cubicBezTo>
                    <a:pt x="66638" y="85425"/>
                    <a:pt x="63396" y="95152"/>
                    <a:pt x="64821" y="104775"/>
                  </a:cubicBezTo>
                  <a:cubicBezTo>
                    <a:pt x="64821" y="114419"/>
                    <a:pt x="57002" y="122238"/>
                    <a:pt x="47358" y="122238"/>
                  </a:cubicBezTo>
                  <a:cubicBezTo>
                    <a:pt x="37714" y="122238"/>
                    <a:pt x="29896" y="114419"/>
                    <a:pt x="29896" y="104775"/>
                  </a:cubicBezTo>
                  <a:cubicBezTo>
                    <a:pt x="31320" y="95152"/>
                    <a:pt x="28078" y="85425"/>
                    <a:pt x="21164" y="78581"/>
                  </a:cubicBezTo>
                </a:path>
              </a:pathLst>
            </a:custGeom>
            <a:noFill/>
            <a:ln w="19050">
              <a:solidFill>
                <a:srgbClr val="E74C3C"/>
              </a:solidFill>
            </a:ln>
          </p:spPr>
        </p:sp>
        <p:sp>
          <p:nvSpPr>
            <p:cNvPr id="84" name="Freeform 84"/>
            <p:cNvSpPr/>
            <p:nvPr/>
          </p:nvSpPr>
          <p:spPr>
            <a:xfrm>
              <a:off x="894318" y="5815806"/>
              <a:ext cx="40164" cy="9525"/>
            </a:xfrm>
            <a:custGeom>
              <a:avLst/>
              <a:gdLst/>
              <a:ahLst/>
              <a:cxnLst/>
              <a:rect l="l" t="t" r="r" b="b"/>
              <a:pathLst>
                <a:path w="40164" h="9525">
                  <a:moveTo>
                    <a:pt x="0" y="0"/>
                  </a:moveTo>
                  <a:lnTo>
                    <a:pt x="40164" y="0"/>
                  </a:lnTo>
                </a:path>
              </a:pathLst>
            </a:custGeom>
            <a:noFill/>
            <a:ln w="19050">
              <a:solidFill>
                <a:srgbClr val="E74C3C"/>
              </a:solidFill>
            </a:ln>
          </p:spPr>
        </p:sp>
      </p:grpSp>
      <p:sp>
        <p:nvSpPr>
          <p:cNvPr id="86" name="TextBox 86"/>
          <p:cNvSpPr txBox="1"/>
          <p:nvPr/>
        </p:nvSpPr>
        <p:spPr>
          <a:xfrm>
            <a:off x="1079182" y="5615464"/>
            <a:ext cx="11127547"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选择逻辑：Forward Euler = 底线参照 → RK4 = 高精度金标准 → Symplectic Euler &amp; Velocity Verlet = 面向Hamiltonian系统的几何积分路径</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87" name="Rectangle 87"/>
          <p:cNvSpPr/>
          <p:nvPr/>
        </p:nvSpPr>
        <p:spPr>
          <a:xfrm>
            <a:off x="571500" y="6038850"/>
            <a:ext cx="11049000" cy="285750"/>
          </a:xfrm>
          <a:prstGeom prst="roundRect">
            <a:avLst>
              <a:gd name="adj" fmla="val 13333"/>
            </a:avLst>
          </a:prstGeom>
          <a:solidFill>
            <a:srgbClr val="F4F6F8"/>
          </a:solidFill>
          <a:ln>
            <a:noFill/>
          </a:ln>
        </p:spPr>
      </p:sp>
      <p:sp>
        <p:nvSpPr>
          <p:cNvPr id="88" name="TextBox 88"/>
          <p:cNvSpPr txBox="1"/>
          <p:nvPr/>
        </p:nvSpPr>
        <p:spPr>
          <a:xfrm>
            <a:off x="2529721" y="6116002"/>
            <a:ext cx="7132558"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panose="020B0604020202020204"/>
                <a:ea typeface="微软雅黑" panose="020B0503020204020204" charset="-122"/>
                <a:cs typeface="Arial" panose="020B0604020202020204"/>
              </a:rPr>
              <a:t>实测速度: Euler 236000 · Symp Euler 214000 · Verlet 116000 · RK4 56300 (单位: steps/s, T=40s, h=0.005s)</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89" name="TextBox 89"/>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90" name="TextBox 90"/>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04 / 10</a:t>
            </a:r>
            <a:endParaRPr lang="zh-CN" sz="975"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4062889"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收敛性验证与能量守恒</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3429000" cy="9525"/>
          </a:xfrm>
          <a:custGeom>
            <a:avLst/>
            <a:gdLst/>
            <a:ahLst/>
            <a:cxnLst/>
            <a:rect l="l" t="t" r="r" b="b"/>
            <a:pathLst>
              <a:path w="3429000" h="9525">
                <a:moveTo>
                  <a:pt x="0" y="0"/>
                </a:moveTo>
                <a:lnTo>
                  <a:pt x="3429000" y="0"/>
                </a:lnTo>
              </a:path>
            </a:pathLst>
          </a:custGeom>
          <a:noFill/>
          <a:ln w="19050" cap="rnd">
            <a:solidFill>
              <a:srgbClr val="2E86C1"/>
            </a:solidFill>
          </a:ln>
        </p:spPr>
      </p:sp>
      <p:sp>
        <p:nvSpPr>
          <p:cNvPr id="13" name="Rectangle 13"/>
          <p:cNvSpPr/>
          <p:nvPr/>
        </p:nvSpPr>
        <p:spPr>
          <a:xfrm>
            <a:off x="535305" y="3984625"/>
            <a:ext cx="5429250" cy="1381125"/>
          </a:xfrm>
          <a:prstGeom prst="roundRect">
            <a:avLst>
              <a:gd name="adj" fmla="val 5517"/>
            </a:avLst>
          </a:prstGeom>
          <a:solidFill>
            <a:srgbClr val="F4F6F8"/>
          </a:solidFill>
          <a:ln>
            <a:noFill/>
          </a:ln>
        </p:spPr>
      </p:sp>
      <p:sp>
        <p:nvSpPr>
          <p:cNvPr id="14" name="TextBox 14"/>
          <p:cNvSpPr txBox="1"/>
          <p:nvPr/>
        </p:nvSpPr>
        <p:spPr>
          <a:xfrm>
            <a:off x="752475" y="4111308"/>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核心发现</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15" name="Ellipse 15"/>
          <p:cNvSpPr/>
          <p:nvPr/>
        </p:nvSpPr>
        <p:spPr>
          <a:xfrm>
            <a:off x="857250" y="4527550"/>
            <a:ext cx="95250" cy="95250"/>
          </a:xfrm>
          <a:prstGeom prst="ellipse">
            <a:avLst/>
          </a:prstGeom>
          <a:solidFill>
            <a:srgbClr val="27AE60"/>
          </a:solidFill>
          <a:ln>
            <a:noFill/>
          </a:ln>
        </p:spPr>
      </p:sp>
      <p:sp>
        <p:nvSpPr>
          <p:cNvPr id="16" name="TextBox 16"/>
          <p:cNvSpPr txBox="1"/>
          <p:nvPr/>
        </p:nvSpPr>
        <p:spPr>
          <a:xfrm>
            <a:off x="994410" y="4477068"/>
            <a:ext cx="3319701"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四种方法实测阶数与理论预期偏差均 &lt; 2%</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7" name="Ellipse 17"/>
          <p:cNvSpPr/>
          <p:nvPr/>
        </p:nvSpPr>
        <p:spPr>
          <a:xfrm>
            <a:off x="857250" y="4832350"/>
            <a:ext cx="95250" cy="95250"/>
          </a:xfrm>
          <a:prstGeom prst="ellipse">
            <a:avLst/>
          </a:prstGeom>
          <a:solidFill>
            <a:srgbClr val="2E86C1"/>
          </a:solidFill>
          <a:ln>
            <a:noFill/>
          </a:ln>
        </p:spPr>
      </p:sp>
      <p:sp>
        <p:nvSpPr>
          <p:cNvPr id="18" name="TextBox 18"/>
          <p:cNvSpPr txBox="1"/>
          <p:nvPr/>
        </p:nvSpPr>
        <p:spPr>
          <a:xfrm>
            <a:off x="994410" y="4781868"/>
            <a:ext cx="4417838"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退化至单摆 (λ_max = 0) 是验证方法正确性的必要步骤</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9" name="Ellipse 19"/>
          <p:cNvSpPr/>
          <p:nvPr/>
        </p:nvSpPr>
        <p:spPr>
          <a:xfrm>
            <a:off x="857250" y="5137150"/>
            <a:ext cx="95250" cy="95250"/>
          </a:xfrm>
          <a:prstGeom prst="ellipse">
            <a:avLst/>
          </a:prstGeom>
          <a:solidFill>
            <a:srgbClr val="E74C3C"/>
          </a:solidFill>
          <a:ln>
            <a:noFill/>
          </a:ln>
        </p:spPr>
      </p:sp>
      <p:sp>
        <p:nvSpPr>
          <p:cNvPr id="20" name="TextBox 20"/>
          <p:cNvSpPr txBox="1"/>
          <p:nvPr/>
        </p:nvSpPr>
        <p:spPr>
          <a:xfrm>
            <a:off x="994410" y="5086668"/>
            <a:ext cx="4426839"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若用完整双摆检验，混沌Lyapunov发散会破坏幂律特征</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8375666" y="1711642"/>
            <a:ext cx="1060418"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panose="020B0604020202020204"/>
                <a:ea typeface="微软雅黑" panose="020B0503020204020204" charset="-122"/>
                <a:cs typeface="Arial" panose="020B0604020202020204"/>
              </a:rPr>
              <a:t>[ 插图占位 ]</a:t>
            </a:r>
            <a:endParaRPr lang="zh-CN" sz="1350" dirty="0">
              <a:solidFill>
                <a:srgbClr val="7F8C8D"/>
              </a:solidFill>
              <a:latin typeface="Arial" panose="020B0604020202020204"/>
              <a:ea typeface="微软雅黑" panose="020B0503020204020204" charset="-122"/>
              <a:cs typeface="Arial" panose="020B0604020202020204"/>
            </a:endParaRPr>
          </a:p>
        </p:txBody>
      </p:sp>
      <p:sp>
        <p:nvSpPr>
          <p:cNvPr id="23" name="Line 23"/>
          <p:cNvSpPr/>
          <p:nvPr/>
        </p:nvSpPr>
        <p:spPr>
          <a:xfrm>
            <a:off x="8667750" y="1714500"/>
            <a:ext cx="476250" cy="9525"/>
          </a:xfrm>
          <a:custGeom>
            <a:avLst/>
            <a:gdLst/>
            <a:ahLst/>
            <a:cxnLst/>
            <a:rect l="l" t="t" r="r" b="b"/>
            <a:pathLst>
              <a:path w="476250" h="9525">
                <a:moveTo>
                  <a:pt x="0" y="0"/>
                </a:moveTo>
                <a:lnTo>
                  <a:pt x="476250" y="0"/>
                </a:lnTo>
              </a:path>
            </a:pathLst>
          </a:custGeom>
          <a:noFill/>
          <a:ln w="19050">
            <a:solidFill>
              <a:srgbClr val="D5D8DC"/>
            </a:solidFill>
          </a:ln>
        </p:spPr>
      </p:sp>
      <p:sp>
        <p:nvSpPr>
          <p:cNvPr id="24" name="Line 24"/>
          <p:cNvSpPr/>
          <p:nvPr/>
        </p:nvSpPr>
        <p:spPr>
          <a:xfrm>
            <a:off x="8905875" y="1476375"/>
            <a:ext cx="9525" cy="476250"/>
          </a:xfrm>
          <a:custGeom>
            <a:avLst/>
            <a:gdLst/>
            <a:ahLst/>
            <a:cxnLst/>
            <a:rect l="l" t="t" r="r" b="b"/>
            <a:pathLst>
              <a:path w="9525" h="476250">
                <a:moveTo>
                  <a:pt x="0" y="0"/>
                </a:moveTo>
                <a:lnTo>
                  <a:pt x="0" y="476250"/>
                </a:lnTo>
              </a:path>
            </a:pathLst>
          </a:custGeom>
          <a:noFill/>
          <a:ln w="19050">
            <a:solidFill>
              <a:srgbClr val="D5D8DC"/>
            </a:solidFill>
          </a:ln>
        </p:spPr>
      </p:sp>
      <p:sp>
        <p:nvSpPr>
          <p:cNvPr id="30" name="Rectangle 30"/>
          <p:cNvSpPr/>
          <p:nvPr/>
        </p:nvSpPr>
        <p:spPr>
          <a:xfrm>
            <a:off x="6155055" y="3984625"/>
            <a:ext cx="5429250" cy="1381125"/>
          </a:xfrm>
          <a:prstGeom prst="roundRect">
            <a:avLst>
              <a:gd name="adj" fmla="val 5517"/>
            </a:avLst>
          </a:prstGeom>
          <a:solidFill>
            <a:srgbClr val="F4F6F8"/>
          </a:solidFill>
          <a:ln>
            <a:noFill/>
          </a:ln>
        </p:spPr>
      </p:sp>
      <p:sp>
        <p:nvSpPr>
          <p:cNvPr id="31" name="TextBox 31"/>
          <p:cNvSpPr txBox="1"/>
          <p:nvPr/>
        </p:nvSpPr>
        <p:spPr>
          <a:xfrm>
            <a:off x="6372225" y="4111308"/>
            <a:ext cx="1428083"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能量行为分析</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2" name="Ellipse 32"/>
          <p:cNvSpPr/>
          <p:nvPr/>
        </p:nvSpPr>
        <p:spPr>
          <a:xfrm>
            <a:off x="6440805" y="4527550"/>
            <a:ext cx="95250" cy="95250"/>
          </a:xfrm>
          <a:prstGeom prst="ellipse">
            <a:avLst/>
          </a:prstGeom>
          <a:solidFill>
            <a:srgbClr val="E74C3C"/>
          </a:solidFill>
          <a:ln>
            <a:noFill/>
          </a:ln>
        </p:spPr>
      </p:sp>
      <p:sp>
        <p:nvSpPr>
          <p:cNvPr id="33" name="TextBox 33"/>
          <p:cNvSpPr txBox="1"/>
          <p:nvPr/>
        </p:nvSpPr>
        <p:spPr>
          <a:xfrm>
            <a:off x="6614160" y="4477068"/>
            <a:ext cx="4705874"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Forward Euler：能量单向漂移（"反耗散"），系统性增能</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4" name="Ellipse 34"/>
          <p:cNvSpPr/>
          <p:nvPr/>
        </p:nvSpPr>
        <p:spPr>
          <a:xfrm>
            <a:off x="6440805" y="4832350"/>
            <a:ext cx="95250" cy="95250"/>
          </a:xfrm>
          <a:prstGeom prst="ellipse">
            <a:avLst/>
          </a:prstGeom>
          <a:solidFill>
            <a:srgbClr val="27AE60"/>
          </a:solidFill>
          <a:ln>
            <a:noFill/>
          </a:ln>
        </p:spPr>
      </p:sp>
      <p:sp>
        <p:nvSpPr>
          <p:cNvPr id="35" name="TextBox 35"/>
          <p:cNvSpPr txBox="1"/>
          <p:nvPr/>
        </p:nvSpPr>
        <p:spPr>
          <a:xfrm>
            <a:off x="6614160" y="4781868"/>
            <a:ext cx="4021788"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辛方法：有界振荡，无长期漂移 — 保持相空间结构</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6" name="Ellipse 36"/>
          <p:cNvSpPr/>
          <p:nvPr/>
        </p:nvSpPr>
        <p:spPr>
          <a:xfrm>
            <a:off x="6440805" y="5137150"/>
            <a:ext cx="95250" cy="95250"/>
          </a:xfrm>
          <a:prstGeom prst="ellipse">
            <a:avLst/>
          </a:prstGeom>
          <a:solidFill>
            <a:srgbClr val="2E86C1"/>
          </a:solidFill>
          <a:ln>
            <a:noFill/>
          </a:ln>
        </p:spPr>
      </p:sp>
      <p:sp>
        <p:nvSpPr>
          <p:cNvPr id="37" name="TextBox 37"/>
          <p:cNvSpPr txBox="1"/>
          <p:nvPr/>
        </p:nvSpPr>
        <p:spPr>
          <a:xfrm>
            <a:off x="6614160" y="5086668"/>
            <a:ext cx="355373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RK4：非辛但高精度使能量误差极小 (~10⁻⁶)</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8" name="Rectangle 38"/>
          <p:cNvSpPr/>
          <p:nvPr/>
        </p:nvSpPr>
        <p:spPr>
          <a:xfrm>
            <a:off x="535305" y="5556250"/>
            <a:ext cx="11049000" cy="762000"/>
          </a:xfrm>
          <a:prstGeom prst="roundRect">
            <a:avLst>
              <a:gd name="adj" fmla="val 10000"/>
            </a:avLst>
          </a:prstGeom>
          <a:solidFill>
            <a:srgbClr val="1A3A5C">
              <a:alpha val="4000"/>
            </a:srgbClr>
          </a:solidFill>
          <a:ln>
            <a:noFill/>
          </a:ln>
        </p:spPr>
      </p:sp>
      <p:sp>
        <p:nvSpPr>
          <p:cNvPr id="39" name="TextBox 39"/>
          <p:cNvSpPr txBox="1"/>
          <p:nvPr/>
        </p:nvSpPr>
        <p:spPr>
          <a:xfrm>
            <a:off x="756285" y="5696268"/>
            <a:ext cx="3635190"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收敛阶数实测 vs 理论（log-log斜率验证）</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40" name="Rectangle 40"/>
          <p:cNvSpPr/>
          <p:nvPr/>
        </p:nvSpPr>
        <p:spPr>
          <a:xfrm>
            <a:off x="752475" y="5984875"/>
            <a:ext cx="1809750" cy="266700"/>
          </a:xfrm>
          <a:prstGeom prst="roundRect">
            <a:avLst>
              <a:gd name="adj" fmla="val 14286"/>
            </a:avLst>
          </a:prstGeom>
          <a:solidFill>
            <a:srgbClr val="F4F6F8"/>
          </a:solidFill>
          <a:ln>
            <a:noFill/>
          </a:ln>
        </p:spPr>
      </p:sp>
      <p:sp>
        <p:nvSpPr>
          <p:cNvPr id="41" name="TextBox 41"/>
          <p:cNvSpPr txBox="1"/>
          <p:nvPr/>
        </p:nvSpPr>
        <p:spPr>
          <a:xfrm>
            <a:off x="1074991" y="6036310"/>
            <a:ext cx="1206627"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Euler: 1 → 0.99</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42" name="Rectangle 42"/>
          <p:cNvSpPr/>
          <p:nvPr/>
        </p:nvSpPr>
        <p:spPr>
          <a:xfrm>
            <a:off x="2726055" y="5984875"/>
            <a:ext cx="1809750" cy="266700"/>
          </a:xfrm>
          <a:prstGeom prst="roundRect">
            <a:avLst>
              <a:gd name="adj" fmla="val 14286"/>
            </a:avLst>
          </a:prstGeom>
          <a:solidFill>
            <a:srgbClr val="2E86C1">
              <a:alpha val="8000"/>
            </a:srgbClr>
          </a:solidFill>
          <a:ln>
            <a:noFill/>
          </a:ln>
        </p:spPr>
      </p:sp>
      <p:sp>
        <p:nvSpPr>
          <p:cNvPr id="43" name="TextBox 43"/>
          <p:cNvSpPr txBox="1"/>
          <p:nvPr/>
        </p:nvSpPr>
        <p:spPr>
          <a:xfrm>
            <a:off x="3078023" y="6036310"/>
            <a:ext cx="1105814"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RK4: 4 → 4.00</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44" name="Rectangle 44"/>
          <p:cNvSpPr/>
          <p:nvPr/>
        </p:nvSpPr>
        <p:spPr>
          <a:xfrm>
            <a:off x="4598035" y="5984875"/>
            <a:ext cx="1809750" cy="266700"/>
          </a:xfrm>
          <a:prstGeom prst="roundRect">
            <a:avLst>
              <a:gd name="adj" fmla="val 14286"/>
            </a:avLst>
          </a:prstGeom>
          <a:solidFill>
            <a:srgbClr val="F4F6F8"/>
          </a:solidFill>
          <a:ln>
            <a:noFill/>
          </a:ln>
        </p:spPr>
      </p:sp>
      <p:sp>
        <p:nvSpPr>
          <p:cNvPr id="45" name="TextBox 45"/>
          <p:cNvSpPr txBox="1"/>
          <p:nvPr/>
        </p:nvSpPr>
        <p:spPr>
          <a:xfrm>
            <a:off x="4774416" y="6036310"/>
            <a:ext cx="1618278"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Symp Euler: 1 → 1.02</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46" name="Rectangle 46"/>
          <p:cNvSpPr/>
          <p:nvPr/>
        </p:nvSpPr>
        <p:spPr>
          <a:xfrm>
            <a:off x="6667500" y="6013450"/>
            <a:ext cx="1809750" cy="266700"/>
          </a:xfrm>
          <a:prstGeom prst="roundRect">
            <a:avLst>
              <a:gd name="adj" fmla="val 14286"/>
            </a:avLst>
          </a:prstGeom>
          <a:solidFill>
            <a:srgbClr val="F4F6F8"/>
          </a:solidFill>
          <a:ln>
            <a:noFill/>
          </a:ln>
        </p:spPr>
      </p:sp>
      <p:sp>
        <p:nvSpPr>
          <p:cNvPr id="47" name="TextBox 47"/>
          <p:cNvSpPr txBox="1"/>
          <p:nvPr/>
        </p:nvSpPr>
        <p:spPr>
          <a:xfrm>
            <a:off x="6886661" y="6036310"/>
            <a:ext cx="1299039" cy="243840"/>
          </a:xfrm>
          <a:prstGeom prst="rect">
            <a:avLst/>
          </a:prstGeom>
          <a:noFill/>
          <a:ln>
            <a:noFill/>
          </a:ln>
        </p:spPr>
        <p:txBody>
          <a:bodyPr wrap="none" lIns="0" tIns="0" rIns="0" bIns="0" anchor="t" anchorCtr="0">
            <a:spAutoFit/>
          </a:bodyPr>
          <a:lstStyle/>
          <a:p>
            <a:pPr algn="ctr"/>
            <a:r>
              <a:rPr lang="zh-CN" sz="1200" b="1" dirty="0">
                <a:solidFill>
                  <a:srgbClr val="2C3E50"/>
                </a:solidFill>
                <a:latin typeface="Arial" panose="020B0604020202020204"/>
                <a:ea typeface="微软雅黑" panose="020B0503020204020204" charset="-122"/>
                <a:cs typeface="Arial" panose="020B0604020202020204"/>
              </a:rPr>
              <a:t>Verlet: 2 → 2.01</a:t>
            </a:r>
            <a:endParaRPr lang="zh-CN" sz="1200" b="1" dirty="0">
              <a:solidFill>
                <a:srgbClr val="2C3E50"/>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8711565" y="6036310"/>
            <a:ext cx="1166622" cy="243840"/>
          </a:xfrm>
          <a:prstGeom prst="rect">
            <a:avLst/>
          </a:prstGeom>
          <a:noFill/>
          <a:ln>
            <a:noFill/>
          </a:ln>
        </p:spPr>
        <p:txBody>
          <a:bodyPr wrap="none" lIns="0" tIns="0" rIns="0" bIns="0" anchor="t" anchorCtr="0">
            <a:spAutoFit/>
          </a:bodyPr>
          <a:lstStyle/>
          <a:p>
            <a:pPr algn="l"/>
            <a:r>
              <a:rPr lang="zh-CN" sz="1200" dirty="0">
                <a:solidFill>
                  <a:srgbClr val="27AE60"/>
                </a:solidFill>
                <a:latin typeface="Arial" panose="020B0604020202020204"/>
                <a:ea typeface="微软雅黑" panose="020B0503020204020204" charset="-122"/>
                <a:cs typeface="Arial" panose="020B0604020202020204"/>
              </a:rPr>
              <a:t>✓ 全部偏差 &lt; 2%</a:t>
            </a:r>
            <a:endParaRPr lang="zh-CN" sz="1200" dirty="0">
              <a:solidFill>
                <a:srgbClr val="27AE60"/>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05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51" name="图片 50" descr="convergence_test"/>
          <p:cNvPicPr>
            <a:picLocks noChangeAspect="1"/>
          </p:cNvPicPr>
          <p:nvPr/>
        </p:nvPicPr>
        <p:blipFill>
          <a:blip r:embed="rId1"/>
          <a:stretch>
            <a:fillRect/>
          </a:stretch>
        </p:blipFill>
        <p:spPr>
          <a:xfrm>
            <a:off x="952500" y="655320"/>
            <a:ext cx="4304030" cy="3205480"/>
          </a:xfrm>
          <a:prstGeom prst="rect">
            <a:avLst/>
          </a:prstGeom>
        </p:spPr>
      </p:pic>
      <p:pic>
        <p:nvPicPr>
          <p:cNvPr id="52" name="图片 51" descr="energy_stability_extended"/>
          <p:cNvPicPr>
            <a:picLocks noChangeAspect="1"/>
          </p:cNvPicPr>
          <p:nvPr/>
        </p:nvPicPr>
        <p:blipFill>
          <a:blip r:embed="rId2"/>
          <a:stretch>
            <a:fillRect/>
          </a:stretch>
        </p:blipFill>
        <p:spPr>
          <a:xfrm>
            <a:off x="6979285" y="238760"/>
            <a:ext cx="3975100" cy="3544570"/>
          </a:xfrm>
          <a:prstGeom prst="rect">
            <a:avLst/>
          </a:prstGeom>
        </p:spPr>
      </p:pic>
      <p:sp>
        <p:nvSpPr>
          <p:cNvPr id="11" name="TextBox 11"/>
          <p:cNvSpPr txBox="1"/>
          <p:nvPr/>
        </p:nvSpPr>
        <p:spPr>
          <a:xfrm>
            <a:off x="1810385" y="3825875"/>
            <a:ext cx="2503805" cy="285750"/>
          </a:xfrm>
          <a:prstGeom prst="rect">
            <a:avLst/>
          </a:prstGeom>
          <a:noFill/>
          <a:ln>
            <a:noFill/>
          </a:ln>
        </p:spPr>
        <p:txBody>
          <a:bodyPr wrap="none" lIns="0" tIns="0" rIns="0" bIns="0" anchor="t" anchorCtr="0">
            <a:noAutofit/>
          </a:bodyPr>
          <a:lstStyle/>
          <a:p>
            <a:pPr algn="ctr"/>
            <a:r>
              <a:rPr lang="zh-CN" sz="1350" b="1" dirty="0">
                <a:solidFill>
                  <a:srgbClr val="1A3A5C"/>
                </a:solidFill>
                <a:latin typeface="Segoe UI" panose="020B0502040204020203"/>
                <a:ea typeface="黑体" panose="02010609060101010101" charset="-122"/>
                <a:cs typeface="Segoe UI" panose="020B0502040204020203"/>
              </a:rPr>
              <a:t>收敛性检验（退化单摆极限）</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28" name="TextBox 28"/>
          <p:cNvSpPr txBox="1"/>
          <p:nvPr/>
        </p:nvSpPr>
        <p:spPr>
          <a:xfrm>
            <a:off x="7934960" y="3816668"/>
            <a:ext cx="214190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能量守恒性对比 (T=20s)</a:t>
            </a:r>
            <a:endParaRPr lang="zh-CN" sz="1350" b="1" dirty="0">
              <a:solidFill>
                <a:srgbClr val="1A3A5C"/>
              </a:solidFill>
              <a:latin typeface="Segoe UI" panose="020B0502040204020203"/>
              <a:ea typeface="黑体" panose="02010609060101010101"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4461939"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相空间轨迹与初值敏感性</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3429000" cy="9525"/>
          </a:xfrm>
          <a:custGeom>
            <a:avLst/>
            <a:gdLst/>
            <a:ahLst/>
            <a:cxnLst/>
            <a:rect l="l" t="t" r="r" b="b"/>
            <a:pathLst>
              <a:path w="3429000" h="9525">
                <a:moveTo>
                  <a:pt x="0" y="0"/>
                </a:moveTo>
                <a:lnTo>
                  <a:pt x="3429000" y="0"/>
                </a:lnTo>
              </a:path>
            </a:pathLst>
          </a:custGeom>
          <a:noFill/>
          <a:ln w="19050" cap="rnd">
            <a:solidFill>
              <a:srgbClr val="2E86C1"/>
            </a:solidFill>
          </a:ln>
        </p:spPr>
      </p:sp>
      <p:grpSp>
        <p:nvGrpSpPr>
          <p:cNvPr id="16" name="Group 16"/>
          <p:cNvGrpSpPr/>
          <p:nvPr/>
        </p:nvGrpSpPr>
        <p:grpSpPr>
          <a:xfrm>
            <a:off x="5503069" y="1988344"/>
            <a:ext cx="157162" cy="157162"/>
            <a:chOff x="5503069" y="1988344"/>
            <a:chExt cx="157162" cy="157162"/>
          </a:xfrm>
        </p:grpSpPr>
        <p:sp>
          <p:nvSpPr>
            <p:cNvPr id="10" name="Freeform 10"/>
            <p:cNvSpPr/>
            <p:nvPr/>
          </p:nvSpPr>
          <p:spPr>
            <a:xfrm>
              <a:off x="5503069" y="1988344"/>
              <a:ext cx="157162" cy="157162"/>
            </a:xfrm>
            <a:custGeom>
              <a:avLst/>
              <a:gdLst/>
              <a:ahLst/>
              <a:cxnLst/>
              <a:rect l="l" t="t" r="r" b="b"/>
              <a:pathLst>
                <a:path w="157162" h="157162">
                  <a:moveTo>
                    <a:pt x="0" y="0"/>
                  </a:moveTo>
                  <a:lnTo>
                    <a:pt x="0" y="157162"/>
                  </a:lnTo>
                  <a:lnTo>
                    <a:pt x="157162" y="157162"/>
                  </a:lnTo>
                </a:path>
              </a:pathLst>
            </a:custGeom>
            <a:noFill/>
            <a:ln w="19050">
              <a:solidFill>
                <a:srgbClr val="2E86C1"/>
              </a:solidFill>
            </a:ln>
          </p:spPr>
        </p:sp>
        <p:sp>
          <p:nvSpPr>
            <p:cNvPr id="11" name="Freeform 11"/>
            <p:cNvSpPr/>
            <p:nvPr/>
          </p:nvSpPr>
          <p:spPr>
            <a:xfrm>
              <a:off x="5537994" y="2023269"/>
              <a:ext cx="34925" cy="34925"/>
            </a:xfrm>
            <a:custGeom>
              <a:avLst/>
              <a:gdLst/>
              <a:ahLst/>
              <a:cxnLst/>
              <a:rect l="l" t="t" r="r" b="b"/>
              <a:pathLst>
                <a:path w="34925" h="34925">
                  <a:moveTo>
                    <a:pt x="0" y="17463"/>
                  </a:moveTo>
                  <a:cubicBezTo>
                    <a:pt x="0" y="27107"/>
                    <a:pt x="7818" y="34925"/>
                    <a:pt x="17463" y="34925"/>
                  </a:cubicBezTo>
                  <a:cubicBezTo>
                    <a:pt x="27107" y="34925"/>
                    <a:pt x="34925" y="27107"/>
                    <a:pt x="34925" y="17463"/>
                  </a:cubicBezTo>
                  <a:cubicBezTo>
                    <a:pt x="34925" y="7818"/>
                    <a:pt x="27107" y="0"/>
                    <a:pt x="17463" y="0"/>
                  </a:cubicBezTo>
                  <a:cubicBezTo>
                    <a:pt x="7818" y="0"/>
                    <a:pt x="0" y="7818"/>
                    <a:pt x="0" y="17463"/>
                  </a:cubicBezTo>
                </a:path>
              </a:pathLst>
            </a:custGeom>
            <a:noFill/>
            <a:ln w="19050">
              <a:solidFill>
                <a:srgbClr val="2E86C1"/>
              </a:solidFill>
            </a:ln>
          </p:spPr>
        </p:sp>
        <p:sp>
          <p:nvSpPr>
            <p:cNvPr id="12" name="Freeform 12"/>
            <p:cNvSpPr/>
            <p:nvPr/>
          </p:nvSpPr>
          <p:spPr>
            <a:xfrm>
              <a:off x="5625306" y="2005806"/>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19050">
              <a:solidFill>
                <a:srgbClr val="2E86C1"/>
              </a:solidFill>
            </a:ln>
          </p:spPr>
        </p:sp>
        <p:sp>
          <p:nvSpPr>
            <p:cNvPr id="13" name="Freeform 13"/>
            <p:cNvSpPr/>
            <p:nvPr/>
          </p:nvSpPr>
          <p:spPr>
            <a:xfrm>
              <a:off x="5581650" y="2075656"/>
              <a:ext cx="34925" cy="34925"/>
            </a:xfrm>
            <a:custGeom>
              <a:avLst/>
              <a:gdLst/>
              <a:ahLst/>
              <a:cxnLst/>
              <a:rect l="l" t="t" r="r" b="b"/>
              <a:pathLst>
                <a:path w="34925" h="34925">
                  <a:moveTo>
                    <a:pt x="0" y="17463"/>
                  </a:moveTo>
                  <a:cubicBezTo>
                    <a:pt x="0" y="27107"/>
                    <a:pt x="7818" y="34925"/>
                    <a:pt x="17463" y="34925"/>
                  </a:cubicBezTo>
                  <a:cubicBezTo>
                    <a:pt x="27107" y="34925"/>
                    <a:pt x="34925" y="27107"/>
                    <a:pt x="34925" y="17463"/>
                  </a:cubicBezTo>
                  <a:cubicBezTo>
                    <a:pt x="34925" y="7818"/>
                    <a:pt x="27107" y="0"/>
                    <a:pt x="17463" y="0"/>
                  </a:cubicBezTo>
                  <a:cubicBezTo>
                    <a:pt x="7818" y="0"/>
                    <a:pt x="0" y="7818"/>
                    <a:pt x="0" y="17463"/>
                  </a:cubicBezTo>
                </a:path>
              </a:pathLst>
            </a:custGeom>
            <a:noFill/>
            <a:ln w="19050">
              <a:solidFill>
                <a:srgbClr val="2E86C1"/>
              </a:solidFill>
            </a:ln>
          </p:spPr>
        </p:sp>
        <p:sp>
          <p:nvSpPr>
            <p:cNvPr id="14" name="Freeform 14"/>
            <p:cNvSpPr/>
            <p:nvPr/>
          </p:nvSpPr>
          <p:spPr>
            <a:xfrm>
              <a:off x="5565584" y="2054876"/>
              <a:ext cx="20431" cy="25146"/>
            </a:xfrm>
            <a:custGeom>
              <a:avLst/>
              <a:gdLst/>
              <a:ahLst/>
              <a:cxnLst/>
              <a:rect l="l" t="t" r="r" b="b"/>
              <a:pathLst>
                <a:path w="20431" h="25146">
                  <a:moveTo>
                    <a:pt x="0" y="0"/>
                  </a:moveTo>
                  <a:lnTo>
                    <a:pt x="20431" y="25146"/>
                  </a:lnTo>
                </a:path>
              </a:pathLst>
            </a:custGeom>
            <a:noFill/>
            <a:ln w="19050">
              <a:solidFill>
                <a:srgbClr val="2E86C1"/>
              </a:solidFill>
            </a:ln>
          </p:spPr>
        </p:sp>
        <p:sp>
          <p:nvSpPr>
            <p:cNvPr id="15" name="Freeform 15"/>
            <p:cNvSpPr/>
            <p:nvPr/>
          </p:nvSpPr>
          <p:spPr>
            <a:xfrm>
              <a:off x="5608612" y="2038479"/>
              <a:ext cx="24771" cy="40042"/>
            </a:xfrm>
            <a:custGeom>
              <a:avLst/>
              <a:gdLst/>
              <a:ahLst/>
              <a:cxnLst/>
              <a:rect l="l" t="t" r="r" b="b"/>
              <a:pathLst>
                <a:path w="24771" h="40042">
                  <a:moveTo>
                    <a:pt x="0" y="40042"/>
                  </a:moveTo>
                  <a:lnTo>
                    <a:pt x="24771" y="0"/>
                  </a:lnTo>
                </a:path>
              </a:pathLst>
            </a:custGeom>
            <a:noFill/>
            <a:ln w="19050">
              <a:solidFill>
                <a:srgbClr val="2E86C1"/>
              </a:solidFill>
            </a:ln>
          </p:spPr>
        </p:sp>
      </p:grpSp>
      <p:sp>
        <p:nvSpPr>
          <p:cNvPr id="17" name="TextBox 17"/>
          <p:cNvSpPr txBox="1"/>
          <p:nvPr/>
        </p:nvSpPr>
        <p:spPr>
          <a:xfrm>
            <a:off x="559435" y="5169218"/>
            <a:ext cx="4334577"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四种方法的 θ₁-ω₁ 相空间轨迹 (T=30s, h=0.005s)</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18" name="TextBox 18"/>
          <p:cNvSpPr txBox="1"/>
          <p:nvPr/>
        </p:nvSpPr>
        <p:spPr>
          <a:xfrm>
            <a:off x="49847" y="5472271"/>
            <a:ext cx="500169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颜色从紫到黄表示时间推进 — 不同方法展现定性相似但细节不同的混沌结构</a:t>
            </a:r>
            <a:endParaRPr lang="zh-CN" sz="1125" dirty="0">
              <a:solidFill>
                <a:srgbClr val="7F8C8D"/>
              </a:solidFill>
              <a:latin typeface="Arial" panose="020B0604020202020204"/>
              <a:ea typeface="微软雅黑" panose="020B0503020204020204" charset="-122"/>
              <a:cs typeface="Arial" panose="020B0604020202020204"/>
            </a:endParaRPr>
          </a:p>
        </p:txBody>
      </p:sp>
      <p:grpSp>
        <p:nvGrpSpPr>
          <p:cNvPr id="25" name="Group 25"/>
          <p:cNvGrpSpPr/>
          <p:nvPr/>
        </p:nvGrpSpPr>
        <p:grpSpPr>
          <a:xfrm>
            <a:off x="3550444" y="4167188"/>
            <a:ext cx="157162" cy="104775"/>
            <a:chOff x="3550444" y="4167188"/>
            <a:chExt cx="157162" cy="104775"/>
          </a:xfrm>
        </p:grpSpPr>
        <p:sp>
          <p:nvSpPr>
            <p:cNvPr id="23" name="Freeform 23"/>
            <p:cNvSpPr/>
            <p:nvPr/>
          </p:nvSpPr>
          <p:spPr>
            <a:xfrm>
              <a:off x="3611562" y="4202112"/>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19050">
              <a:solidFill>
                <a:srgbClr val="E74C3C"/>
              </a:solidFill>
            </a:ln>
          </p:spPr>
        </p:sp>
        <p:sp>
          <p:nvSpPr>
            <p:cNvPr id="24" name="Freeform 24"/>
            <p:cNvSpPr/>
            <p:nvPr/>
          </p:nvSpPr>
          <p:spPr>
            <a:xfrm>
              <a:off x="3550444" y="4167188"/>
              <a:ext cx="157162" cy="104775"/>
            </a:xfrm>
            <a:custGeom>
              <a:avLst/>
              <a:gdLst/>
              <a:ahLst/>
              <a:cxnLst/>
              <a:rect l="l" t="t" r="r" b="b"/>
              <a:pathLst>
                <a:path w="157162" h="104775">
                  <a:moveTo>
                    <a:pt x="157162" y="52388"/>
                  </a:moveTo>
                  <a:cubicBezTo>
                    <a:pt x="136208" y="87313"/>
                    <a:pt x="110014" y="104775"/>
                    <a:pt x="78581" y="104775"/>
                  </a:cubicBezTo>
                  <a:cubicBezTo>
                    <a:pt x="47149" y="104775"/>
                    <a:pt x="20955" y="87313"/>
                    <a:pt x="0" y="52388"/>
                  </a:cubicBezTo>
                  <a:cubicBezTo>
                    <a:pt x="20955" y="17462"/>
                    <a:pt x="47149" y="0"/>
                    <a:pt x="78581" y="0"/>
                  </a:cubicBezTo>
                  <a:cubicBezTo>
                    <a:pt x="110014" y="0"/>
                    <a:pt x="136208" y="17462"/>
                    <a:pt x="157162" y="52388"/>
                  </a:cubicBezTo>
                </a:path>
              </a:pathLst>
            </a:custGeom>
            <a:noFill/>
            <a:ln w="19050">
              <a:solidFill>
                <a:srgbClr val="E74C3C"/>
              </a:solidFill>
            </a:ln>
          </p:spPr>
        </p:sp>
      </p:grpSp>
      <p:sp>
        <p:nvSpPr>
          <p:cNvPr id="26" name="TextBox 26"/>
          <p:cNvSpPr txBox="1"/>
          <p:nvPr/>
        </p:nvSpPr>
        <p:spPr>
          <a:xfrm>
            <a:off x="4923155" y="5129213"/>
            <a:ext cx="4797685"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轨线时域对比 (θ₁(t), T=10s) + 初值敏感性 (δθ₁=10⁻⁶)</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27" name="TextBox 27"/>
          <p:cNvSpPr txBox="1"/>
          <p:nvPr/>
        </p:nvSpPr>
        <p:spPr>
          <a:xfrm>
            <a:off x="5051742" y="5469731"/>
            <a:ext cx="479917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T≳2s 后不同方法轨线迅速分离 · 约5s后完全分离 · Lyapunov时间 ~20s</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28" name="Rectangle 28"/>
          <p:cNvSpPr/>
          <p:nvPr/>
        </p:nvSpPr>
        <p:spPr>
          <a:xfrm>
            <a:off x="9455785" y="1831975"/>
            <a:ext cx="2590165" cy="1952625"/>
          </a:xfrm>
          <a:prstGeom prst="roundRect">
            <a:avLst>
              <a:gd name="adj" fmla="val 3902"/>
            </a:avLst>
          </a:prstGeom>
          <a:solidFill>
            <a:srgbClr val="F4F6F8"/>
          </a:solidFill>
          <a:ln>
            <a:noFill/>
          </a:ln>
        </p:spPr>
      </p:sp>
      <p:sp>
        <p:nvSpPr>
          <p:cNvPr id="29" name="TextBox 29"/>
          <p:cNvSpPr txBox="1"/>
          <p:nvPr/>
        </p:nvSpPr>
        <p:spPr>
          <a:xfrm>
            <a:off x="9779000" y="1988502"/>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核心启示</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0" name="Ellipse 30"/>
          <p:cNvSpPr/>
          <p:nvPr/>
        </p:nvSpPr>
        <p:spPr>
          <a:xfrm>
            <a:off x="9724390" y="2323465"/>
            <a:ext cx="95250" cy="95250"/>
          </a:xfrm>
          <a:prstGeom prst="ellipse">
            <a:avLst/>
          </a:prstGeom>
          <a:solidFill>
            <a:srgbClr val="E74C3C"/>
          </a:solidFill>
          <a:ln>
            <a:noFill/>
          </a:ln>
        </p:spPr>
      </p:sp>
      <p:sp>
        <p:nvSpPr>
          <p:cNvPr id="31" name="TextBox 31"/>
          <p:cNvSpPr txBox="1"/>
          <p:nvPr/>
        </p:nvSpPr>
        <p:spPr>
          <a:xfrm>
            <a:off x="9850755" y="2249487"/>
            <a:ext cx="2293572"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这不是物理系统本身的"不确</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9850755" y="2487613"/>
            <a:ext cx="493347"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定性"</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3" name="Ellipse 33"/>
          <p:cNvSpPr/>
          <p:nvPr/>
        </p:nvSpPr>
        <p:spPr>
          <a:xfrm>
            <a:off x="9724390" y="2875915"/>
            <a:ext cx="95250" cy="95250"/>
          </a:xfrm>
          <a:prstGeom prst="ellipse">
            <a:avLst/>
          </a:prstGeom>
          <a:solidFill>
            <a:srgbClr val="2E86C1"/>
          </a:solidFill>
          <a:ln>
            <a:noFill/>
          </a:ln>
        </p:spPr>
      </p:sp>
      <p:sp>
        <p:nvSpPr>
          <p:cNvPr id="34" name="TextBox 34"/>
          <p:cNvSpPr txBox="1"/>
          <p:nvPr/>
        </p:nvSpPr>
        <p:spPr>
          <a:xfrm>
            <a:off x="9850755" y="2801937"/>
            <a:ext cx="219456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而是混沌对微小数值扰动的</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9850755" y="3040063"/>
            <a:ext cx="1114425"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指数放大效应</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6" name="Ellipse 36"/>
          <p:cNvSpPr/>
          <p:nvPr/>
        </p:nvSpPr>
        <p:spPr>
          <a:xfrm>
            <a:off x="9724390" y="3399790"/>
            <a:ext cx="95250" cy="95250"/>
          </a:xfrm>
          <a:prstGeom prst="ellipse">
            <a:avLst/>
          </a:prstGeom>
          <a:solidFill>
            <a:srgbClr val="1A3A5C"/>
          </a:solidFill>
          <a:ln>
            <a:noFill/>
          </a:ln>
        </p:spPr>
      </p:sp>
      <p:sp>
        <p:nvSpPr>
          <p:cNvPr id="37" name="TextBox 37"/>
          <p:cNvSpPr txBox="1"/>
          <p:nvPr/>
        </p:nvSpPr>
        <p:spPr>
          <a:xfrm>
            <a:off x="9850755" y="3325813"/>
            <a:ext cx="2059543"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单一方法结果 ≠ "真实解"</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9614535" y="3551555"/>
            <a:ext cx="2406777" cy="243840"/>
          </a:xfrm>
          <a:prstGeom prst="rect">
            <a:avLst/>
          </a:prstGeom>
          <a:noFill/>
          <a:ln>
            <a:noFill/>
          </a:ln>
        </p:spPr>
        <p:txBody>
          <a:bodyPr wrap="none" lIns="0" tIns="0" rIns="0" bIns="0" anchor="t" anchorCtr="0">
            <a:spAutoFit/>
          </a:bodyPr>
          <a:lstStyle/>
          <a:p>
            <a:pPr algn="l"/>
            <a:r>
              <a:rPr lang="zh-CN" sz="1200" dirty="0">
                <a:solidFill>
                  <a:srgbClr val="E74C3C"/>
                </a:solidFill>
                <a:latin typeface="Arial" panose="020B0604020202020204"/>
                <a:ea typeface="微软雅黑" panose="020B0503020204020204" charset="-122"/>
                <a:cs typeface="Arial" panose="020B0604020202020204"/>
              </a:rPr>
              <a:t>→ 需多种方法交叉验证评估可靠性</a:t>
            </a:r>
            <a:endParaRPr lang="zh-CN" sz="1200" dirty="0">
              <a:solidFill>
                <a:srgbClr val="E74C3C"/>
              </a:solidFill>
              <a:latin typeface="Arial" panose="020B0604020202020204"/>
              <a:ea typeface="微软雅黑" panose="020B0503020204020204" charset="-122"/>
              <a:cs typeface="Arial" panose="020B0604020202020204"/>
            </a:endParaRPr>
          </a:p>
        </p:txBody>
      </p:sp>
      <p:sp>
        <p:nvSpPr>
          <p:cNvPr id="39" name="Rectangle 39"/>
          <p:cNvSpPr/>
          <p:nvPr/>
        </p:nvSpPr>
        <p:spPr>
          <a:xfrm>
            <a:off x="49530" y="5864860"/>
            <a:ext cx="11049000" cy="523875"/>
          </a:xfrm>
          <a:prstGeom prst="roundRect">
            <a:avLst>
              <a:gd name="adj" fmla="val 14545"/>
            </a:avLst>
          </a:prstGeom>
          <a:solidFill>
            <a:srgbClr val="1A3A5C">
              <a:alpha val="5000"/>
            </a:srgbClr>
          </a:solidFill>
          <a:ln>
            <a:noFill/>
          </a:ln>
        </p:spPr>
        <p:txBody>
          <a:bodyPr/>
          <a:p>
            <a:endParaRPr lang="zh-CN" altLang="en-US"/>
          </a:p>
        </p:txBody>
      </p:sp>
      <p:grpSp>
        <p:nvGrpSpPr>
          <p:cNvPr id="46" name="Group 46"/>
          <p:cNvGrpSpPr/>
          <p:nvPr/>
        </p:nvGrpSpPr>
        <p:grpSpPr>
          <a:xfrm>
            <a:off x="856615" y="6059329"/>
            <a:ext cx="139700" cy="157163"/>
            <a:chOff x="844550" y="5436394"/>
            <a:chExt cx="139700" cy="157163"/>
          </a:xfrm>
        </p:grpSpPr>
        <p:sp>
          <p:nvSpPr>
            <p:cNvPr id="40" name="Freeform 40"/>
            <p:cNvSpPr/>
            <p:nvPr/>
          </p:nvSpPr>
          <p:spPr>
            <a:xfrm>
              <a:off x="844550" y="5445125"/>
              <a:ext cx="34925" cy="34925"/>
            </a:xfrm>
            <a:custGeom>
              <a:avLst/>
              <a:gdLst/>
              <a:ahLst/>
              <a:cxnLst/>
              <a:rect l="l" t="t" r="r" b="b"/>
              <a:pathLst>
                <a:path w="34925" h="34925">
                  <a:moveTo>
                    <a:pt x="0" y="17463"/>
                  </a:moveTo>
                  <a:cubicBezTo>
                    <a:pt x="0" y="27107"/>
                    <a:pt x="7818" y="34925"/>
                    <a:pt x="17462" y="34925"/>
                  </a:cubicBezTo>
                  <a:cubicBezTo>
                    <a:pt x="27107" y="34925"/>
                    <a:pt x="34925" y="27107"/>
                    <a:pt x="34925" y="17463"/>
                  </a:cubicBezTo>
                  <a:cubicBezTo>
                    <a:pt x="34925" y="7818"/>
                    <a:pt x="27107" y="0"/>
                    <a:pt x="17462" y="0"/>
                  </a:cubicBezTo>
                  <a:cubicBezTo>
                    <a:pt x="7818" y="0"/>
                    <a:pt x="0" y="7818"/>
                    <a:pt x="0" y="17463"/>
                  </a:cubicBezTo>
                </a:path>
              </a:pathLst>
            </a:custGeom>
            <a:noFill/>
            <a:ln w="19050">
              <a:solidFill>
                <a:srgbClr val="1A3A5C"/>
              </a:solidFill>
            </a:ln>
          </p:spPr>
        </p:sp>
        <p:sp>
          <p:nvSpPr>
            <p:cNvPr id="41" name="Freeform 41"/>
            <p:cNvSpPr/>
            <p:nvPr/>
          </p:nvSpPr>
          <p:spPr>
            <a:xfrm>
              <a:off x="949325" y="5549900"/>
              <a:ext cx="34925" cy="34925"/>
            </a:xfrm>
            <a:custGeom>
              <a:avLst/>
              <a:gdLst/>
              <a:ahLst/>
              <a:cxnLst/>
              <a:rect l="l" t="t" r="r" b="b"/>
              <a:pathLst>
                <a:path w="34925" h="34925">
                  <a:moveTo>
                    <a:pt x="0" y="17463"/>
                  </a:moveTo>
                  <a:cubicBezTo>
                    <a:pt x="0" y="27107"/>
                    <a:pt x="7818" y="34925"/>
                    <a:pt x="17462" y="34925"/>
                  </a:cubicBezTo>
                  <a:cubicBezTo>
                    <a:pt x="27107" y="34925"/>
                    <a:pt x="34925" y="27107"/>
                    <a:pt x="34925" y="17463"/>
                  </a:cubicBezTo>
                  <a:cubicBezTo>
                    <a:pt x="34925" y="7818"/>
                    <a:pt x="27107" y="0"/>
                    <a:pt x="17462" y="0"/>
                  </a:cubicBezTo>
                  <a:cubicBezTo>
                    <a:pt x="7818" y="0"/>
                    <a:pt x="0" y="7818"/>
                    <a:pt x="0" y="17463"/>
                  </a:cubicBezTo>
                </a:path>
              </a:pathLst>
            </a:custGeom>
            <a:noFill/>
            <a:ln w="19050">
              <a:solidFill>
                <a:srgbClr val="1A3A5C"/>
              </a:solidFill>
            </a:ln>
          </p:spPr>
        </p:sp>
        <p:sp>
          <p:nvSpPr>
            <p:cNvPr id="42" name="Freeform 42"/>
            <p:cNvSpPr/>
            <p:nvPr/>
          </p:nvSpPr>
          <p:spPr>
            <a:xfrm>
              <a:off x="905669" y="5462588"/>
              <a:ext cx="61119" cy="87312"/>
            </a:xfrm>
            <a:custGeom>
              <a:avLst/>
              <a:gdLst/>
              <a:ahLst/>
              <a:cxnLst/>
              <a:rect l="l" t="t" r="r" b="b"/>
              <a:pathLst>
                <a:path w="61119" h="87312">
                  <a:moveTo>
                    <a:pt x="0" y="0"/>
                  </a:moveTo>
                  <a:lnTo>
                    <a:pt x="43656" y="0"/>
                  </a:lnTo>
                  <a:cubicBezTo>
                    <a:pt x="53301" y="0"/>
                    <a:pt x="61119" y="7818"/>
                    <a:pt x="61119" y="17463"/>
                  </a:cubicBezTo>
                  <a:lnTo>
                    <a:pt x="61119" y="87312"/>
                  </a:lnTo>
                </a:path>
              </a:pathLst>
            </a:custGeom>
            <a:noFill/>
            <a:ln w="19050">
              <a:solidFill>
                <a:srgbClr val="1A3A5C"/>
              </a:solidFill>
            </a:ln>
          </p:spPr>
        </p:sp>
        <p:sp>
          <p:nvSpPr>
            <p:cNvPr id="43" name="Freeform 43"/>
            <p:cNvSpPr/>
            <p:nvPr/>
          </p:nvSpPr>
          <p:spPr>
            <a:xfrm>
              <a:off x="905669" y="5436394"/>
              <a:ext cx="26194" cy="52388"/>
            </a:xfrm>
            <a:custGeom>
              <a:avLst/>
              <a:gdLst/>
              <a:ahLst/>
              <a:cxnLst/>
              <a:rect l="l" t="t" r="r" b="b"/>
              <a:pathLst>
                <a:path w="26194" h="52388">
                  <a:moveTo>
                    <a:pt x="26194" y="52388"/>
                  </a:moveTo>
                  <a:lnTo>
                    <a:pt x="0" y="26194"/>
                  </a:lnTo>
                  <a:lnTo>
                    <a:pt x="26194" y="0"/>
                  </a:lnTo>
                </a:path>
              </a:pathLst>
            </a:custGeom>
            <a:noFill/>
            <a:ln w="19050">
              <a:solidFill>
                <a:srgbClr val="1A3A5C"/>
              </a:solidFill>
            </a:ln>
          </p:spPr>
        </p:sp>
        <p:sp>
          <p:nvSpPr>
            <p:cNvPr id="44" name="Freeform 44"/>
            <p:cNvSpPr/>
            <p:nvPr/>
          </p:nvSpPr>
          <p:spPr>
            <a:xfrm>
              <a:off x="862012" y="5480050"/>
              <a:ext cx="61119" cy="87312"/>
            </a:xfrm>
            <a:custGeom>
              <a:avLst/>
              <a:gdLst/>
              <a:ahLst/>
              <a:cxnLst/>
              <a:rect l="l" t="t" r="r" b="b"/>
              <a:pathLst>
                <a:path w="61119" h="87312">
                  <a:moveTo>
                    <a:pt x="61119" y="87312"/>
                  </a:moveTo>
                  <a:lnTo>
                    <a:pt x="17462" y="87312"/>
                  </a:lnTo>
                  <a:cubicBezTo>
                    <a:pt x="7818" y="87312"/>
                    <a:pt x="0" y="79494"/>
                    <a:pt x="0" y="69850"/>
                  </a:cubicBezTo>
                  <a:lnTo>
                    <a:pt x="0" y="0"/>
                  </a:lnTo>
                </a:path>
              </a:pathLst>
            </a:custGeom>
            <a:noFill/>
            <a:ln w="19050">
              <a:solidFill>
                <a:srgbClr val="1A3A5C"/>
              </a:solidFill>
            </a:ln>
          </p:spPr>
        </p:sp>
        <p:sp>
          <p:nvSpPr>
            <p:cNvPr id="45" name="Freeform 45"/>
            <p:cNvSpPr/>
            <p:nvPr/>
          </p:nvSpPr>
          <p:spPr>
            <a:xfrm>
              <a:off x="896938" y="5541169"/>
              <a:ext cx="26194" cy="52388"/>
            </a:xfrm>
            <a:custGeom>
              <a:avLst/>
              <a:gdLst/>
              <a:ahLst/>
              <a:cxnLst/>
              <a:rect l="l" t="t" r="r" b="b"/>
              <a:pathLst>
                <a:path w="26194" h="52388">
                  <a:moveTo>
                    <a:pt x="0" y="0"/>
                  </a:moveTo>
                  <a:lnTo>
                    <a:pt x="26194" y="26194"/>
                  </a:lnTo>
                  <a:lnTo>
                    <a:pt x="0" y="52388"/>
                  </a:lnTo>
                </a:path>
              </a:pathLst>
            </a:custGeom>
            <a:noFill/>
            <a:ln w="19050">
              <a:solidFill>
                <a:srgbClr val="1A3A5C"/>
              </a:solidFill>
            </a:ln>
          </p:spPr>
        </p:sp>
      </p:grpSp>
      <p:sp>
        <p:nvSpPr>
          <p:cNvPr id="47" name="TextBox 47"/>
          <p:cNvSpPr txBox="1"/>
          <p:nvPr/>
        </p:nvSpPr>
        <p:spPr>
          <a:xfrm>
            <a:off x="1091247" y="5990749"/>
            <a:ext cx="7462314"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任何精度超过约6位有效数字的数值积分在 t &gt; 20s 时都无法提供"确定性预测"——这正是混沌的本质</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06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51" name="图片 50" descr="phase_portrait_4panel"/>
          <p:cNvPicPr>
            <a:picLocks noChangeAspect="1"/>
          </p:cNvPicPr>
          <p:nvPr/>
        </p:nvPicPr>
        <p:blipFill>
          <a:blip r:embed="rId1"/>
          <a:stretch>
            <a:fillRect/>
          </a:stretch>
        </p:blipFill>
        <p:spPr>
          <a:xfrm>
            <a:off x="433070" y="763905"/>
            <a:ext cx="3974465" cy="4236720"/>
          </a:xfrm>
          <a:prstGeom prst="rect">
            <a:avLst/>
          </a:prstGeom>
        </p:spPr>
      </p:pic>
      <p:pic>
        <p:nvPicPr>
          <p:cNvPr id="52" name="图片 51" descr="trajectory_comparison"/>
          <p:cNvPicPr>
            <a:picLocks noChangeAspect="1"/>
          </p:cNvPicPr>
          <p:nvPr/>
        </p:nvPicPr>
        <p:blipFill>
          <a:blip r:embed="rId2"/>
          <a:stretch>
            <a:fillRect/>
          </a:stretch>
        </p:blipFill>
        <p:spPr>
          <a:xfrm>
            <a:off x="4746625" y="1030605"/>
            <a:ext cx="4638675" cy="38303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6457188"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混沌诊断：功率谱与 Lyapunov 指数</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4381500" cy="9525"/>
          </a:xfrm>
          <a:custGeom>
            <a:avLst/>
            <a:gdLst/>
            <a:ahLst/>
            <a:cxnLst/>
            <a:rect l="l" t="t" r="r" b="b"/>
            <a:pathLst>
              <a:path w="4381500" h="9525">
                <a:moveTo>
                  <a:pt x="0" y="0"/>
                </a:moveTo>
                <a:lnTo>
                  <a:pt x="4381500" y="0"/>
                </a:lnTo>
              </a:path>
            </a:pathLst>
          </a:custGeom>
          <a:noFill/>
          <a:ln w="19050" cap="rnd">
            <a:solidFill>
              <a:srgbClr val="2E86C1"/>
            </a:solidFill>
          </a:ln>
        </p:spPr>
      </p:sp>
      <p:sp>
        <p:nvSpPr>
          <p:cNvPr id="11" name="TextBox 11"/>
          <p:cNvSpPr txBox="1"/>
          <p:nvPr/>
        </p:nvSpPr>
        <p:spPr>
          <a:xfrm>
            <a:off x="2020570" y="3897948"/>
            <a:ext cx="134800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FFT 功率谱分析</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13" name="Rectangle 13"/>
          <p:cNvSpPr/>
          <p:nvPr/>
        </p:nvSpPr>
        <p:spPr>
          <a:xfrm>
            <a:off x="535305" y="4114800"/>
            <a:ext cx="5429250" cy="1485265"/>
          </a:xfrm>
          <a:prstGeom prst="roundRect">
            <a:avLst>
              <a:gd name="adj" fmla="val 5161"/>
            </a:avLst>
          </a:prstGeom>
          <a:solidFill>
            <a:srgbClr val="F4F6F8"/>
          </a:solidFill>
          <a:ln>
            <a:noFill/>
          </a:ln>
        </p:spPr>
      </p:sp>
      <p:sp>
        <p:nvSpPr>
          <p:cNvPr id="14" name="TextBox 14"/>
          <p:cNvSpPr txBox="1"/>
          <p:nvPr/>
        </p:nvSpPr>
        <p:spPr>
          <a:xfrm>
            <a:off x="752475" y="4241483"/>
            <a:ext cx="1197054"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功率谱特征</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15" name="Rectangle 15"/>
          <p:cNvSpPr/>
          <p:nvPr/>
        </p:nvSpPr>
        <p:spPr>
          <a:xfrm>
            <a:off x="773430" y="4562475"/>
            <a:ext cx="4953000" cy="285750"/>
          </a:xfrm>
          <a:prstGeom prst="roundRect">
            <a:avLst>
              <a:gd name="adj" fmla="val 13333"/>
            </a:avLst>
          </a:prstGeom>
          <a:solidFill>
            <a:srgbClr val="FFFFFF"/>
          </a:solidFill>
          <a:ln>
            <a:noFill/>
          </a:ln>
        </p:spPr>
      </p:sp>
      <p:sp>
        <p:nvSpPr>
          <p:cNvPr id="16" name="TextBox 16"/>
          <p:cNvSpPr txBox="1"/>
          <p:nvPr/>
        </p:nvSpPr>
        <p:spPr>
          <a:xfrm>
            <a:off x="899160" y="4616767"/>
            <a:ext cx="3967782"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周期运动：基频 (~0.37 Hz) 及其谐波的离散尖峰</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7" name="Rectangle 17"/>
          <p:cNvSpPr/>
          <p:nvPr/>
        </p:nvSpPr>
        <p:spPr>
          <a:xfrm>
            <a:off x="773430" y="4924425"/>
            <a:ext cx="4953000" cy="285750"/>
          </a:xfrm>
          <a:prstGeom prst="roundRect">
            <a:avLst>
              <a:gd name="adj" fmla="val 13333"/>
            </a:avLst>
          </a:prstGeom>
          <a:solidFill>
            <a:srgbClr val="FFFFFF"/>
          </a:solidFill>
          <a:ln>
            <a:noFill/>
          </a:ln>
        </p:spPr>
      </p:sp>
      <p:sp>
        <p:nvSpPr>
          <p:cNvPr id="18" name="TextBox 18"/>
          <p:cNvSpPr txBox="1"/>
          <p:nvPr/>
        </p:nvSpPr>
        <p:spPr>
          <a:xfrm>
            <a:off x="899160" y="4978717"/>
            <a:ext cx="3994785"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混沌运动：能量在宽频带上连续分布，无明显峰值</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9" name="Rectangle 19"/>
          <p:cNvSpPr/>
          <p:nvPr/>
        </p:nvSpPr>
        <p:spPr>
          <a:xfrm>
            <a:off x="773430" y="5286375"/>
            <a:ext cx="4953000" cy="285750"/>
          </a:xfrm>
          <a:prstGeom prst="roundRect">
            <a:avLst>
              <a:gd name="adj" fmla="val 13333"/>
            </a:avLst>
          </a:prstGeom>
          <a:solidFill>
            <a:srgbClr val="FFFFFF"/>
          </a:solidFill>
          <a:ln>
            <a:noFill/>
          </a:ln>
        </p:spPr>
      </p:sp>
      <p:sp>
        <p:nvSpPr>
          <p:cNvPr id="20" name="TextBox 20"/>
          <p:cNvSpPr txBox="1"/>
          <p:nvPr/>
        </p:nvSpPr>
        <p:spPr>
          <a:xfrm>
            <a:off x="901065" y="5356860"/>
            <a:ext cx="3870960"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panose="020B0604020202020204"/>
                <a:ea typeface="微软雅黑" panose="020B0503020204020204" charset="-122"/>
                <a:cs typeface="Arial" panose="020B0604020202020204"/>
              </a:rPr>
              <a:t>四种方法低频一致性较好，高频细节因精度有细微差异</a:t>
            </a:r>
            <a:endParaRPr lang="zh-CN" sz="1200" dirty="0">
              <a:solidFill>
                <a:srgbClr val="7F8C8D"/>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8375666" y="1806892"/>
            <a:ext cx="1060418"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panose="020B0604020202020204"/>
                <a:ea typeface="微软雅黑" panose="020B0503020204020204" charset="-122"/>
                <a:cs typeface="Arial" panose="020B0604020202020204"/>
              </a:rPr>
              <a:t>[ 插图占位 ]</a:t>
            </a:r>
            <a:endParaRPr lang="zh-CN" sz="1350" dirty="0">
              <a:solidFill>
                <a:srgbClr val="7F8C8D"/>
              </a:solidFill>
              <a:latin typeface="Arial" panose="020B0604020202020204"/>
              <a:ea typeface="微软雅黑" panose="020B0503020204020204" charset="-122"/>
              <a:cs typeface="Arial" panose="020B0604020202020204"/>
            </a:endParaRPr>
          </a:p>
        </p:txBody>
      </p:sp>
      <p:sp>
        <p:nvSpPr>
          <p:cNvPr id="23" name="Line 23"/>
          <p:cNvSpPr/>
          <p:nvPr/>
        </p:nvSpPr>
        <p:spPr>
          <a:xfrm>
            <a:off x="8667750" y="1809750"/>
            <a:ext cx="476250" cy="9525"/>
          </a:xfrm>
          <a:custGeom>
            <a:avLst/>
            <a:gdLst/>
            <a:ahLst/>
            <a:cxnLst/>
            <a:rect l="l" t="t" r="r" b="b"/>
            <a:pathLst>
              <a:path w="476250" h="9525">
                <a:moveTo>
                  <a:pt x="0" y="0"/>
                </a:moveTo>
                <a:lnTo>
                  <a:pt x="476250" y="0"/>
                </a:lnTo>
              </a:path>
            </a:pathLst>
          </a:custGeom>
          <a:noFill/>
          <a:ln w="19050">
            <a:solidFill>
              <a:srgbClr val="D5D8DC"/>
            </a:solidFill>
          </a:ln>
        </p:spPr>
      </p:sp>
      <p:sp>
        <p:nvSpPr>
          <p:cNvPr id="24" name="Line 24"/>
          <p:cNvSpPr/>
          <p:nvPr/>
        </p:nvSpPr>
        <p:spPr>
          <a:xfrm>
            <a:off x="8905875" y="1571625"/>
            <a:ext cx="9525" cy="476250"/>
          </a:xfrm>
          <a:custGeom>
            <a:avLst/>
            <a:gdLst/>
            <a:ahLst/>
            <a:cxnLst/>
            <a:rect l="l" t="t" r="r" b="b"/>
            <a:pathLst>
              <a:path w="9525" h="476250">
                <a:moveTo>
                  <a:pt x="0" y="0"/>
                </a:moveTo>
                <a:lnTo>
                  <a:pt x="0" y="476250"/>
                </a:lnTo>
              </a:path>
            </a:pathLst>
          </a:custGeom>
          <a:noFill/>
          <a:ln w="19050">
            <a:solidFill>
              <a:srgbClr val="D5D8DC"/>
            </a:solidFill>
          </a:ln>
        </p:spPr>
      </p:sp>
      <p:sp>
        <p:nvSpPr>
          <p:cNvPr id="28" name="TextBox 28"/>
          <p:cNvSpPr txBox="1"/>
          <p:nvPr/>
        </p:nvSpPr>
        <p:spPr>
          <a:xfrm>
            <a:off x="7505700" y="3849053"/>
            <a:ext cx="303031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最大 Lyapunov 指数 (Benettin 法)</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30" name="Rectangle 30"/>
          <p:cNvSpPr/>
          <p:nvPr/>
        </p:nvSpPr>
        <p:spPr>
          <a:xfrm>
            <a:off x="6137275" y="4114800"/>
            <a:ext cx="5429250" cy="1476375"/>
          </a:xfrm>
          <a:prstGeom prst="roundRect">
            <a:avLst>
              <a:gd name="adj" fmla="val 5161"/>
            </a:avLst>
          </a:prstGeom>
          <a:solidFill>
            <a:srgbClr val="F4F6F8"/>
          </a:solidFill>
          <a:ln>
            <a:noFill/>
          </a:ln>
        </p:spPr>
      </p:sp>
      <p:sp>
        <p:nvSpPr>
          <p:cNvPr id="31" name="TextBox 31"/>
          <p:cNvSpPr txBox="1"/>
          <p:nvPr/>
        </p:nvSpPr>
        <p:spPr>
          <a:xfrm>
            <a:off x="6354445" y="4241483"/>
            <a:ext cx="2051861"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Lyapunov 指数结果</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2" name="Rectangle 32"/>
          <p:cNvSpPr/>
          <p:nvPr/>
        </p:nvSpPr>
        <p:spPr>
          <a:xfrm>
            <a:off x="6375400" y="4562475"/>
            <a:ext cx="2381250" cy="285750"/>
          </a:xfrm>
          <a:prstGeom prst="roundRect">
            <a:avLst>
              <a:gd name="adj" fmla="val 13333"/>
            </a:avLst>
          </a:prstGeom>
          <a:solidFill>
            <a:srgbClr val="FFFFFF"/>
          </a:solidFill>
          <a:ln>
            <a:noFill/>
          </a:ln>
        </p:spPr>
      </p:sp>
      <p:sp>
        <p:nvSpPr>
          <p:cNvPr id="33" name="TextBox 33"/>
          <p:cNvSpPr txBox="1"/>
          <p:nvPr/>
        </p:nvSpPr>
        <p:spPr>
          <a:xfrm>
            <a:off x="6644267" y="4616767"/>
            <a:ext cx="1843516" cy="274320"/>
          </a:xfrm>
          <a:prstGeom prst="rect">
            <a:avLst/>
          </a:prstGeom>
          <a:noFill/>
          <a:ln>
            <a:noFill/>
          </a:ln>
        </p:spPr>
        <p:txBody>
          <a:bodyPr wrap="none" lIns="0" tIns="0" rIns="0" bIns="0" anchor="t" anchorCtr="0">
            <a:spAutoFit/>
          </a:bodyPr>
          <a:lstStyle/>
          <a:p>
            <a:pPr algn="ctr"/>
            <a:r>
              <a:rPr lang="zh-CN" sz="1350" dirty="0">
                <a:solidFill>
                  <a:srgbClr val="2C3E50"/>
                </a:solidFill>
                <a:latin typeface="Arial" panose="020B0604020202020204"/>
                <a:ea typeface="微软雅黑" panose="020B0503020204020204" charset="-122"/>
                <a:cs typeface="Arial" panose="020B0604020202020204"/>
              </a:rPr>
              <a:t>Lyapunov 时间: ~20 s</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4" name="Rectangle 34"/>
          <p:cNvSpPr/>
          <p:nvPr/>
        </p:nvSpPr>
        <p:spPr>
          <a:xfrm>
            <a:off x="8947150" y="4562475"/>
            <a:ext cx="2381250" cy="285750"/>
          </a:xfrm>
          <a:prstGeom prst="roundRect">
            <a:avLst>
              <a:gd name="adj" fmla="val 13333"/>
            </a:avLst>
          </a:prstGeom>
          <a:solidFill>
            <a:srgbClr val="FFFFFF"/>
          </a:solidFill>
          <a:ln>
            <a:noFill/>
          </a:ln>
        </p:spPr>
      </p:sp>
      <p:sp>
        <p:nvSpPr>
          <p:cNvPr id="35" name="TextBox 35"/>
          <p:cNvSpPr txBox="1"/>
          <p:nvPr/>
        </p:nvSpPr>
        <p:spPr>
          <a:xfrm>
            <a:off x="9297027" y="4616767"/>
            <a:ext cx="1681496" cy="274320"/>
          </a:xfrm>
          <a:prstGeom prst="rect">
            <a:avLst/>
          </a:prstGeom>
          <a:noFill/>
          <a:ln>
            <a:noFill/>
          </a:ln>
        </p:spPr>
        <p:txBody>
          <a:bodyPr wrap="none" lIns="0" tIns="0" rIns="0" bIns="0" anchor="t" anchorCtr="0">
            <a:spAutoFit/>
          </a:bodyPr>
          <a:lstStyle/>
          <a:p>
            <a:pPr algn="ctr"/>
            <a:r>
              <a:rPr lang="zh-CN" sz="1350" dirty="0">
                <a:solidFill>
                  <a:srgbClr val="2C3E50"/>
                </a:solidFill>
                <a:latin typeface="Arial" panose="020B0604020202020204"/>
                <a:ea typeface="微软雅黑" panose="020B0503020204020204" charset="-122"/>
                <a:cs typeface="Arial" panose="020B0604020202020204"/>
              </a:rPr>
              <a:t>指数分离率: e^(λt)</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6" name="Rectangle 36"/>
          <p:cNvSpPr/>
          <p:nvPr/>
        </p:nvSpPr>
        <p:spPr>
          <a:xfrm>
            <a:off x="6375400" y="4943475"/>
            <a:ext cx="4953000" cy="552450"/>
          </a:xfrm>
          <a:prstGeom prst="roundRect">
            <a:avLst>
              <a:gd name="adj" fmla="val 10345"/>
            </a:avLst>
          </a:prstGeom>
          <a:solidFill>
            <a:srgbClr val="FFFFFF"/>
          </a:solidFill>
          <a:ln w="14288">
            <a:solidFill>
              <a:srgbClr val="2E86C1"/>
            </a:solidFill>
          </a:ln>
        </p:spPr>
      </p:sp>
      <p:sp>
        <p:nvSpPr>
          <p:cNvPr id="37" name="TextBox 37"/>
          <p:cNvSpPr txBox="1"/>
          <p:nvPr/>
        </p:nvSpPr>
        <p:spPr>
          <a:xfrm>
            <a:off x="7505875" y="4996815"/>
            <a:ext cx="2692051" cy="365760"/>
          </a:xfrm>
          <a:prstGeom prst="rect">
            <a:avLst/>
          </a:prstGeom>
          <a:noFill/>
          <a:ln>
            <a:noFill/>
          </a:ln>
        </p:spPr>
        <p:txBody>
          <a:bodyPr wrap="none" lIns="0" tIns="0" rIns="0" bIns="0" anchor="t" anchorCtr="0">
            <a:spAutoFit/>
          </a:bodyPr>
          <a:lstStyle/>
          <a:p>
            <a:pPr algn="ctr"/>
            <a:r>
              <a:rPr lang="zh-CN" sz="1800" b="1" dirty="0">
                <a:solidFill>
                  <a:srgbClr val="E74C3C"/>
                </a:solidFill>
                <a:latin typeface="Consolas" panose="020B0609020204030204"/>
                <a:ea typeface="微软雅黑" panose="020B0503020204020204" charset="-122"/>
                <a:cs typeface="Consolas" panose="020B0609020204030204"/>
              </a:rPr>
              <a:t>λ_max ≈ 0.050 s⁻¹ &gt; 0</a:t>
            </a:r>
            <a:endParaRPr lang="zh-CN" sz="1800" b="1" dirty="0">
              <a:solidFill>
                <a:srgbClr val="E74C3C"/>
              </a:solidFill>
              <a:latin typeface="Consolas" panose="020B0609020204030204"/>
              <a:ea typeface="微软雅黑" panose="020B0503020204020204" charset="-122"/>
              <a:cs typeface="Consolas" panose="020B0609020204030204"/>
            </a:endParaRPr>
          </a:p>
        </p:txBody>
      </p:sp>
      <p:sp>
        <p:nvSpPr>
          <p:cNvPr id="38" name="TextBox 38"/>
          <p:cNvSpPr txBox="1"/>
          <p:nvPr/>
        </p:nvSpPr>
        <p:spPr>
          <a:xfrm>
            <a:off x="7707924" y="5287327"/>
            <a:ext cx="2287953"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panose="020B0604020202020204"/>
                <a:ea typeface="微软雅黑" panose="020B0503020204020204" charset="-122"/>
                <a:cs typeface="Arial" panose="020B0604020202020204"/>
              </a:rPr>
              <a:t>正 Lyapunov 指数 → 混沌的定量判据</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39" name="Rectangle 39"/>
          <p:cNvSpPr/>
          <p:nvPr/>
        </p:nvSpPr>
        <p:spPr>
          <a:xfrm>
            <a:off x="559435" y="5701030"/>
            <a:ext cx="11049000" cy="590550"/>
          </a:xfrm>
          <a:prstGeom prst="roundRect">
            <a:avLst>
              <a:gd name="adj" fmla="val 12903"/>
            </a:avLst>
          </a:prstGeom>
          <a:solidFill>
            <a:srgbClr val="1A3A5C">
              <a:alpha val="5000"/>
            </a:srgbClr>
          </a:solidFill>
          <a:ln>
            <a:noFill/>
          </a:ln>
        </p:spPr>
      </p:sp>
      <p:sp>
        <p:nvSpPr>
          <p:cNvPr id="40" name="TextBox 40"/>
          <p:cNvSpPr txBox="1"/>
          <p:nvPr/>
        </p:nvSpPr>
        <p:spPr>
          <a:xfrm>
            <a:off x="780415" y="5841048"/>
            <a:ext cx="79038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诊断对比</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41" name="TextBox 41"/>
          <p:cNvSpPr txBox="1"/>
          <p:nvPr/>
        </p:nvSpPr>
        <p:spPr>
          <a:xfrm>
            <a:off x="1971993" y="5849144"/>
            <a:ext cx="4920496"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FFT: 快速定性判断"周期还是混沌"，但无法定量 → 准周期易误判</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1971993" y="6058694"/>
            <a:ext cx="6824734"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Lyapunov: 提供定量混沌强度度量 → 需要多手段交叉诊断，单一指标可能被噪声/瞬态干扰</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07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45" name="图片 44" descr="fft_periodic_vs_chaotic"/>
          <p:cNvPicPr>
            <a:picLocks noChangeAspect="1"/>
          </p:cNvPicPr>
          <p:nvPr/>
        </p:nvPicPr>
        <p:blipFill>
          <a:blip r:embed="rId1"/>
          <a:stretch>
            <a:fillRect/>
          </a:stretch>
        </p:blipFill>
        <p:spPr>
          <a:xfrm>
            <a:off x="953770" y="659130"/>
            <a:ext cx="4065270" cy="3214370"/>
          </a:xfrm>
          <a:prstGeom prst="rect">
            <a:avLst/>
          </a:prstGeom>
        </p:spPr>
      </p:pic>
      <p:pic>
        <p:nvPicPr>
          <p:cNvPr id="46" name="Image 20"/>
          <p:cNvPicPr>
            <a:picLocks noChangeAspect="1"/>
          </p:cNvPicPr>
          <p:nvPr/>
        </p:nvPicPr>
        <p:blipFill>
          <a:blip r:embed="rId2"/>
          <a:stretch>
            <a:fillRect/>
          </a:stretch>
        </p:blipFill>
        <p:spPr>
          <a:xfrm>
            <a:off x="6497955" y="565785"/>
            <a:ext cx="4585335" cy="3240405"/>
          </a:xfrm>
          <a:prstGeom prst="roundRect">
            <a:avLst>
              <a:gd name="adj" fmla="val 3404"/>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5838661"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Poincaré 截面与受迫阻尼分岔图</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4191000" cy="9525"/>
          </a:xfrm>
          <a:custGeom>
            <a:avLst/>
            <a:gdLst/>
            <a:ahLst/>
            <a:cxnLst/>
            <a:rect l="l" t="t" r="r" b="b"/>
            <a:pathLst>
              <a:path w="4191000" h="9525">
                <a:moveTo>
                  <a:pt x="0" y="0"/>
                </a:moveTo>
                <a:lnTo>
                  <a:pt x="4191000" y="0"/>
                </a:lnTo>
              </a:path>
            </a:pathLst>
          </a:custGeom>
          <a:noFill/>
          <a:ln w="19050" cap="rnd">
            <a:solidFill>
              <a:srgbClr val="2E86C1"/>
            </a:solidFill>
          </a:ln>
        </p:spPr>
      </p:sp>
      <p:sp>
        <p:nvSpPr>
          <p:cNvPr id="15" name="Rectangle 15"/>
          <p:cNvSpPr/>
          <p:nvPr/>
        </p:nvSpPr>
        <p:spPr>
          <a:xfrm>
            <a:off x="535305" y="4262755"/>
            <a:ext cx="5429250" cy="1381125"/>
          </a:xfrm>
          <a:prstGeom prst="roundRect">
            <a:avLst>
              <a:gd name="adj" fmla="val 5517"/>
            </a:avLst>
          </a:prstGeom>
          <a:solidFill>
            <a:srgbClr val="F4F6F8"/>
          </a:solidFill>
          <a:ln>
            <a:noFill/>
          </a:ln>
        </p:spPr>
      </p:sp>
      <p:sp>
        <p:nvSpPr>
          <p:cNvPr id="16" name="TextBox 16"/>
          <p:cNvSpPr txBox="1"/>
          <p:nvPr/>
        </p:nvSpPr>
        <p:spPr>
          <a:xfrm>
            <a:off x="752475" y="4389438"/>
            <a:ext cx="2583228"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截面特征与运动类型对应</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17" name="Ellipse 17"/>
          <p:cNvSpPr/>
          <p:nvPr/>
        </p:nvSpPr>
        <p:spPr>
          <a:xfrm>
            <a:off x="821055" y="4805680"/>
            <a:ext cx="95250" cy="95250"/>
          </a:xfrm>
          <a:prstGeom prst="ellipse">
            <a:avLst/>
          </a:prstGeom>
          <a:solidFill>
            <a:srgbClr val="27AE60"/>
          </a:solidFill>
          <a:ln>
            <a:noFill/>
          </a:ln>
        </p:spPr>
      </p:sp>
      <p:sp>
        <p:nvSpPr>
          <p:cNvPr id="18" name="TextBox 18"/>
          <p:cNvSpPr txBox="1"/>
          <p:nvPr/>
        </p:nvSpPr>
        <p:spPr>
          <a:xfrm>
            <a:off x="994410" y="4755198"/>
            <a:ext cx="2041541"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周期运动 → 有限个孤立点</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19" name="Ellipse 19"/>
          <p:cNvSpPr/>
          <p:nvPr/>
        </p:nvSpPr>
        <p:spPr>
          <a:xfrm>
            <a:off x="821055" y="5125085"/>
            <a:ext cx="95250" cy="95250"/>
          </a:xfrm>
          <a:prstGeom prst="ellipse">
            <a:avLst/>
          </a:prstGeom>
          <a:solidFill>
            <a:srgbClr val="2E86C1"/>
          </a:solidFill>
          <a:ln>
            <a:noFill/>
          </a:ln>
        </p:spPr>
      </p:sp>
      <p:sp>
        <p:nvSpPr>
          <p:cNvPr id="20" name="TextBox 20"/>
          <p:cNvSpPr txBox="1"/>
          <p:nvPr/>
        </p:nvSpPr>
        <p:spPr>
          <a:xfrm>
            <a:off x="994410" y="5059998"/>
            <a:ext cx="1861518"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准周期运动 → 闭合曲线</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1" name="Ellipse 21"/>
          <p:cNvSpPr/>
          <p:nvPr/>
        </p:nvSpPr>
        <p:spPr>
          <a:xfrm>
            <a:off x="821055" y="5415280"/>
            <a:ext cx="95250" cy="95250"/>
          </a:xfrm>
          <a:prstGeom prst="ellipse">
            <a:avLst/>
          </a:prstGeom>
          <a:solidFill>
            <a:srgbClr val="E74C3C"/>
          </a:solidFill>
          <a:ln>
            <a:noFill/>
          </a:ln>
        </p:spPr>
      </p:sp>
      <p:sp>
        <p:nvSpPr>
          <p:cNvPr id="22" name="TextBox 22"/>
          <p:cNvSpPr txBox="1"/>
          <p:nvPr/>
        </p:nvSpPr>
        <p:spPr>
          <a:xfrm>
            <a:off x="994410" y="5364798"/>
            <a:ext cx="243759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混沌运动 → 弥散 fractal 结构</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7266305" y="3972243"/>
            <a:ext cx="2822388"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受迫阻尼分岔图 (b=0.5, Ω=2.0)</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34" name="Rectangle 34"/>
          <p:cNvSpPr/>
          <p:nvPr/>
        </p:nvSpPr>
        <p:spPr>
          <a:xfrm>
            <a:off x="6203315" y="4258945"/>
            <a:ext cx="5429250" cy="1380490"/>
          </a:xfrm>
          <a:prstGeom prst="roundRect">
            <a:avLst>
              <a:gd name="adj" fmla="val 5517"/>
            </a:avLst>
          </a:prstGeom>
          <a:solidFill>
            <a:srgbClr val="F4F6F8"/>
          </a:solidFill>
          <a:ln>
            <a:noFill/>
          </a:ln>
        </p:spPr>
      </p:sp>
      <p:sp>
        <p:nvSpPr>
          <p:cNvPr id="35" name="TextBox 35"/>
          <p:cNvSpPr txBox="1"/>
          <p:nvPr/>
        </p:nvSpPr>
        <p:spPr>
          <a:xfrm>
            <a:off x="6420485" y="4384993"/>
            <a:ext cx="2987528" cy="253365"/>
          </a:xfrm>
          <a:prstGeom prst="rect">
            <a:avLst/>
          </a:prstGeom>
          <a:noFill/>
          <a:ln>
            <a:noFill/>
          </a:ln>
        </p:spPr>
        <p:txBody>
          <a:bodyPr wrap="squar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Feigenbaum 倍周期分岔路径</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36" name="Rectangle 36"/>
          <p:cNvSpPr/>
          <p:nvPr/>
        </p:nvSpPr>
        <p:spPr>
          <a:xfrm>
            <a:off x="6441440" y="4705985"/>
            <a:ext cx="1428750" cy="419100"/>
          </a:xfrm>
          <a:prstGeom prst="roundRect">
            <a:avLst>
              <a:gd name="adj" fmla="val 13636"/>
            </a:avLst>
          </a:prstGeom>
          <a:solidFill>
            <a:srgbClr val="27AE60">
              <a:alpha val="10000"/>
            </a:srgbClr>
          </a:solidFill>
          <a:ln w="9525">
            <a:solidFill>
              <a:srgbClr val="27AE60"/>
            </a:solidFill>
          </a:ln>
        </p:spPr>
      </p:sp>
      <p:sp>
        <p:nvSpPr>
          <p:cNvPr id="37" name="TextBox 37"/>
          <p:cNvSpPr txBox="1"/>
          <p:nvPr/>
        </p:nvSpPr>
        <p:spPr>
          <a:xfrm>
            <a:off x="6880142" y="4747895"/>
            <a:ext cx="551345" cy="243840"/>
          </a:xfrm>
          <a:prstGeom prst="rect">
            <a:avLst/>
          </a:prstGeom>
          <a:noFill/>
          <a:ln>
            <a:noFill/>
          </a:ln>
        </p:spPr>
        <p:txBody>
          <a:bodyPr wrap="none" lIns="0" tIns="0" rIns="0" bIns="0" anchor="t" anchorCtr="0">
            <a:spAutoFit/>
          </a:bodyPr>
          <a:lstStyle/>
          <a:p>
            <a:pPr algn="ctr"/>
            <a:r>
              <a:rPr lang="zh-CN" sz="1200" b="1" dirty="0">
                <a:solidFill>
                  <a:srgbClr val="27AE60"/>
                </a:solidFill>
                <a:latin typeface="Arial" panose="020B0604020202020204"/>
                <a:ea typeface="微软雅黑" panose="020B0503020204020204" charset="-122"/>
                <a:cs typeface="Arial" panose="020B0604020202020204"/>
              </a:rPr>
              <a:t>A &lt; 1.0</a:t>
            </a:r>
            <a:endParaRPr lang="zh-CN" sz="1200" b="1" dirty="0">
              <a:solidFill>
                <a:srgbClr val="27AE60"/>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6711926" y="4935537"/>
            <a:ext cx="887778"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panose="020B0604020202020204"/>
                <a:ea typeface="微软雅黑" panose="020B0503020204020204" charset="-122"/>
                <a:cs typeface="Arial" panose="020B0604020202020204"/>
              </a:rPr>
              <a:t>周期-1 极限环</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7915299" y="4788853"/>
            <a:ext cx="133302"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panose="020B0604020202020204"/>
                <a:ea typeface="微软雅黑" panose="020B0503020204020204" charset="-122"/>
                <a:cs typeface="Arial" panose="020B0604020202020204"/>
              </a:rPr>
              <a:t>→</a:t>
            </a:r>
            <a:endParaRPr lang="zh-CN" sz="1350" dirty="0">
              <a:solidFill>
                <a:srgbClr val="7F8C8D"/>
              </a:solidFill>
              <a:latin typeface="Arial" panose="020B0604020202020204"/>
              <a:ea typeface="微软雅黑" panose="020B0503020204020204" charset="-122"/>
              <a:cs typeface="Arial" panose="020B0604020202020204"/>
            </a:endParaRPr>
          </a:p>
        </p:txBody>
      </p:sp>
      <p:sp>
        <p:nvSpPr>
          <p:cNvPr id="40" name="Rectangle 40"/>
          <p:cNvSpPr/>
          <p:nvPr/>
        </p:nvSpPr>
        <p:spPr>
          <a:xfrm>
            <a:off x="8124825" y="4705985"/>
            <a:ext cx="1428750" cy="419100"/>
          </a:xfrm>
          <a:prstGeom prst="roundRect">
            <a:avLst>
              <a:gd name="adj" fmla="val 13636"/>
            </a:avLst>
          </a:prstGeom>
          <a:solidFill>
            <a:srgbClr val="F59E0B">
              <a:alpha val="10000"/>
            </a:srgbClr>
          </a:solidFill>
          <a:ln w="9525">
            <a:solidFill>
              <a:srgbClr val="F59E0B"/>
            </a:solidFill>
          </a:ln>
        </p:spPr>
      </p:sp>
      <p:sp>
        <p:nvSpPr>
          <p:cNvPr id="41" name="TextBox 41"/>
          <p:cNvSpPr txBox="1"/>
          <p:nvPr/>
        </p:nvSpPr>
        <p:spPr>
          <a:xfrm>
            <a:off x="8433603" y="4747895"/>
            <a:ext cx="778173" cy="184150"/>
          </a:xfrm>
          <a:prstGeom prst="rect">
            <a:avLst/>
          </a:prstGeom>
          <a:noFill/>
          <a:ln>
            <a:noFill/>
          </a:ln>
        </p:spPr>
        <p:txBody>
          <a:bodyPr wrap="square" lIns="0" tIns="0" rIns="0" bIns="0" anchor="t" anchorCtr="0">
            <a:spAutoFit/>
          </a:bodyPr>
          <a:lstStyle/>
          <a:p>
            <a:pPr algn="ctr"/>
            <a:r>
              <a:rPr lang="zh-CN" sz="1200" b="1" dirty="0">
                <a:solidFill>
                  <a:srgbClr val="E67E22"/>
                </a:solidFill>
                <a:latin typeface="Arial" panose="020B0604020202020204"/>
                <a:ea typeface="微软雅黑" panose="020B0503020204020204" charset="-122"/>
                <a:cs typeface="Arial" panose="020B0604020202020204"/>
              </a:rPr>
              <a:t>A~1.0–1.3</a:t>
            </a:r>
            <a:endParaRPr lang="zh-CN" sz="1200" b="1" dirty="0">
              <a:solidFill>
                <a:srgbClr val="E67E22"/>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8459311" y="4935537"/>
            <a:ext cx="726758"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panose="020B0604020202020204"/>
                <a:ea typeface="微软雅黑" panose="020B0503020204020204" charset="-122"/>
                <a:cs typeface="Arial" panose="020B0604020202020204"/>
              </a:rPr>
              <a:t>倍周期级联</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9582174" y="4788853"/>
            <a:ext cx="133302"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panose="020B0604020202020204"/>
                <a:ea typeface="微软雅黑" panose="020B0503020204020204" charset="-122"/>
                <a:cs typeface="Arial" panose="020B0604020202020204"/>
              </a:rPr>
              <a:t>→</a:t>
            </a:r>
            <a:endParaRPr lang="zh-CN" sz="1350" dirty="0">
              <a:solidFill>
                <a:srgbClr val="7F8C8D"/>
              </a:solidFill>
              <a:latin typeface="Arial" panose="020B0604020202020204"/>
              <a:ea typeface="微软雅黑" panose="020B0503020204020204" charset="-122"/>
              <a:cs typeface="Arial" panose="020B0604020202020204"/>
            </a:endParaRPr>
          </a:p>
        </p:txBody>
      </p:sp>
      <p:sp>
        <p:nvSpPr>
          <p:cNvPr id="44" name="Rectangle 44"/>
          <p:cNvSpPr/>
          <p:nvPr/>
        </p:nvSpPr>
        <p:spPr>
          <a:xfrm>
            <a:off x="9775190" y="4705985"/>
            <a:ext cx="1619250" cy="419100"/>
          </a:xfrm>
          <a:prstGeom prst="roundRect">
            <a:avLst>
              <a:gd name="adj" fmla="val 13636"/>
            </a:avLst>
          </a:prstGeom>
          <a:solidFill>
            <a:srgbClr val="E74C3C">
              <a:alpha val="10000"/>
            </a:srgbClr>
          </a:solidFill>
          <a:ln w="9525">
            <a:solidFill>
              <a:srgbClr val="E74C3C"/>
            </a:solidFill>
          </a:ln>
        </p:spPr>
      </p:sp>
      <p:sp>
        <p:nvSpPr>
          <p:cNvPr id="45" name="TextBox 45"/>
          <p:cNvSpPr txBox="1"/>
          <p:nvPr/>
        </p:nvSpPr>
        <p:spPr>
          <a:xfrm>
            <a:off x="10309142" y="4747895"/>
            <a:ext cx="551345" cy="184150"/>
          </a:xfrm>
          <a:prstGeom prst="rect">
            <a:avLst/>
          </a:prstGeom>
          <a:noFill/>
          <a:ln>
            <a:noFill/>
          </a:ln>
        </p:spPr>
        <p:txBody>
          <a:bodyPr wrap="square" lIns="0" tIns="0" rIns="0" bIns="0" anchor="t" anchorCtr="0">
            <a:spAutoFit/>
          </a:bodyPr>
          <a:lstStyle/>
          <a:p>
            <a:pPr algn="ctr"/>
            <a:r>
              <a:rPr lang="zh-CN" sz="1200" b="1" dirty="0">
                <a:solidFill>
                  <a:srgbClr val="E74C3C"/>
                </a:solidFill>
                <a:latin typeface="Arial" panose="020B0604020202020204"/>
                <a:ea typeface="微软雅黑" panose="020B0503020204020204" charset="-122"/>
                <a:cs typeface="Arial" panose="020B0604020202020204"/>
              </a:rPr>
              <a:t>A &gt; 1.3</a:t>
            </a:r>
            <a:endParaRPr lang="zh-CN" sz="1200" b="1" dirty="0">
              <a:solidFill>
                <a:srgbClr val="E74C3C"/>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10361454" y="4935537"/>
            <a:ext cx="446722" cy="213360"/>
          </a:xfrm>
          <a:prstGeom prst="rect">
            <a:avLst/>
          </a:prstGeom>
          <a:noFill/>
          <a:ln>
            <a:noFill/>
          </a:ln>
        </p:spPr>
        <p:txBody>
          <a:bodyPr wrap="none" lIns="0" tIns="0" rIns="0" bIns="0" anchor="t" anchorCtr="0">
            <a:spAutoFit/>
          </a:bodyPr>
          <a:lstStyle/>
          <a:p>
            <a:pPr algn="ctr"/>
            <a:r>
              <a:rPr lang="zh-CN" sz="1050" dirty="0">
                <a:solidFill>
                  <a:srgbClr val="2C3E50"/>
                </a:solidFill>
                <a:latin typeface="Arial" panose="020B0604020202020204"/>
                <a:ea typeface="微软雅黑" panose="020B0503020204020204" charset="-122"/>
                <a:cs typeface="Arial" panose="020B0604020202020204"/>
              </a:rPr>
              <a:t>混沌带</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47" name="Rectangle 47"/>
          <p:cNvSpPr/>
          <p:nvPr/>
        </p:nvSpPr>
        <p:spPr>
          <a:xfrm>
            <a:off x="535305" y="5676265"/>
            <a:ext cx="11049000" cy="838200"/>
          </a:xfrm>
          <a:prstGeom prst="roundRect">
            <a:avLst>
              <a:gd name="adj" fmla="val 9091"/>
            </a:avLst>
          </a:prstGeom>
          <a:solidFill>
            <a:srgbClr val="1A3A5C">
              <a:alpha val="5000"/>
            </a:srgbClr>
          </a:solidFill>
          <a:ln>
            <a:noFill/>
          </a:ln>
        </p:spPr>
      </p:sp>
      <p:sp>
        <p:nvSpPr>
          <p:cNvPr id="48" name="TextBox 48"/>
          <p:cNvSpPr txBox="1"/>
          <p:nvPr/>
        </p:nvSpPr>
        <p:spPr>
          <a:xfrm>
            <a:off x="756285" y="5816283"/>
            <a:ext cx="79038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物理机制</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49" name="TextBox 49"/>
          <p:cNvSpPr txBox="1"/>
          <p:nvPr/>
        </p:nvSpPr>
        <p:spPr>
          <a:xfrm>
            <a:off x="1947863" y="5824379"/>
            <a:ext cx="6357176"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弱驱动：阻尼主导 → 周期-1极限环 | 中驱动：非线性增强 → 极限环失稳 → 倍周期分岔</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1947863" y="6052979"/>
            <a:ext cx="6943749"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强驱动：分岔级联 → 混沌吸引子形成 | 与Duffing振子、受迫阻尼单摆具有相同的普适性特征</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1949767" y="6297771"/>
            <a:ext cx="514421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分岔图的混沌带内部可能隐藏周期窗口——更高分辨率扫描可探索这些精细结构</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08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54" name="图片 53" descr="poincare_sections"/>
          <p:cNvPicPr>
            <a:picLocks noChangeAspect="1"/>
          </p:cNvPicPr>
          <p:nvPr/>
        </p:nvPicPr>
        <p:blipFill>
          <a:blip r:embed="rId1"/>
          <a:stretch>
            <a:fillRect/>
          </a:stretch>
        </p:blipFill>
        <p:spPr>
          <a:xfrm>
            <a:off x="643255" y="725170"/>
            <a:ext cx="4526280" cy="3371850"/>
          </a:xfrm>
          <a:prstGeom prst="rect">
            <a:avLst/>
          </a:prstGeom>
        </p:spPr>
      </p:pic>
      <p:pic>
        <p:nvPicPr>
          <p:cNvPr id="55" name="图片 54" descr="bifurcation_dense"/>
          <p:cNvPicPr>
            <a:picLocks noChangeAspect="1"/>
          </p:cNvPicPr>
          <p:nvPr/>
        </p:nvPicPr>
        <p:blipFill>
          <a:blip r:embed="rId2"/>
          <a:stretch>
            <a:fillRect/>
          </a:stretch>
        </p:blipFill>
        <p:spPr>
          <a:xfrm>
            <a:off x="6203950" y="502285"/>
            <a:ext cx="5001260" cy="3458210"/>
          </a:xfrm>
          <a:prstGeom prst="rect">
            <a:avLst/>
          </a:prstGeom>
        </p:spPr>
      </p:pic>
      <p:sp>
        <p:nvSpPr>
          <p:cNvPr id="13" name="TextBox 13"/>
          <p:cNvSpPr txBox="1"/>
          <p:nvPr/>
        </p:nvSpPr>
        <p:spPr>
          <a:xfrm>
            <a:off x="1044575" y="4110673"/>
            <a:ext cx="2850742"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Poincaré 截面 (θ₁=0, 正向穿越)</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14" name="TextBox 14"/>
          <p:cNvSpPr txBox="1"/>
          <p:nvPr/>
        </p:nvSpPr>
        <p:spPr>
          <a:xfrm>
            <a:off x="3432492" y="4142581"/>
            <a:ext cx="344900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T=200s · 4维相空间→2维截面 · 弥散点云=混沌特征</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7161847" y="4218781"/>
            <a:ext cx="397406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200个A值，Stroboscopic采样，分辨率较80值版提升2.5倍</a:t>
            </a:r>
            <a:endParaRPr lang="zh-CN" sz="1125"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3810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5260038"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参数空间混沌地图与关联维数</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3810000" cy="9525"/>
          </a:xfrm>
          <a:custGeom>
            <a:avLst/>
            <a:gdLst/>
            <a:ahLst/>
            <a:cxnLst/>
            <a:rect l="l" t="t" r="r" b="b"/>
            <a:pathLst>
              <a:path w="3810000" h="9525">
                <a:moveTo>
                  <a:pt x="0" y="0"/>
                </a:moveTo>
                <a:lnTo>
                  <a:pt x="3810000" y="0"/>
                </a:lnTo>
              </a:path>
            </a:pathLst>
          </a:custGeom>
          <a:noFill/>
          <a:ln w="19050" cap="rnd">
            <a:solidFill>
              <a:srgbClr val="2E86C1"/>
            </a:solidFill>
          </a:ln>
        </p:spPr>
      </p:sp>
      <p:sp>
        <p:nvSpPr>
          <p:cNvPr id="20" name="TextBox 20"/>
          <p:cNvSpPr txBox="1"/>
          <p:nvPr/>
        </p:nvSpPr>
        <p:spPr>
          <a:xfrm>
            <a:off x="1090930" y="3924618"/>
            <a:ext cx="3039766"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(R, E₀) 参数空间 Lyapunov 热力图</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22" name="Rectangle 22"/>
          <p:cNvSpPr/>
          <p:nvPr/>
        </p:nvSpPr>
        <p:spPr>
          <a:xfrm>
            <a:off x="571500" y="4133850"/>
            <a:ext cx="5429250" cy="1762125"/>
          </a:xfrm>
          <a:prstGeom prst="roundRect">
            <a:avLst>
              <a:gd name="adj" fmla="val 4324"/>
            </a:avLst>
          </a:prstGeom>
          <a:solidFill>
            <a:srgbClr val="F4F6F8"/>
          </a:solidFill>
          <a:ln>
            <a:noFill/>
          </a:ln>
        </p:spPr>
      </p:sp>
      <p:sp>
        <p:nvSpPr>
          <p:cNvPr id="23" name="TextBox 23"/>
          <p:cNvSpPr txBox="1"/>
          <p:nvPr/>
        </p:nvSpPr>
        <p:spPr>
          <a:xfrm>
            <a:off x="788670" y="4260533"/>
            <a:ext cx="1890141"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参数空间相图特征</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24" name="Ellipse 24"/>
          <p:cNvSpPr/>
          <p:nvPr/>
        </p:nvSpPr>
        <p:spPr>
          <a:xfrm>
            <a:off x="857250" y="4676775"/>
            <a:ext cx="95250" cy="95250"/>
          </a:xfrm>
          <a:prstGeom prst="ellipse">
            <a:avLst/>
          </a:prstGeom>
          <a:solidFill>
            <a:srgbClr val="2E86C1"/>
          </a:solidFill>
          <a:ln>
            <a:noFill/>
          </a:ln>
        </p:spPr>
      </p:sp>
      <p:sp>
        <p:nvSpPr>
          <p:cNvPr id="25" name="TextBox 25"/>
          <p:cNvSpPr txBox="1"/>
          <p:nvPr/>
        </p:nvSpPr>
        <p:spPr>
          <a:xfrm>
            <a:off x="1030605" y="4626293"/>
            <a:ext cx="3733752"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低能量区 (E₀ ≲ -15 J)：λ_max ≈ 0，规则运动</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6" name="Ellipse 26"/>
          <p:cNvSpPr/>
          <p:nvPr/>
        </p:nvSpPr>
        <p:spPr>
          <a:xfrm>
            <a:off x="857250" y="4981575"/>
            <a:ext cx="95250" cy="95250"/>
          </a:xfrm>
          <a:prstGeom prst="ellipse">
            <a:avLst/>
          </a:prstGeom>
          <a:solidFill>
            <a:srgbClr val="E74C3C"/>
          </a:solidFill>
          <a:ln>
            <a:noFill/>
          </a:ln>
        </p:spPr>
      </p:sp>
      <p:sp>
        <p:nvSpPr>
          <p:cNvPr id="27" name="TextBox 27"/>
          <p:cNvSpPr txBox="1"/>
          <p:nvPr/>
        </p:nvSpPr>
        <p:spPr>
          <a:xfrm>
            <a:off x="1030605" y="4931093"/>
            <a:ext cx="4138803"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高能量区：λ_max &gt; 0，混沌 → 随能量增大进入混沌</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28" name="Ellipse 28"/>
          <p:cNvSpPr/>
          <p:nvPr/>
        </p:nvSpPr>
        <p:spPr>
          <a:xfrm>
            <a:off x="857250" y="5286375"/>
            <a:ext cx="95250" cy="95250"/>
          </a:xfrm>
          <a:prstGeom prst="ellipse">
            <a:avLst/>
          </a:prstGeom>
          <a:solidFill>
            <a:srgbClr val="1A3A5C"/>
          </a:solidFill>
          <a:ln>
            <a:noFill/>
          </a:ln>
        </p:spPr>
      </p:sp>
      <p:sp>
        <p:nvSpPr>
          <p:cNvPr id="29" name="TextBox 29"/>
          <p:cNvSpPr txBox="1"/>
          <p:nvPr/>
        </p:nvSpPr>
        <p:spPr>
          <a:xfrm>
            <a:off x="1030605" y="5235893"/>
            <a:ext cx="3634740"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R ≈ 1（等质量）混沌最强：惯性耦合项最大化</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30" name="Ellipse 30"/>
          <p:cNvSpPr/>
          <p:nvPr/>
        </p:nvSpPr>
        <p:spPr>
          <a:xfrm>
            <a:off x="857250" y="5591175"/>
            <a:ext cx="95250" cy="95250"/>
          </a:xfrm>
          <a:prstGeom prst="ellipse">
            <a:avLst/>
          </a:prstGeom>
          <a:solidFill>
            <a:srgbClr val="7F8C8D"/>
          </a:solidFill>
          <a:ln>
            <a:noFill/>
          </a:ln>
        </p:spPr>
      </p:sp>
      <p:sp>
        <p:nvSpPr>
          <p:cNvPr id="31" name="TextBox 31"/>
          <p:cNvSpPr txBox="1"/>
          <p:nvPr/>
        </p:nvSpPr>
        <p:spPr>
          <a:xfrm>
            <a:off x="1030605" y="5540693"/>
            <a:ext cx="4381833" cy="274320"/>
          </a:xfrm>
          <a:prstGeom prst="rect">
            <a:avLst/>
          </a:prstGeom>
          <a:noFill/>
          <a:ln>
            <a:noFill/>
          </a:ln>
        </p:spPr>
        <p:txBody>
          <a:bodyPr wrap="none" lIns="0" tIns="0" rIns="0" bIns="0" anchor="t" anchorCtr="0">
            <a:spAutoFit/>
          </a:bodyPr>
          <a:lstStyle/>
          <a:p>
            <a:pPr algn="l"/>
            <a:r>
              <a:rPr lang="zh-CN" sz="1350" dirty="0">
                <a:solidFill>
                  <a:srgbClr val="2C3E50"/>
                </a:solidFill>
                <a:latin typeface="Arial" panose="020B0604020202020204"/>
                <a:ea typeface="微软雅黑" panose="020B0503020204020204" charset="-122"/>
                <a:cs typeface="Arial" panose="020B0604020202020204"/>
              </a:rPr>
              <a:t>R ≪ 1 或 R ≫ 1：混沌减弱（退化为驱动单摆/受迫振子）</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7259320" y="3654743"/>
            <a:ext cx="3625739"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关联维数 (Grassberger-Procaccia 算法)</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44" name="TextBox 44"/>
          <p:cNvSpPr txBox="1"/>
          <p:nvPr/>
        </p:nvSpPr>
        <p:spPr>
          <a:xfrm>
            <a:off x="7072947" y="3897471"/>
            <a:ext cx="389155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时延嵌入 τ=10 · 嵌入维数 m=2–8 · D₂ 从 1.12 收敛至 1.24</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45" name="Rectangle 45"/>
          <p:cNvSpPr/>
          <p:nvPr/>
        </p:nvSpPr>
        <p:spPr>
          <a:xfrm>
            <a:off x="6191250" y="4133850"/>
            <a:ext cx="5429250" cy="1762125"/>
          </a:xfrm>
          <a:prstGeom prst="roundRect">
            <a:avLst>
              <a:gd name="adj" fmla="val 4324"/>
            </a:avLst>
          </a:prstGeom>
          <a:solidFill>
            <a:srgbClr val="F4F6F8"/>
          </a:solidFill>
          <a:ln>
            <a:noFill/>
          </a:ln>
        </p:spPr>
      </p:sp>
      <p:sp>
        <p:nvSpPr>
          <p:cNvPr id="46" name="TextBox 46"/>
          <p:cNvSpPr txBox="1"/>
          <p:nvPr/>
        </p:nvSpPr>
        <p:spPr>
          <a:xfrm>
            <a:off x="6408420" y="4260533"/>
            <a:ext cx="1774627"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D₂ ≈ 1.24 的含义</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47" name="Rectangle 47"/>
          <p:cNvSpPr/>
          <p:nvPr/>
        </p:nvSpPr>
        <p:spPr>
          <a:xfrm>
            <a:off x="6429375" y="4581525"/>
            <a:ext cx="4953000" cy="495300"/>
          </a:xfrm>
          <a:prstGeom prst="roundRect">
            <a:avLst>
              <a:gd name="adj" fmla="val 11538"/>
            </a:avLst>
          </a:prstGeom>
          <a:solidFill>
            <a:srgbClr val="FFFFFF"/>
          </a:solidFill>
          <a:ln w="9525">
            <a:solidFill>
              <a:srgbClr val="2E86C1"/>
            </a:solidFill>
          </a:ln>
        </p:spPr>
      </p:sp>
      <p:sp>
        <p:nvSpPr>
          <p:cNvPr id="48" name="TextBox 48"/>
          <p:cNvSpPr txBox="1"/>
          <p:nvPr/>
        </p:nvSpPr>
        <p:spPr>
          <a:xfrm>
            <a:off x="7144987" y="4664393"/>
            <a:ext cx="3521776" cy="274320"/>
          </a:xfrm>
          <a:prstGeom prst="rect">
            <a:avLst/>
          </a:prstGeom>
          <a:noFill/>
          <a:ln>
            <a:noFill/>
          </a:ln>
        </p:spPr>
        <p:txBody>
          <a:bodyPr wrap="none" lIns="0" tIns="0" rIns="0" bIns="0" anchor="t" anchorCtr="0">
            <a:spAutoFit/>
          </a:bodyPr>
          <a:lstStyle/>
          <a:p>
            <a:pPr algn="ctr"/>
            <a:r>
              <a:rPr lang="zh-CN" sz="1350" b="1" dirty="0">
                <a:solidFill>
                  <a:srgbClr val="2C3E50"/>
                </a:solidFill>
                <a:latin typeface="Arial" panose="020B0604020202020204"/>
                <a:ea typeface="微软雅黑" panose="020B0503020204020204" charset="-122"/>
                <a:cs typeface="Arial" panose="020B0604020202020204"/>
              </a:rPr>
              <a:t>吸引子介于曲线 (D=1) 和曲面 (D=2) 之间</a:t>
            </a:r>
            <a:endParaRPr lang="zh-CN" sz="1350" b="1" dirty="0">
              <a:solidFill>
                <a:srgbClr val="2C3E50"/>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7035105" y="4879181"/>
            <a:ext cx="3741539" cy="228600"/>
          </a:xfrm>
          <a:prstGeom prst="rect">
            <a:avLst/>
          </a:prstGeom>
          <a:noFill/>
          <a:ln>
            <a:noFill/>
          </a:ln>
        </p:spPr>
        <p:txBody>
          <a:bodyPr wrap="none" lIns="0" tIns="0" rIns="0" bIns="0" anchor="t" anchorCtr="0">
            <a:spAutoFit/>
          </a:bodyPr>
          <a:lstStyle/>
          <a:p>
            <a:pPr algn="ctr"/>
            <a:r>
              <a:rPr lang="zh-CN" sz="1125" dirty="0">
                <a:solidFill>
                  <a:srgbClr val="2C3E50"/>
                </a:solidFill>
                <a:latin typeface="Arial" panose="020B0604020202020204"/>
                <a:ea typeface="微软雅黑" panose="020B0503020204020204" charset="-122"/>
                <a:cs typeface="Arial" panose="020B0604020202020204"/>
              </a:rPr>
              <a:t>→ fractal 几何结构，耗散将吸引子压缩到低维子流形上</a:t>
            </a:r>
            <a:endParaRPr lang="zh-CN" sz="1125" dirty="0">
              <a:solidFill>
                <a:srgbClr val="2C3E50"/>
              </a:solidFill>
              <a:latin typeface="Arial" panose="020B0604020202020204"/>
              <a:ea typeface="微软雅黑" panose="020B0503020204020204" charset="-122"/>
              <a:cs typeface="Arial" panose="020B0604020202020204"/>
            </a:endParaRPr>
          </a:p>
        </p:txBody>
      </p:sp>
      <p:sp>
        <p:nvSpPr>
          <p:cNvPr id="50" name="Rectangle 50"/>
          <p:cNvSpPr/>
          <p:nvPr/>
        </p:nvSpPr>
        <p:spPr>
          <a:xfrm>
            <a:off x="6480810" y="5236210"/>
            <a:ext cx="4953000" cy="495300"/>
          </a:xfrm>
          <a:prstGeom prst="roundRect">
            <a:avLst>
              <a:gd name="adj" fmla="val 11538"/>
            </a:avLst>
          </a:prstGeom>
          <a:solidFill>
            <a:srgbClr val="FFFFFF"/>
          </a:solidFill>
          <a:ln>
            <a:noFill/>
          </a:ln>
        </p:spPr>
      </p:sp>
      <p:sp>
        <p:nvSpPr>
          <p:cNvPr id="51" name="TextBox 51"/>
          <p:cNvSpPr txBox="1"/>
          <p:nvPr/>
        </p:nvSpPr>
        <p:spPr>
          <a:xfrm>
            <a:off x="6926485" y="5254943"/>
            <a:ext cx="3958780" cy="274320"/>
          </a:xfrm>
          <a:prstGeom prst="rect">
            <a:avLst/>
          </a:prstGeom>
          <a:noFill/>
          <a:ln>
            <a:noFill/>
          </a:ln>
        </p:spPr>
        <p:txBody>
          <a:bodyPr wrap="none" lIns="0" tIns="0" rIns="0" bIns="0" anchor="t" anchorCtr="0">
            <a:spAutoFit/>
          </a:bodyPr>
          <a:lstStyle/>
          <a:p>
            <a:pPr algn="ctr"/>
            <a:r>
              <a:rPr lang="zh-CN" sz="1350" dirty="0">
                <a:solidFill>
                  <a:srgbClr val="2C3E50"/>
                </a:solidFill>
                <a:latin typeface="Arial" panose="020B0604020202020204"/>
                <a:ea typeface="微软雅黑" panose="020B0503020204020204" charset="-122"/>
                <a:cs typeface="Arial" panose="020B0604020202020204"/>
              </a:rPr>
              <a:t>与 Kaplan-Yorke 猜想一致：λ₁ &gt; 0 且 λ₁+λ₂ &lt; 0</a:t>
            </a:r>
            <a:endParaRPr lang="zh-CN" sz="1350" dirty="0">
              <a:solidFill>
                <a:srgbClr val="2C3E50"/>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6847582" y="5469731"/>
            <a:ext cx="411658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耗散 (∇·f = -2b &lt; 0) → 相空间体积持续收缩到 attractor 上</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53" name="Rectangle 53"/>
          <p:cNvSpPr/>
          <p:nvPr/>
        </p:nvSpPr>
        <p:spPr>
          <a:xfrm>
            <a:off x="583565" y="5962015"/>
            <a:ext cx="11049000" cy="552450"/>
          </a:xfrm>
          <a:prstGeom prst="roundRect">
            <a:avLst>
              <a:gd name="adj" fmla="val 13793"/>
            </a:avLst>
          </a:prstGeom>
          <a:solidFill>
            <a:srgbClr val="1A3A5C">
              <a:alpha val="5000"/>
            </a:srgbClr>
          </a:solidFill>
          <a:ln>
            <a:noFill/>
          </a:ln>
        </p:spPr>
      </p:sp>
      <p:sp>
        <p:nvSpPr>
          <p:cNvPr id="54" name="TextBox 54"/>
          <p:cNvSpPr txBox="1"/>
          <p:nvPr/>
        </p:nvSpPr>
        <p:spPr>
          <a:xfrm>
            <a:off x="804545" y="6073457"/>
            <a:ext cx="601361"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panose="020B0502040204020203"/>
                <a:ea typeface="黑体" panose="02010609060101010101" charset="-122"/>
                <a:cs typeface="Segoe UI" panose="020B0502040204020203"/>
              </a:rPr>
              <a:t>互补性</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55" name="TextBox 55"/>
          <p:cNvSpPr txBox="1"/>
          <p:nvPr/>
        </p:nvSpPr>
        <p:spPr>
          <a:xfrm>
            <a:off x="1710373" y="6081554"/>
            <a:ext cx="4656963"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Lyapunov 指数回答"相邻轨道是否指数分离？" (动力学视角)</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6366828" y="6058059"/>
            <a:ext cx="4316921" cy="259080"/>
          </a:xfrm>
          <a:prstGeom prst="rect">
            <a:avLst/>
          </a:prstGeom>
          <a:noFill/>
          <a:ln>
            <a:noFill/>
          </a:ln>
        </p:spPr>
        <p:txBody>
          <a:bodyPr wrap="none" lIns="0" tIns="0" rIns="0" bIns="0" anchor="t" anchorCtr="0">
            <a:spAutoFit/>
          </a:bodyPr>
          <a:lstStyle/>
          <a:p>
            <a:pPr algn="l"/>
            <a:r>
              <a:rPr lang="zh-CN" sz="1275" dirty="0">
                <a:solidFill>
                  <a:srgbClr val="2C3E50"/>
                </a:solidFill>
                <a:latin typeface="Arial" panose="020B0604020202020204"/>
                <a:ea typeface="微软雅黑" panose="020B0503020204020204" charset="-122"/>
                <a:cs typeface="Arial" panose="020B0604020202020204"/>
              </a:rPr>
              <a:t>关联维数 D₂ 回答"吸引子占据了几维空间？" (几何视角)</a:t>
            </a:r>
            <a:endParaRPr lang="zh-CN" sz="1275" dirty="0">
              <a:solidFill>
                <a:srgbClr val="2C3E50"/>
              </a:solidFill>
              <a:latin typeface="Arial" panose="020B0604020202020204"/>
              <a:ea typeface="微软雅黑" panose="020B0503020204020204" charset="-122"/>
              <a:cs typeface="Arial" panose="020B0604020202020204"/>
            </a:endParaRPr>
          </a:p>
        </p:txBody>
      </p:sp>
      <p:sp>
        <p:nvSpPr>
          <p:cNvPr id="57" name="TextBox 57"/>
          <p:cNvSpPr txBox="1"/>
          <p:nvPr/>
        </p:nvSpPr>
        <p:spPr>
          <a:xfrm>
            <a:off x="3817243" y="6316821"/>
            <a:ext cx="4581644"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两者从动力学不稳定 + 几何 fractal 两个角度完整刻画了混沌吸引子</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11205067" y="6514624"/>
            <a:ext cx="427815"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09 / 10</a:t>
            </a:r>
            <a:endParaRPr lang="zh-CN" sz="975" dirty="0">
              <a:solidFill>
                <a:srgbClr val="7F8C8D"/>
              </a:solidFill>
              <a:latin typeface="Arial" panose="020B0604020202020204"/>
              <a:ea typeface="微软雅黑" panose="020B0503020204020204" charset="-122"/>
              <a:cs typeface="Arial" panose="020B0604020202020204"/>
            </a:endParaRPr>
          </a:p>
        </p:txBody>
      </p:sp>
      <p:pic>
        <p:nvPicPr>
          <p:cNvPr id="60" name="图片 59" descr="chaos_map"/>
          <p:cNvPicPr>
            <a:picLocks noChangeAspect="1"/>
          </p:cNvPicPr>
          <p:nvPr/>
        </p:nvPicPr>
        <p:blipFill>
          <a:blip r:embed="rId1"/>
          <a:stretch>
            <a:fillRect/>
          </a:stretch>
        </p:blipFill>
        <p:spPr>
          <a:xfrm>
            <a:off x="535305" y="659765"/>
            <a:ext cx="4448175" cy="3265805"/>
          </a:xfrm>
          <a:prstGeom prst="rect">
            <a:avLst/>
          </a:prstGeom>
        </p:spPr>
      </p:pic>
      <p:pic>
        <p:nvPicPr>
          <p:cNvPr id="61" name="图片 60" descr="correlation_dimension"/>
          <p:cNvPicPr>
            <a:picLocks noChangeAspect="1"/>
          </p:cNvPicPr>
          <p:nvPr/>
        </p:nvPicPr>
        <p:blipFill>
          <a:blip r:embed="rId2"/>
          <a:stretch>
            <a:fillRect/>
          </a:stretch>
        </p:blipFill>
        <p:spPr>
          <a:xfrm>
            <a:off x="5677535" y="1257935"/>
            <a:ext cx="6344920" cy="1885950"/>
          </a:xfrm>
          <a:prstGeom prst="rect">
            <a:avLst/>
          </a:prstGeom>
        </p:spPr>
      </p:pic>
      <p:sp>
        <p:nvSpPr>
          <p:cNvPr id="21" name="TextBox 21"/>
          <p:cNvSpPr txBox="1"/>
          <p:nvPr/>
        </p:nvSpPr>
        <p:spPr>
          <a:xfrm>
            <a:off x="2629852" y="4260691"/>
            <a:ext cx="356151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红色 (λ_max &gt; 0) = 混沌 · 蓝色 (λ_max ≈ 0) = 规则</a:t>
            </a:r>
            <a:endParaRPr lang="zh-CN" sz="1125"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1A3A5C"/>
              </a:gs>
              <a:gs pos="100000">
                <a:srgbClr val="2E86C1"/>
              </a:gs>
            </a:gsLst>
            <a:lin ang="0" scaled="1"/>
          </a:gradFill>
          <a:ln>
            <a:noFill/>
          </a:ln>
        </p:spPr>
      </p:sp>
      <p:sp>
        <p:nvSpPr>
          <p:cNvPr id="4" name="TextBox 4"/>
          <p:cNvSpPr txBox="1"/>
          <p:nvPr/>
        </p:nvSpPr>
        <p:spPr>
          <a:xfrm>
            <a:off x="535305" y="206693"/>
            <a:ext cx="2067639" cy="579120"/>
          </a:xfrm>
          <a:prstGeom prst="rect">
            <a:avLst/>
          </a:prstGeom>
          <a:noFill/>
          <a:ln>
            <a:noFill/>
          </a:ln>
        </p:spPr>
        <p:txBody>
          <a:bodyPr wrap="none" lIns="0" tIns="0" rIns="0" bIns="0" anchor="t" anchorCtr="0">
            <a:spAutoFit/>
          </a:bodyPr>
          <a:lstStyle/>
          <a:p>
            <a:pPr algn="l"/>
            <a:r>
              <a:rPr lang="zh-CN" sz="2850" b="1" dirty="0">
                <a:solidFill>
                  <a:srgbClr val="1A3A5C"/>
                </a:solidFill>
                <a:latin typeface="Segoe UI" panose="020B0502040204020203"/>
                <a:ea typeface="黑体" panose="02010609060101010101" charset="-122"/>
                <a:cs typeface="Segoe UI" panose="020B0502040204020203"/>
              </a:rPr>
              <a:t>总结与展望</a:t>
            </a:r>
            <a:endParaRPr lang="zh-CN" sz="2850" b="1" dirty="0">
              <a:solidFill>
                <a:srgbClr val="1A3A5C"/>
              </a:solidFill>
              <a:latin typeface="Segoe UI" panose="020B0502040204020203"/>
              <a:ea typeface="黑体" panose="02010609060101010101" charset="-122"/>
              <a:cs typeface="Segoe UI" panose="020B0502040204020203"/>
            </a:endParaRPr>
          </a:p>
        </p:txBody>
      </p:sp>
      <p:sp>
        <p:nvSpPr>
          <p:cNvPr id="5" name="Line 5"/>
          <p:cNvSpPr/>
          <p:nvPr/>
        </p:nvSpPr>
        <p:spPr>
          <a:xfrm>
            <a:off x="571500" y="647700"/>
            <a:ext cx="1905000" cy="9525"/>
          </a:xfrm>
          <a:custGeom>
            <a:avLst/>
            <a:gdLst/>
            <a:ahLst/>
            <a:cxnLst/>
            <a:rect l="l" t="t" r="r" b="b"/>
            <a:pathLst>
              <a:path w="1905000" h="9525">
                <a:moveTo>
                  <a:pt x="0" y="0"/>
                </a:moveTo>
                <a:lnTo>
                  <a:pt x="1905000" y="0"/>
                </a:lnTo>
              </a:path>
            </a:pathLst>
          </a:custGeom>
          <a:noFill/>
          <a:ln w="19050" cap="rnd">
            <a:solidFill>
              <a:srgbClr val="2E86C1"/>
            </a:solidFill>
          </a:ln>
        </p:spPr>
      </p:sp>
      <p:sp>
        <p:nvSpPr>
          <p:cNvPr id="6" name="TextBox 6"/>
          <p:cNvSpPr txBox="1"/>
          <p:nvPr/>
        </p:nvSpPr>
        <p:spPr>
          <a:xfrm>
            <a:off x="555308" y="757714"/>
            <a:ext cx="4138398" cy="259080"/>
          </a:xfrm>
          <a:prstGeom prst="rect">
            <a:avLst/>
          </a:prstGeom>
          <a:noFill/>
          <a:ln>
            <a:noFill/>
          </a:ln>
        </p:spPr>
        <p:txBody>
          <a:bodyPr wrap="none" lIns="0" tIns="0" rIns="0" bIns="0" anchor="t" anchorCtr="0">
            <a:spAutoFit/>
          </a:bodyPr>
          <a:lstStyle/>
          <a:p>
            <a:pPr algn="l"/>
            <a:r>
              <a:rPr lang="zh-CN" sz="1275" dirty="0">
                <a:solidFill>
                  <a:srgbClr val="7F8C8D"/>
                </a:solidFill>
                <a:latin typeface="Arial" panose="020B0604020202020204"/>
                <a:ea typeface="微软雅黑" panose="020B0503020204020204" charset="-122"/>
                <a:cs typeface="Arial" panose="020B0604020202020204"/>
              </a:rPr>
              <a:t>七项核心结论 — 数值方法选择与混沌诊断手段相辅相成</a:t>
            </a:r>
            <a:endParaRPr lang="zh-CN" sz="1275" dirty="0">
              <a:solidFill>
                <a:srgbClr val="7F8C8D"/>
              </a:solidFill>
              <a:latin typeface="Arial" panose="020B0604020202020204"/>
              <a:ea typeface="微软雅黑" panose="020B0503020204020204" charset="-122"/>
              <a:cs typeface="Arial" panose="020B0604020202020204"/>
            </a:endParaRPr>
          </a:p>
        </p:txBody>
      </p:sp>
      <p:sp>
        <p:nvSpPr>
          <p:cNvPr id="7" name="Line 7"/>
          <p:cNvSpPr/>
          <p:nvPr/>
        </p:nvSpPr>
        <p:spPr>
          <a:xfrm>
            <a:off x="1095375" y="1028700"/>
            <a:ext cx="9525" cy="4114800"/>
          </a:xfrm>
          <a:custGeom>
            <a:avLst/>
            <a:gdLst/>
            <a:ahLst/>
            <a:cxnLst/>
            <a:rect l="l" t="t" r="r" b="b"/>
            <a:pathLst>
              <a:path w="9525" h="4114800">
                <a:moveTo>
                  <a:pt x="0" y="0"/>
                </a:moveTo>
                <a:lnTo>
                  <a:pt x="0" y="4114800"/>
                </a:lnTo>
              </a:path>
            </a:pathLst>
          </a:custGeom>
          <a:noFill/>
          <a:ln w="28575" cap="rnd">
            <a:gradFill>
              <a:gsLst>
                <a:gs pos="0">
                  <a:srgbClr val="1A3A5C"/>
                </a:gs>
                <a:gs pos="20000">
                  <a:srgbClr val="2E86C1"/>
                </a:gs>
                <a:gs pos="40000">
                  <a:srgbClr val="27AE60"/>
                </a:gs>
                <a:gs pos="60000">
                  <a:srgbClr val="E74C3C"/>
                </a:gs>
                <a:gs pos="80000">
                  <a:srgbClr val="E67E22"/>
                </a:gs>
                <a:gs pos="100000">
                  <a:srgbClr val="8E44AD"/>
                </a:gs>
              </a:gsLst>
              <a:lin ang="5400000" scaled="1"/>
            </a:gradFill>
          </a:ln>
        </p:spPr>
      </p:sp>
      <p:sp>
        <p:nvSpPr>
          <p:cNvPr id="8" name="Polygon 8"/>
          <p:cNvSpPr/>
          <p:nvPr/>
        </p:nvSpPr>
        <p:spPr>
          <a:xfrm>
            <a:off x="1019175" y="5124450"/>
            <a:ext cx="152400" cy="133350"/>
          </a:xfrm>
          <a:custGeom>
            <a:avLst/>
            <a:gdLst/>
            <a:ahLst/>
            <a:cxnLst/>
            <a:rect l="l" t="t" r="r" b="b"/>
            <a:pathLst>
              <a:path w="152400" h="133350">
                <a:moveTo>
                  <a:pt x="76200" y="133350"/>
                </a:moveTo>
                <a:lnTo>
                  <a:pt x="152400" y="0"/>
                </a:lnTo>
                <a:lnTo>
                  <a:pt x="0" y="0"/>
                </a:lnTo>
                <a:close/>
              </a:path>
            </a:pathLst>
          </a:custGeom>
          <a:solidFill>
            <a:srgbClr val="8E44AD"/>
          </a:solidFill>
          <a:ln>
            <a:noFill/>
          </a:ln>
        </p:spPr>
      </p:sp>
      <p:sp>
        <p:nvSpPr>
          <p:cNvPr id="9" name="Ellipse 9"/>
          <p:cNvSpPr/>
          <p:nvPr/>
        </p:nvSpPr>
        <p:spPr>
          <a:xfrm>
            <a:off x="904875" y="1104900"/>
            <a:ext cx="381000" cy="381000"/>
          </a:xfrm>
          <a:prstGeom prst="ellipse">
            <a:avLst/>
          </a:prstGeom>
          <a:solidFill>
            <a:srgbClr val="1A3A5C">
              <a:alpha val="12000"/>
            </a:srgbClr>
          </a:solidFill>
          <a:ln>
            <a:noFill/>
          </a:ln>
        </p:spPr>
      </p:sp>
      <p:sp>
        <p:nvSpPr>
          <p:cNvPr id="10" name="Ellipse 10"/>
          <p:cNvSpPr/>
          <p:nvPr/>
        </p:nvSpPr>
        <p:spPr>
          <a:xfrm>
            <a:off x="971550" y="1171575"/>
            <a:ext cx="247650" cy="247650"/>
          </a:xfrm>
          <a:prstGeom prst="ellipse">
            <a:avLst/>
          </a:prstGeom>
          <a:solidFill>
            <a:srgbClr val="1A3A5C"/>
          </a:solidFill>
          <a:ln>
            <a:noFill/>
          </a:ln>
        </p:spPr>
      </p:sp>
      <p:sp>
        <p:nvSpPr>
          <p:cNvPr id="11" name="TextBox 11"/>
          <p:cNvSpPr txBox="1"/>
          <p:nvPr/>
        </p:nvSpPr>
        <p:spPr>
          <a:xfrm>
            <a:off x="1067570" y="1253966"/>
            <a:ext cx="55609"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1</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12" name="Line 12"/>
          <p:cNvSpPr/>
          <p:nvPr/>
        </p:nvSpPr>
        <p:spPr>
          <a:xfrm>
            <a:off x="1285875" y="1295400"/>
            <a:ext cx="238125" cy="9525"/>
          </a:xfrm>
          <a:custGeom>
            <a:avLst/>
            <a:gdLst/>
            <a:ahLst/>
            <a:cxnLst/>
            <a:rect l="l" t="t" r="r" b="b"/>
            <a:pathLst>
              <a:path w="238125" h="9525">
                <a:moveTo>
                  <a:pt x="0" y="0"/>
                </a:moveTo>
                <a:lnTo>
                  <a:pt x="238125" y="0"/>
                </a:lnTo>
              </a:path>
            </a:pathLst>
          </a:custGeom>
          <a:noFill/>
          <a:ln w="14288">
            <a:solidFill>
              <a:srgbClr val="1A3A5C"/>
            </a:solidFill>
            <a:custDash>
              <a:ds d="200000" sp="133333"/>
            </a:custDash>
          </a:ln>
        </p:spPr>
      </p:sp>
      <p:sp>
        <p:nvSpPr>
          <p:cNvPr id="13" name="Rectangle 13"/>
          <p:cNvSpPr/>
          <p:nvPr/>
        </p:nvSpPr>
        <p:spPr>
          <a:xfrm>
            <a:off x="1524000" y="1076325"/>
            <a:ext cx="4857750" cy="438150"/>
          </a:xfrm>
          <a:prstGeom prst="roundRect">
            <a:avLst>
              <a:gd name="adj" fmla="val 13043"/>
            </a:avLst>
          </a:prstGeom>
          <a:solidFill>
            <a:srgbClr val="F4F6F8"/>
          </a:solidFill>
          <a:ln>
            <a:noFill/>
          </a:ln>
        </p:spPr>
      </p:sp>
      <p:sp>
        <p:nvSpPr>
          <p:cNvPr id="14" name="Rectangle 14"/>
          <p:cNvSpPr/>
          <p:nvPr/>
        </p:nvSpPr>
        <p:spPr>
          <a:xfrm>
            <a:off x="1524000" y="1076325"/>
            <a:ext cx="38100" cy="438150"/>
          </a:xfrm>
          <a:prstGeom prst="roundRect">
            <a:avLst>
              <a:gd name="adj" fmla="val 50000"/>
            </a:avLst>
          </a:prstGeom>
          <a:solidFill>
            <a:srgbClr val="1A3A5C"/>
          </a:solidFill>
          <a:ln>
            <a:noFill/>
          </a:ln>
        </p:spPr>
      </p:sp>
      <p:sp>
        <p:nvSpPr>
          <p:cNvPr id="15" name="TextBox 15"/>
          <p:cNvSpPr txBox="1"/>
          <p:nvPr/>
        </p:nvSpPr>
        <p:spPr>
          <a:xfrm>
            <a:off x="1679258" y="1138714"/>
            <a:ext cx="8021258"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数值方法验证：实测阶数与理论偏差 &lt; 2% — Euler 0.99 · RK4 4.00 · Symp Euler 1.02 · Verlet 2.01</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1682115" y="1334452"/>
            <a:ext cx="282702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退化单摆极限检验，实现正确性得到严格确认</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17" name="Ellipse 17"/>
          <p:cNvSpPr/>
          <p:nvPr/>
        </p:nvSpPr>
        <p:spPr>
          <a:xfrm>
            <a:off x="904875" y="1695450"/>
            <a:ext cx="381000" cy="381000"/>
          </a:xfrm>
          <a:prstGeom prst="ellipse">
            <a:avLst/>
          </a:prstGeom>
          <a:solidFill>
            <a:srgbClr val="2E86C1">
              <a:alpha val="12000"/>
            </a:srgbClr>
          </a:solidFill>
          <a:ln>
            <a:noFill/>
          </a:ln>
        </p:spPr>
      </p:sp>
      <p:sp>
        <p:nvSpPr>
          <p:cNvPr id="18" name="Ellipse 18"/>
          <p:cNvSpPr/>
          <p:nvPr/>
        </p:nvSpPr>
        <p:spPr>
          <a:xfrm>
            <a:off x="971550" y="1762125"/>
            <a:ext cx="247650" cy="247650"/>
          </a:xfrm>
          <a:prstGeom prst="ellipse">
            <a:avLst/>
          </a:prstGeom>
          <a:solidFill>
            <a:srgbClr val="2E86C1"/>
          </a:solidFill>
          <a:ln>
            <a:noFill/>
          </a:ln>
        </p:spPr>
      </p:sp>
      <p:sp>
        <p:nvSpPr>
          <p:cNvPr id="19" name="TextBox 19"/>
          <p:cNvSpPr txBox="1"/>
          <p:nvPr/>
        </p:nvSpPr>
        <p:spPr>
          <a:xfrm>
            <a:off x="1053131" y="184451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2</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20" name="Line 20"/>
          <p:cNvSpPr/>
          <p:nvPr/>
        </p:nvSpPr>
        <p:spPr>
          <a:xfrm>
            <a:off x="1285875" y="1885950"/>
            <a:ext cx="238125" cy="9525"/>
          </a:xfrm>
          <a:custGeom>
            <a:avLst/>
            <a:gdLst/>
            <a:ahLst/>
            <a:cxnLst/>
            <a:rect l="l" t="t" r="r" b="b"/>
            <a:pathLst>
              <a:path w="238125" h="9525">
                <a:moveTo>
                  <a:pt x="0" y="0"/>
                </a:moveTo>
                <a:lnTo>
                  <a:pt x="238125" y="0"/>
                </a:lnTo>
              </a:path>
            </a:pathLst>
          </a:custGeom>
          <a:noFill/>
          <a:ln w="14288">
            <a:solidFill>
              <a:srgbClr val="2E86C1"/>
            </a:solidFill>
            <a:custDash>
              <a:ds d="200000" sp="133333"/>
            </a:custDash>
          </a:ln>
        </p:spPr>
      </p:sp>
      <p:sp>
        <p:nvSpPr>
          <p:cNvPr id="21" name="Rectangle 21"/>
          <p:cNvSpPr/>
          <p:nvPr/>
        </p:nvSpPr>
        <p:spPr>
          <a:xfrm>
            <a:off x="1524000" y="1666875"/>
            <a:ext cx="4857750" cy="438150"/>
          </a:xfrm>
          <a:prstGeom prst="roundRect">
            <a:avLst>
              <a:gd name="adj" fmla="val 13043"/>
            </a:avLst>
          </a:prstGeom>
          <a:solidFill>
            <a:srgbClr val="F4F6F8"/>
          </a:solidFill>
          <a:ln>
            <a:noFill/>
          </a:ln>
        </p:spPr>
      </p:sp>
      <p:sp>
        <p:nvSpPr>
          <p:cNvPr id="22" name="Rectangle 22"/>
          <p:cNvSpPr/>
          <p:nvPr/>
        </p:nvSpPr>
        <p:spPr>
          <a:xfrm>
            <a:off x="1524000" y="1666875"/>
            <a:ext cx="38100" cy="438150"/>
          </a:xfrm>
          <a:prstGeom prst="roundRect">
            <a:avLst>
              <a:gd name="adj" fmla="val 50000"/>
            </a:avLst>
          </a:prstGeom>
          <a:solidFill>
            <a:srgbClr val="2E86C1"/>
          </a:solidFill>
          <a:ln>
            <a:noFill/>
          </a:ln>
        </p:spPr>
      </p:sp>
      <p:sp>
        <p:nvSpPr>
          <p:cNvPr id="23" name="TextBox 23"/>
          <p:cNvSpPr txBox="1"/>
          <p:nvPr/>
        </p:nvSpPr>
        <p:spPr>
          <a:xfrm>
            <a:off x="1679258" y="1729264"/>
            <a:ext cx="5995030"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能量守恒：RK4误差最小 (~10⁻⁶)，辛方法有界振荡，Forward Euler不适合</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1682115" y="1925002"/>
            <a:ext cx="4836271"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Symp Euler ~0.16% · Verlet ~0.37% · Forward Euler ~3570% (反耗散行为)</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25" name="Ellipse 25"/>
          <p:cNvSpPr/>
          <p:nvPr/>
        </p:nvSpPr>
        <p:spPr>
          <a:xfrm>
            <a:off x="904875" y="2286000"/>
            <a:ext cx="381000" cy="381000"/>
          </a:xfrm>
          <a:prstGeom prst="ellipse">
            <a:avLst/>
          </a:prstGeom>
          <a:solidFill>
            <a:srgbClr val="27AE60">
              <a:alpha val="12000"/>
            </a:srgbClr>
          </a:solidFill>
          <a:ln>
            <a:noFill/>
          </a:ln>
        </p:spPr>
      </p:sp>
      <p:sp>
        <p:nvSpPr>
          <p:cNvPr id="26" name="Ellipse 26"/>
          <p:cNvSpPr/>
          <p:nvPr/>
        </p:nvSpPr>
        <p:spPr>
          <a:xfrm>
            <a:off x="971550" y="2352675"/>
            <a:ext cx="247650" cy="247650"/>
          </a:xfrm>
          <a:prstGeom prst="ellipse">
            <a:avLst/>
          </a:prstGeom>
          <a:solidFill>
            <a:srgbClr val="27AE60"/>
          </a:solidFill>
          <a:ln>
            <a:noFill/>
          </a:ln>
        </p:spPr>
      </p:sp>
      <p:sp>
        <p:nvSpPr>
          <p:cNvPr id="27" name="TextBox 27"/>
          <p:cNvSpPr txBox="1"/>
          <p:nvPr/>
        </p:nvSpPr>
        <p:spPr>
          <a:xfrm>
            <a:off x="1053131" y="24350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3</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28" name="Line 28"/>
          <p:cNvSpPr/>
          <p:nvPr/>
        </p:nvSpPr>
        <p:spPr>
          <a:xfrm>
            <a:off x="1285875" y="2476500"/>
            <a:ext cx="238125" cy="9525"/>
          </a:xfrm>
          <a:custGeom>
            <a:avLst/>
            <a:gdLst/>
            <a:ahLst/>
            <a:cxnLst/>
            <a:rect l="l" t="t" r="r" b="b"/>
            <a:pathLst>
              <a:path w="238125" h="9525">
                <a:moveTo>
                  <a:pt x="0" y="0"/>
                </a:moveTo>
                <a:lnTo>
                  <a:pt x="238125" y="0"/>
                </a:lnTo>
              </a:path>
            </a:pathLst>
          </a:custGeom>
          <a:noFill/>
          <a:ln w="14288">
            <a:solidFill>
              <a:srgbClr val="27AE60"/>
            </a:solidFill>
            <a:custDash>
              <a:ds d="200000" sp="133333"/>
            </a:custDash>
          </a:ln>
        </p:spPr>
      </p:sp>
      <p:sp>
        <p:nvSpPr>
          <p:cNvPr id="29" name="Rectangle 29"/>
          <p:cNvSpPr/>
          <p:nvPr/>
        </p:nvSpPr>
        <p:spPr>
          <a:xfrm>
            <a:off x="1524000" y="2257425"/>
            <a:ext cx="4857750" cy="438150"/>
          </a:xfrm>
          <a:prstGeom prst="roundRect">
            <a:avLst>
              <a:gd name="adj" fmla="val 13043"/>
            </a:avLst>
          </a:prstGeom>
          <a:solidFill>
            <a:srgbClr val="F4F6F8"/>
          </a:solidFill>
          <a:ln>
            <a:noFill/>
          </a:ln>
        </p:spPr>
      </p:sp>
      <p:sp>
        <p:nvSpPr>
          <p:cNvPr id="30" name="Rectangle 30"/>
          <p:cNvSpPr/>
          <p:nvPr/>
        </p:nvSpPr>
        <p:spPr>
          <a:xfrm>
            <a:off x="1524000" y="2257425"/>
            <a:ext cx="38100" cy="438150"/>
          </a:xfrm>
          <a:prstGeom prst="roundRect">
            <a:avLst>
              <a:gd name="adj" fmla="val 50000"/>
            </a:avLst>
          </a:prstGeom>
          <a:solidFill>
            <a:srgbClr val="27AE60"/>
          </a:solidFill>
          <a:ln>
            <a:noFill/>
          </a:ln>
        </p:spPr>
      </p:sp>
      <p:sp>
        <p:nvSpPr>
          <p:cNvPr id="31" name="TextBox 31"/>
          <p:cNvSpPr txBox="1"/>
          <p:nvPr/>
        </p:nvSpPr>
        <p:spPr>
          <a:xfrm>
            <a:off x="1679258" y="2319814"/>
            <a:ext cx="5566577"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混沌诊断：FFT区分周期/混沌，λ_max ≈ 0.050 s⁻¹ &gt; 0 提供定量判据</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1682115" y="2515552"/>
            <a:ext cx="256798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Poincaré截面展示混沌的弥散相空间结构</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33" name="Ellipse 33"/>
          <p:cNvSpPr/>
          <p:nvPr/>
        </p:nvSpPr>
        <p:spPr>
          <a:xfrm>
            <a:off x="904875" y="2876550"/>
            <a:ext cx="381000" cy="381000"/>
          </a:xfrm>
          <a:prstGeom prst="ellipse">
            <a:avLst/>
          </a:prstGeom>
          <a:solidFill>
            <a:srgbClr val="E74C3C">
              <a:alpha val="12000"/>
            </a:srgbClr>
          </a:solidFill>
          <a:ln>
            <a:noFill/>
          </a:ln>
        </p:spPr>
      </p:sp>
      <p:sp>
        <p:nvSpPr>
          <p:cNvPr id="34" name="Ellipse 34"/>
          <p:cNvSpPr/>
          <p:nvPr/>
        </p:nvSpPr>
        <p:spPr>
          <a:xfrm>
            <a:off x="971550" y="2943225"/>
            <a:ext cx="247650" cy="247650"/>
          </a:xfrm>
          <a:prstGeom prst="ellipse">
            <a:avLst/>
          </a:prstGeom>
          <a:solidFill>
            <a:srgbClr val="E74C3C"/>
          </a:solidFill>
          <a:ln>
            <a:noFill/>
          </a:ln>
        </p:spPr>
      </p:sp>
      <p:sp>
        <p:nvSpPr>
          <p:cNvPr id="35" name="TextBox 35"/>
          <p:cNvSpPr txBox="1"/>
          <p:nvPr/>
        </p:nvSpPr>
        <p:spPr>
          <a:xfrm>
            <a:off x="1053131" y="302561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4</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36" name="Line 36"/>
          <p:cNvSpPr/>
          <p:nvPr/>
        </p:nvSpPr>
        <p:spPr>
          <a:xfrm>
            <a:off x="1285875" y="3067050"/>
            <a:ext cx="238125" cy="9525"/>
          </a:xfrm>
          <a:custGeom>
            <a:avLst/>
            <a:gdLst/>
            <a:ahLst/>
            <a:cxnLst/>
            <a:rect l="l" t="t" r="r" b="b"/>
            <a:pathLst>
              <a:path w="238125" h="9525">
                <a:moveTo>
                  <a:pt x="0" y="0"/>
                </a:moveTo>
                <a:lnTo>
                  <a:pt x="238125" y="0"/>
                </a:lnTo>
              </a:path>
            </a:pathLst>
          </a:custGeom>
          <a:noFill/>
          <a:ln w="14288">
            <a:solidFill>
              <a:srgbClr val="E74C3C"/>
            </a:solidFill>
            <a:custDash>
              <a:ds d="200000" sp="133333"/>
            </a:custDash>
          </a:ln>
        </p:spPr>
      </p:sp>
      <p:sp>
        <p:nvSpPr>
          <p:cNvPr id="37" name="Rectangle 37"/>
          <p:cNvSpPr/>
          <p:nvPr/>
        </p:nvSpPr>
        <p:spPr>
          <a:xfrm>
            <a:off x="1524000" y="2847975"/>
            <a:ext cx="4857750" cy="438150"/>
          </a:xfrm>
          <a:prstGeom prst="roundRect">
            <a:avLst>
              <a:gd name="adj" fmla="val 13043"/>
            </a:avLst>
          </a:prstGeom>
          <a:solidFill>
            <a:srgbClr val="F4F6F8"/>
          </a:solidFill>
          <a:ln>
            <a:noFill/>
          </a:ln>
        </p:spPr>
      </p:sp>
      <p:sp>
        <p:nvSpPr>
          <p:cNvPr id="38" name="Rectangle 38"/>
          <p:cNvSpPr/>
          <p:nvPr/>
        </p:nvSpPr>
        <p:spPr>
          <a:xfrm>
            <a:off x="1524000" y="2847975"/>
            <a:ext cx="38100" cy="438150"/>
          </a:xfrm>
          <a:prstGeom prst="roundRect">
            <a:avLst>
              <a:gd name="adj" fmla="val 50000"/>
            </a:avLst>
          </a:prstGeom>
          <a:solidFill>
            <a:srgbClr val="E74C3C"/>
          </a:solidFill>
          <a:ln>
            <a:noFill/>
          </a:ln>
        </p:spPr>
      </p:sp>
      <p:sp>
        <p:nvSpPr>
          <p:cNvPr id="39" name="TextBox 39"/>
          <p:cNvSpPr txBox="1"/>
          <p:nvPr/>
        </p:nvSpPr>
        <p:spPr>
          <a:xfrm>
            <a:off x="1679258" y="2910364"/>
            <a:ext cx="5013158"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混沌相图 (R, E₀)：等质量比 R≈1 混沌最强，低能量区保持规则</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1682115" y="3106102"/>
            <a:ext cx="3058049"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惯性耦合项在等质量时最大化，R≪1/R≫1 混沌减弱</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41" name="Ellipse 41"/>
          <p:cNvSpPr/>
          <p:nvPr/>
        </p:nvSpPr>
        <p:spPr>
          <a:xfrm>
            <a:off x="904875" y="3467100"/>
            <a:ext cx="381000" cy="381000"/>
          </a:xfrm>
          <a:prstGeom prst="ellipse">
            <a:avLst/>
          </a:prstGeom>
          <a:solidFill>
            <a:srgbClr val="E67E22">
              <a:alpha val="12000"/>
            </a:srgbClr>
          </a:solidFill>
          <a:ln>
            <a:noFill/>
          </a:ln>
        </p:spPr>
      </p:sp>
      <p:sp>
        <p:nvSpPr>
          <p:cNvPr id="42" name="Ellipse 42"/>
          <p:cNvSpPr/>
          <p:nvPr/>
        </p:nvSpPr>
        <p:spPr>
          <a:xfrm>
            <a:off x="971550" y="3533775"/>
            <a:ext cx="247650" cy="247650"/>
          </a:xfrm>
          <a:prstGeom prst="ellipse">
            <a:avLst/>
          </a:prstGeom>
          <a:solidFill>
            <a:srgbClr val="E67E22"/>
          </a:solidFill>
          <a:ln>
            <a:noFill/>
          </a:ln>
        </p:spPr>
      </p:sp>
      <p:sp>
        <p:nvSpPr>
          <p:cNvPr id="43" name="TextBox 43"/>
          <p:cNvSpPr txBox="1"/>
          <p:nvPr/>
        </p:nvSpPr>
        <p:spPr>
          <a:xfrm>
            <a:off x="1053131" y="36161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5</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44" name="Line 44"/>
          <p:cNvSpPr/>
          <p:nvPr/>
        </p:nvSpPr>
        <p:spPr>
          <a:xfrm>
            <a:off x="1285875" y="3657600"/>
            <a:ext cx="238125" cy="9525"/>
          </a:xfrm>
          <a:custGeom>
            <a:avLst/>
            <a:gdLst/>
            <a:ahLst/>
            <a:cxnLst/>
            <a:rect l="l" t="t" r="r" b="b"/>
            <a:pathLst>
              <a:path w="238125" h="9525">
                <a:moveTo>
                  <a:pt x="0" y="0"/>
                </a:moveTo>
                <a:lnTo>
                  <a:pt x="238125" y="0"/>
                </a:lnTo>
              </a:path>
            </a:pathLst>
          </a:custGeom>
          <a:noFill/>
          <a:ln w="14288">
            <a:solidFill>
              <a:srgbClr val="E67E22"/>
            </a:solidFill>
            <a:custDash>
              <a:ds d="200000" sp="133333"/>
            </a:custDash>
          </a:ln>
        </p:spPr>
      </p:sp>
      <p:sp>
        <p:nvSpPr>
          <p:cNvPr id="45" name="Rectangle 45"/>
          <p:cNvSpPr/>
          <p:nvPr/>
        </p:nvSpPr>
        <p:spPr>
          <a:xfrm>
            <a:off x="1524000" y="3438525"/>
            <a:ext cx="4857750" cy="438150"/>
          </a:xfrm>
          <a:prstGeom prst="roundRect">
            <a:avLst>
              <a:gd name="adj" fmla="val 13043"/>
            </a:avLst>
          </a:prstGeom>
          <a:solidFill>
            <a:srgbClr val="F4F6F8"/>
          </a:solidFill>
          <a:ln>
            <a:noFill/>
          </a:ln>
        </p:spPr>
      </p:sp>
      <p:sp>
        <p:nvSpPr>
          <p:cNvPr id="46" name="Rectangle 46"/>
          <p:cNvSpPr/>
          <p:nvPr/>
        </p:nvSpPr>
        <p:spPr>
          <a:xfrm>
            <a:off x="1524000" y="3438525"/>
            <a:ext cx="38100" cy="438150"/>
          </a:xfrm>
          <a:prstGeom prst="roundRect">
            <a:avLst>
              <a:gd name="adj" fmla="val 50000"/>
            </a:avLst>
          </a:prstGeom>
          <a:solidFill>
            <a:srgbClr val="E67E22"/>
          </a:solidFill>
          <a:ln>
            <a:noFill/>
          </a:ln>
        </p:spPr>
      </p:sp>
      <p:sp>
        <p:nvSpPr>
          <p:cNvPr id="47" name="TextBox 47"/>
          <p:cNvSpPr txBox="1"/>
          <p:nvPr/>
        </p:nvSpPr>
        <p:spPr>
          <a:xfrm>
            <a:off x="1679258" y="3500914"/>
            <a:ext cx="5396980"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分岔结构：倍周期分岔级联进入混沌，符合 Feigenbaum 普适性理论</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1682115" y="3696652"/>
            <a:ext cx="3730133"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周期-1 → 周期-2 → 周期-4 → 混沌带 (A驱动振幅为控制参量)</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49" name="Ellipse 49"/>
          <p:cNvSpPr/>
          <p:nvPr/>
        </p:nvSpPr>
        <p:spPr>
          <a:xfrm>
            <a:off x="904875" y="4057650"/>
            <a:ext cx="381000" cy="381000"/>
          </a:xfrm>
          <a:prstGeom prst="ellipse">
            <a:avLst/>
          </a:prstGeom>
          <a:solidFill>
            <a:srgbClr val="8E44AD">
              <a:alpha val="12000"/>
            </a:srgbClr>
          </a:solidFill>
          <a:ln>
            <a:noFill/>
          </a:ln>
        </p:spPr>
      </p:sp>
      <p:sp>
        <p:nvSpPr>
          <p:cNvPr id="50" name="Ellipse 50"/>
          <p:cNvSpPr/>
          <p:nvPr/>
        </p:nvSpPr>
        <p:spPr>
          <a:xfrm>
            <a:off x="971550" y="4124325"/>
            <a:ext cx="247650" cy="247650"/>
          </a:xfrm>
          <a:prstGeom prst="ellipse">
            <a:avLst/>
          </a:prstGeom>
          <a:solidFill>
            <a:srgbClr val="8E44AD"/>
          </a:solidFill>
          <a:ln>
            <a:noFill/>
          </a:ln>
        </p:spPr>
      </p:sp>
      <p:sp>
        <p:nvSpPr>
          <p:cNvPr id="51" name="TextBox 51"/>
          <p:cNvSpPr txBox="1"/>
          <p:nvPr/>
        </p:nvSpPr>
        <p:spPr>
          <a:xfrm>
            <a:off x="1053131" y="420671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6</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52" name="Line 52"/>
          <p:cNvSpPr/>
          <p:nvPr/>
        </p:nvSpPr>
        <p:spPr>
          <a:xfrm>
            <a:off x="1285875" y="4248150"/>
            <a:ext cx="238125" cy="9525"/>
          </a:xfrm>
          <a:custGeom>
            <a:avLst/>
            <a:gdLst/>
            <a:ahLst/>
            <a:cxnLst/>
            <a:rect l="l" t="t" r="r" b="b"/>
            <a:pathLst>
              <a:path w="238125" h="9525">
                <a:moveTo>
                  <a:pt x="0" y="0"/>
                </a:moveTo>
                <a:lnTo>
                  <a:pt x="238125" y="0"/>
                </a:lnTo>
              </a:path>
            </a:pathLst>
          </a:custGeom>
          <a:noFill/>
          <a:ln w="14288">
            <a:solidFill>
              <a:srgbClr val="8E44AD"/>
            </a:solidFill>
            <a:custDash>
              <a:ds d="200000" sp="133333"/>
            </a:custDash>
          </a:ln>
        </p:spPr>
      </p:sp>
      <p:sp>
        <p:nvSpPr>
          <p:cNvPr id="53" name="Rectangle 53"/>
          <p:cNvSpPr/>
          <p:nvPr/>
        </p:nvSpPr>
        <p:spPr>
          <a:xfrm>
            <a:off x="1524000" y="4029075"/>
            <a:ext cx="4857750" cy="438150"/>
          </a:xfrm>
          <a:prstGeom prst="roundRect">
            <a:avLst>
              <a:gd name="adj" fmla="val 13043"/>
            </a:avLst>
          </a:prstGeom>
          <a:solidFill>
            <a:srgbClr val="F4F6F8"/>
          </a:solidFill>
          <a:ln>
            <a:noFill/>
          </a:ln>
        </p:spPr>
      </p:sp>
      <p:sp>
        <p:nvSpPr>
          <p:cNvPr id="54" name="Rectangle 54"/>
          <p:cNvSpPr/>
          <p:nvPr/>
        </p:nvSpPr>
        <p:spPr>
          <a:xfrm>
            <a:off x="1524000" y="4029075"/>
            <a:ext cx="38100" cy="438150"/>
          </a:xfrm>
          <a:prstGeom prst="roundRect">
            <a:avLst>
              <a:gd name="adj" fmla="val 50000"/>
            </a:avLst>
          </a:prstGeom>
          <a:solidFill>
            <a:srgbClr val="8E44AD"/>
          </a:solidFill>
          <a:ln>
            <a:noFill/>
          </a:ln>
        </p:spPr>
      </p:sp>
      <p:sp>
        <p:nvSpPr>
          <p:cNvPr id="55" name="TextBox 55"/>
          <p:cNvSpPr txBox="1"/>
          <p:nvPr/>
        </p:nvSpPr>
        <p:spPr>
          <a:xfrm>
            <a:off x="1679258" y="4091464"/>
            <a:ext cx="5620133"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计算效率：运行时间与求值次数成正比，Symplectic Euler 最佳性价比</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1682115" y="4287202"/>
            <a:ext cx="4052173"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Forward Euler 236000 steps/s · RK4 56300 steps/s (~4.2×)</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57" name="Ellipse 57"/>
          <p:cNvSpPr/>
          <p:nvPr/>
        </p:nvSpPr>
        <p:spPr>
          <a:xfrm>
            <a:off x="904875" y="4648200"/>
            <a:ext cx="381000" cy="381000"/>
          </a:xfrm>
          <a:prstGeom prst="ellipse">
            <a:avLst/>
          </a:prstGeom>
          <a:solidFill>
            <a:srgbClr val="1A3A5C">
              <a:alpha val="12000"/>
            </a:srgbClr>
          </a:solidFill>
          <a:ln>
            <a:noFill/>
          </a:ln>
        </p:spPr>
      </p:sp>
      <p:sp>
        <p:nvSpPr>
          <p:cNvPr id="58" name="Ellipse 58"/>
          <p:cNvSpPr/>
          <p:nvPr/>
        </p:nvSpPr>
        <p:spPr>
          <a:xfrm>
            <a:off x="971550" y="4714875"/>
            <a:ext cx="247650" cy="247650"/>
          </a:xfrm>
          <a:prstGeom prst="ellipse">
            <a:avLst/>
          </a:prstGeom>
          <a:solidFill>
            <a:srgbClr val="1A3A5C"/>
          </a:solidFill>
          <a:ln>
            <a:noFill/>
          </a:ln>
        </p:spPr>
      </p:sp>
      <p:sp>
        <p:nvSpPr>
          <p:cNvPr id="59" name="TextBox 59"/>
          <p:cNvSpPr txBox="1"/>
          <p:nvPr/>
        </p:nvSpPr>
        <p:spPr>
          <a:xfrm>
            <a:off x="1053131" y="47972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onsolas" panose="020B0609020204030204"/>
                <a:ea typeface="微软雅黑" panose="020B0503020204020204" charset="-122"/>
                <a:cs typeface="Consolas" panose="020B0609020204030204"/>
              </a:rPr>
              <a:t>7</a:t>
            </a:r>
            <a:endParaRPr lang="zh-CN" sz="825" b="1" dirty="0">
              <a:solidFill>
                <a:srgbClr val="FFFFFF"/>
              </a:solidFill>
              <a:latin typeface="Consolas" panose="020B0609020204030204"/>
              <a:ea typeface="微软雅黑" panose="020B0503020204020204" charset="-122"/>
              <a:cs typeface="Consolas" panose="020B0609020204030204"/>
            </a:endParaRPr>
          </a:p>
        </p:txBody>
      </p:sp>
      <p:sp>
        <p:nvSpPr>
          <p:cNvPr id="60" name="Line 60"/>
          <p:cNvSpPr/>
          <p:nvPr/>
        </p:nvSpPr>
        <p:spPr>
          <a:xfrm>
            <a:off x="1285875" y="4838700"/>
            <a:ext cx="238125" cy="9525"/>
          </a:xfrm>
          <a:custGeom>
            <a:avLst/>
            <a:gdLst/>
            <a:ahLst/>
            <a:cxnLst/>
            <a:rect l="l" t="t" r="r" b="b"/>
            <a:pathLst>
              <a:path w="238125" h="9525">
                <a:moveTo>
                  <a:pt x="0" y="0"/>
                </a:moveTo>
                <a:lnTo>
                  <a:pt x="238125" y="0"/>
                </a:lnTo>
              </a:path>
            </a:pathLst>
          </a:custGeom>
          <a:noFill/>
          <a:ln w="14288">
            <a:solidFill>
              <a:srgbClr val="1A3A5C"/>
            </a:solidFill>
            <a:custDash>
              <a:ds d="200000" sp="133333"/>
            </a:custDash>
          </a:ln>
        </p:spPr>
      </p:sp>
      <p:sp>
        <p:nvSpPr>
          <p:cNvPr id="61" name="Rectangle 61"/>
          <p:cNvSpPr/>
          <p:nvPr/>
        </p:nvSpPr>
        <p:spPr>
          <a:xfrm>
            <a:off x="1524000" y="4619625"/>
            <a:ext cx="4857750" cy="438150"/>
          </a:xfrm>
          <a:prstGeom prst="roundRect">
            <a:avLst>
              <a:gd name="adj" fmla="val 13043"/>
            </a:avLst>
          </a:prstGeom>
          <a:solidFill>
            <a:srgbClr val="F4F6F8"/>
          </a:solidFill>
          <a:ln>
            <a:noFill/>
          </a:ln>
        </p:spPr>
      </p:sp>
      <p:sp>
        <p:nvSpPr>
          <p:cNvPr id="62" name="Rectangle 62"/>
          <p:cNvSpPr/>
          <p:nvPr/>
        </p:nvSpPr>
        <p:spPr>
          <a:xfrm>
            <a:off x="1524000" y="4619625"/>
            <a:ext cx="38100" cy="438150"/>
          </a:xfrm>
          <a:prstGeom prst="roundRect">
            <a:avLst>
              <a:gd name="adj" fmla="val 50000"/>
            </a:avLst>
          </a:prstGeom>
          <a:solidFill>
            <a:srgbClr val="1A3A5C"/>
          </a:solidFill>
          <a:ln>
            <a:noFill/>
          </a:ln>
        </p:spPr>
      </p:sp>
      <p:sp>
        <p:nvSpPr>
          <p:cNvPr id="63" name="TextBox 63"/>
          <p:cNvSpPr txBox="1"/>
          <p:nvPr/>
        </p:nvSpPr>
        <p:spPr>
          <a:xfrm>
            <a:off x="1679258" y="4682014"/>
            <a:ext cx="5048862"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关联维数 D₂ ≈ 1.24：fractal吸引子，维数介于曲线和曲面之间</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1682115" y="4877752"/>
            <a:ext cx="373713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panose="020B0604020202020204"/>
                <a:ea typeface="微软雅黑" panose="020B0503020204020204" charset="-122"/>
                <a:cs typeface="Arial" panose="020B0604020202020204"/>
              </a:rPr>
              <a:t>与Kaplan-Yorke猜想一致 · 耗散将吸引子压缩到低维子流形</a:t>
            </a:r>
            <a:endParaRPr lang="zh-CN" sz="1050" dirty="0">
              <a:solidFill>
                <a:srgbClr val="7F8C8D"/>
              </a:solidFill>
              <a:latin typeface="Arial" panose="020B0604020202020204"/>
              <a:ea typeface="微软雅黑" panose="020B0503020204020204" charset="-122"/>
              <a:cs typeface="Arial" panose="020B0604020202020204"/>
            </a:endParaRPr>
          </a:p>
        </p:txBody>
      </p:sp>
      <p:sp>
        <p:nvSpPr>
          <p:cNvPr id="65" name="Rectangle 65"/>
          <p:cNvSpPr/>
          <p:nvPr/>
        </p:nvSpPr>
        <p:spPr>
          <a:xfrm>
            <a:off x="6667500" y="1028700"/>
            <a:ext cx="4953000" cy="4191000"/>
          </a:xfrm>
          <a:prstGeom prst="roundRect">
            <a:avLst>
              <a:gd name="adj" fmla="val 1818"/>
            </a:avLst>
          </a:prstGeom>
          <a:solidFill>
            <a:srgbClr val="F4F6F8"/>
          </a:solidFill>
          <a:ln>
            <a:noFill/>
          </a:ln>
        </p:spPr>
      </p:sp>
      <p:grpSp>
        <p:nvGrpSpPr>
          <p:cNvPr id="69" name="Group 69"/>
          <p:cNvGrpSpPr/>
          <p:nvPr/>
        </p:nvGrpSpPr>
        <p:grpSpPr>
          <a:xfrm>
            <a:off x="6991266" y="1317625"/>
            <a:ext cx="168359" cy="168359"/>
            <a:chOff x="6991266" y="1317625"/>
            <a:chExt cx="168359" cy="168359"/>
          </a:xfrm>
        </p:grpSpPr>
        <p:sp>
          <p:nvSpPr>
            <p:cNvPr id="66" name="Freeform 66"/>
            <p:cNvSpPr/>
            <p:nvPr/>
          </p:nvSpPr>
          <p:spPr>
            <a:xfrm>
              <a:off x="6994525" y="1317625"/>
              <a:ext cx="165100" cy="165100"/>
            </a:xfrm>
            <a:custGeom>
              <a:avLst/>
              <a:gdLst/>
              <a:ahLst/>
              <a:cxnLst/>
              <a:rect l="l" t="t" r="r" b="b"/>
              <a:pathLst>
                <a:path w="165100" h="165100">
                  <a:moveTo>
                    <a:pt x="0" y="92869"/>
                  </a:moveTo>
                  <a:cubicBezTo>
                    <a:pt x="37872" y="97370"/>
                    <a:pt x="67730" y="127228"/>
                    <a:pt x="72231" y="165100"/>
                  </a:cubicBezTo>
                  <a:cubicBezTo>
                    <a:pt x="90775" y="154409"/>
                    <a:pt x="102481" y="134899"/>
                    <a:pt x="103187" y="113506"/>
                  </a:cubicBezTo>
                  <a:cubicBezTo>
                    <a:pt x="138620" y="101042"/>
                    <a:pt x="163055" y="68461"/>
                    <a:pt x="165100" y="30956"/>
                  </a:cubicBezTo>
                  <a:cubicBezTo>
                    <a:pt x="165100" y="13860"/>
                    <a:pt x="151240" y="0"/>
                    <a:pt x="134144" y="0"/>
                  </a:cubicBezTo>
                  <a:cubicBezTo>
                    <a:pt x="96639" y="2045"/>
                    <a:pt x="64058" y="26480"/>
                    <a:pt x="51594" y="61912"/>
                  </a:cubicBezTo>
                  <a:cubicBezTo>
                    <a:pt x="30201" y="62619"/>
                    <a:pt x="10691" y="74325"/>
                    <a:pt x="0" y="92869"/>
                  </a:cubicBezTo>
                </a:path>
              </a:pathLst>
            </a:custGeom>
            <a:noFill/>
            <a:ln w="19050">
              <a:solidFill>
                <a:srgbClr val="E74C3C"/>
              </a:solidFill>
            </a:ln>
          </p:spPr>
        </p:sp>
        <p:sp>
          <p:nvSpPr>
            <p:cNvPr id="67" name="Freeform 67"/>
            <p:cNvSpPr/>
            <p:nvPr/>
          </p:nvSpPr>
          <p:spPr>
            <a:xfrm>
              <a:off x="6991266" y="1420812"/>
              <a:ext cx="65172" cy="65172"/>
            </a:xfrm>
            <a:custGeom>
              <a:avLst/>
              <a:gdLst/>
              <a:ahLst/>
              <a:cxnLst/>
              <a:rect l="l" t="t" r="r" b="b"/>
              <a:pathLst>
                <a:path w="65172" h="65172">
                  <a:moveTo>
                    <a:pt x="34216" y="0"/>
                  </a:moveTo>
                  <a:cubicBezTo>
                    <a:pt x="12246" y="12403"/>
                    <a:pt x="0" y="36895"/>
                    <a:pt x="3259" y="61912"/>
                  </a:cubicBezTo>
                  <a:cubicBezTo>
                    <a:pt x="28276" y="65172"/>
                    <a:pt x="52769" y="52925"/>
                    <a:pt x="65172" y="30956"/>
                  </a:cubicBezTo>
                </a:path>
              </a:pathLst>
            </a:custGeom>
            <a:noFill/>
            <a:ln w="19050">
              <a:solidFill>
                <a:srgbClr val="E74C3C"/>
              </a:solidFill>
            </a:ln>
          </p:spPr>
        </p:sp>
        <p:sp>
          <p:nvSpPr>
            <p:cNvPr id="68" name="Freeform 68"/>
            <p:cNvSpPr/>
            <p:nvPr/>
          </p:nvSpPr>
          <p:spPr>
            <a:xfrm>
              <a:off x="7097712" y="1358900"/>
              <a:ext cx="20638" cy="20638"/>
            </a:xfrm>
            <a:custGeom>
              <a:avLst/>
              <a:gdLst/>
              <a:ahLst/>
              <a:cxnLst/>
              <a:rect l="l" t="t" r="r" b="b"/>
              <a:pathLst>
                <a:path w="20638" h="20638">
                  <a:moveTo>
                    <a:pt x="0" y="10319"/>
                  </a:moveTo>
                  <a:cubicBezTo>
                    <a:pt x="0" y="16018"/>
                    <a:pt x="4620" y="20638"/>
                    <a:pt x="10319" y="20638"/>
                  </a:cubicBezTo>
                  <a:cubicBezTo>
                    <a:pt x="16018" y="20638"/>
                    <a:pt x="20638" y="16018"/>
                    <a:pt x="20638" y="10319"/>
                  </a:cubicBezTo>
                  <a:cubicBezTo>
                    <a:pt x="20638" y="4620"/>
                    <a:pt x="16018" y="0"/>
                    <a:pt x="10319" y="0"/>
                  </a:cubicBezTo>
                  <a:cubicBezTo>
                    <a:pt x="4620" y="0"/>
                    <a:pt x="0" y="4620"/>
                    <a:pt x="0" y="10319"/>
                  </a:cubicBezTo>
                </a:path>
              </a:pathLst>
            </a:custGeom>
            <a:noFill/>
            <a:ln w="19050">
              <a:solidFill>
                <a:srgbClr val="E74C3C"/>
              </a:solidFill>
            </a:ln>
          </p:spPr>
        </p:sp>
      </p:grpSp>
      <p:sp>
        <p:nvSpPr>
          <p:cNvPr id="70" name="TextBox 70"/>
          <p:cNvSpPr txBox="1"/>
          <p:nvPr/>
        </p:nvSpPr>
        <p:spPr>
          <a:xfrm>
            <a:off x="7275195" y="1288732"/>
            <a:ext cx="96602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panose="020B0502040204020203"/>
                <a:ea typeface="黑体" panose="02010609060101010101" charset="-122"/>
                <a:cs typeface="Segoe UI" panose="020B0502040204020203"/>
              </a:rPr>
              <a:t>未来展望</a:t>
            </a:r>
            <a:endParaRPr lang="zh-CN" sz="1650" b="1" dirty="0">
              <a:solidFill>
                <a:srgbClr val="1A3A5C"/>
              </a:solidFill>
              <a:latin typeface="Segoe UI" panose="020B0502040204020203"/>
              <a:ea typeface="黑体" panose="02010609060101010101" charset="-122"/>
              <a:cs typeface="Segoe UI" panose="020B0502040204020203"/>
            </a:endParaRPr>
          </a:p>
        </p:txBody>
      </p:sp>
      <p:sp>
        <p:nvSpPr>
          <p:cNvPr id="71" name="Rectangle 71"/>
          <p:cNvSpPr/>
          <p:nvPr/>
        </p:nvSpPr>
        <p:spPr>
          <a:xfrm>
            <a:off x="6953250" y="1676400"/>
            <a:ext cx="4381500" cy="647700"/>
          </a:xfrm>
          <a:prstGeom prst="roundRect">
            <a:avLst>
              <a:gd name="adj" fmla="val 8824"/>
            </a:avLst>
          </a:prstGeom>
          <a:solidFill>
            <a:srgbClr val="FFFFFF"/>
          </a:solidFill>
          <a:ln w="9525">
            <a:solidFill>
              <a:srgbClr val="D5D8DC"/>
            </a:solidFill>
          </a:ln>
        </p:spPr>
      </p:sp>
      <p:sp>
        <p:nvSpPr>
          <p:cNvPr id="72" name="Ellipse 72"/>
          <p:cNvSpPr/>
          <p:nvPr/>
        </p:nvSpPr>
        <p:spPr>
          <a:xfrm>
            <a:off x="7058025" y="1781175"/>
            <a:ext cx="209550" cy="209550"/>
          </a:xfrm>
          <a:prstGeom prst="ellipse">
            <a:avLst/>
          </a:prstGeom>
          <a:solidFill>
            <a:srgbClr val="2E86C1"/>
          </a:solidFill>
          <a:ln>
            <a:noFill/>
          </a:ln>
        </p:spPr>
      </p:sp>
      <p:sp>
        <p:nvSpPr>
          <p:cNvPr id="73" name="TextBox 73"/>
          <p:cNvSpPr txBox="1"/>
          <p:nvPr/>
        </p:nvSpPr>
        <p:spPr>
          <a:xfrm>
            <a:off x="7137523" y="1852612"/>
            <a:ext cx="50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Consolas" panose="020B0609020204030204"/>
                <a:ea typeface="微软雅黑" panose="020B0503020204020204" charset="-122"/>
                <a:cs typeface="Consolas" panose="020B0609020204030204"/>
              </a:rPr>
              <a:t>1</a:t>
            </a:r>
            <a:endParaRPr lang="zh-CN" sz="750" b="1" dirty="0">
              <a:solidFill>
                <a:srgbClr val="FFFFFF"/>
              </a:solidFill>
              <a:latin typeface="Consolas" panose="020B0609020204030204"/>
              <a:ea typeface="微软雅黑" panose="020B0503020204020204" charset="-122"/>
              <a:cs typeface="Consolas" panose="020B0609020204030204"/>
            </a:endParaRPr>
          </a:p>
        </p:txBody>
      </p:sp>
      <p:sp>
        <p:nvSpPr>
          <p:cNvPr id="74" name="TextBox 74"/>
          <p:cNvSpPr txBox="1"/>
          <p:nvPr/>
        </p:nvSpPr>
        <p:spPr>
          <a:xfrm>
            <a:off x="7365682" y="1757839"/>
            <a:ext cx="746474"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计算加速</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7367588" y="1993106"/>
            <a:ext cx="320897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Numba JIT 编译 / GPU 加速 → 提升 1-2 个数量级</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76" name="Rectangle 76"/>
          <p:cNvSpPr/>
          <p:nvPr/>
        </p:nvSpPr>
        <p:spPr>
          <a:xfrm>
            <a:off x="6953250" y="2438400"/>
            <a:ext cx="4381500" cy="647700"/>
          </a:xfrm>
          <a:prstGeom prst="roundRect">
            <a:avLst>
              <a:gd name="adj" fmla="val 8824"/>
            </a:avLst>
          </a:prstGeom>
          <a:solidFill>
            <a:srgbClr val="FFFFFF"/>
          </a:solidFill>
          <a:ln w="9525">
            <a:solidFill>
              <a:srgbClr val="D5D8DC"/>
            </a:solidFill>
          </a:ln>
        </p:spPr>
      </p:sp>
      <p:sp>
        <p:nvSpPr>
          <p:cNvPr id="77" name="Ellipse 77"/>
          <p:cNvSpPr/>
          <p:nvPr/>
        </p:nvSpPr>
        <p:spPr>
          <a:xfrm>
            <a:off x="7058025" y="2543175"/>
            <a:ext cx="209550" cy="209550"/>
          </a:xfrm>
          <a:prstGeom prst="ellipse">
            <a:avLst/>
          </a:prstGeom>
          <a:solidFill>
            <a:srgbClr val="27AE60"/>
          </a:solidFill>
          <a:ln>
            <a:noFill/>
          </a:ln>
        </p:spPr>
      </p:sp>
      <p:sp>
        <p:nvSpPr>
          <p:cNvPr id="78" name="TextBox 78"/>
          <p:cNvSpPr txBox="1"/>
          <p:nvPr/>
        </p:nvSpPr>
        <p:spPr>
          <a:xfrm>
            <a:off x="7124396" y="26146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Consolas" panose="020B0609020204030204"/>
                <a:ea typeface="微软雅黑" panose="020B0503020204020204" charset="-122"/>
                <a:cs typeface="Consolas" panose="020B0609020204030204"/>
              </a:rPr>
              <a:t>2</a:t>
            </a:r>
            <a:endParaRPr lang="zh-CN" sz="750" b="1" dirty="0">
              <a:solidFill>
                <a:srgbClr val="FFFFFF"/>
              </a:solidFill>
              <a:latin typeface="Consolas" panose="020B0609020204030204"/>
              <a:ea typeface="微软雅黑" panose="020B0503020204020204" charset="-122"/>
              <a:cs typeface="Consolas" panose="020B0609020204030204"/>
            </a:endParaRPr>
          </a:p>
        </p:txBody>
      </p:sp>
      <p:sp>
        <p:nvSpPr>
          <p:cNvPr id="79" name="TextBox 79"/>
          <p:cNvSpPr txBox="1"/>
          <p:nvPr/>
        </p:nvSpPr>
        <p:spPr>
          <a:xfrm>
            <a:off x="7365682" y="2519839"/>
            <a:ext cx="1460564"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更高分辨率分岔图</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80" name="TextBox 80"/>
          <p:cNvSpPr txBox="1"/>
          <p:nvPr/>
        </p:nvSpPr>
        <p:spPr>
          <a:xfrm>
            <a:off x="7367588" y="2755106"/>
            <a:ext cx="370403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探索混沌带内部周期窗口，验证 Feigenbaum δ ≈ 4.669</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81" name="Rectangle 81"/>
          <p:cNvSpPr/>
          <p:nvPr/>
        </p:nvSpPr>
        <p:spPr>
          <a:xfrm>
            <a:off x="6953250" y="3200400"/>
            <a:ext cx="4381500" cy="647700"/>
          </a:xfrm>
          <a:prstGeom prst="roundRect">
            <a:avLst>
              <a:gd name="adj" fmla="val 8824"/>
            </a:avLst>
          </a:prstGeom>
          <a:solidFill>
            <a:srgbClr val="FFFFFF"/>
          </a:solidFill>
          <a:ln w="9525">
            <a:solidFill>
              <a:srgbClr val="D5D8DC"/>
            </a:solidFill>
          </a:ln>
        </p:spPr>
      </p:sp>
      <p:sp>
        <p:nvSpPr>
          <p:cNvPr id="82" name="Ellipse 82"/>
          <p:cNvSpPr/>
          <p:nvPr/>
        </p:nvSpPr>
        <p:spPr>
          <a:xfrm>
            <a:off x="7058025" y="3305175"/>
            <a:ext cx="209550" cy="209550"/>
          </a:xfrm>
          <a:prstGeom prst="ellipse">
            <a:avLst/>
          </a:prstGeom>
          <a:solidFill>
            <a:srgbClr val="E67E22"/>
          </a:solidFill>
          <a:ln>
            <a:noFill/>
          </a:ln>
        </p:spPr>
      </p:sp>
      <p:sp>
        <p:nvSpPr>
          <p:cNvPr id="83" name="TextBox 83"/>
          <p:cNvSpPr txBox="1"/>
          <p:nvPr/>
        </p:nvSpPr>
        <p:spPr>
          <a:xfrm>
            <a:off x="7124396" y="33766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Consolas" panose="020B0609020204030204"/>
                <a:ea typeface="微软雅黑" panose="020B0503020204020204" charset="-122"/>
                <a:cs typeface="Consolas" panose="020B0609020204030204"/>
              </a:rPr>
              <a:t>3</a:t>
            </a:r>
            <a:endParaRPr lang="zh-CN" sz="750" b="1" dirty="0">
              <a:solidFill>
                <a:srgbClr val="FFFFFF"/>
              </a:solidFill>
              <a:latin typeface="Consolas" panose="020B0609020204030204"/>
              <a:ea typeface="微软雅黑" panose="020B0503020204020204" charset="-122"/>
              <a:cs typeface="Consolas" panose="020B0609020204030204"/>
            </a:endParaRPr>
          </a:p>
        </p:txBody>
      </p:sp>
      <p:sp>
        <p:nvSpPr>
          <p:cNvPr id="84" name="TextBox 84"/>
          <p:cNvSpPr txBox="1"/>
          <p:nvPr/>
        </p:nvSpPr>
        <p:spPr>
          <a:xfrm>
            <a:off x="7365682" y="3281839"/>
            <a:ext cx="1103519"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更长时间积分</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85" name="TextBox 85"/>
          <p:cNvSpPr txBox="1"/>
          <p:nvPr/>
        </p:nvSpPr>
        <p:spPr>
          <a:xfrm>
            <a:off x="7367588" y="3517106"/>
            <a:ext cx="364402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每格点 T &gt; 100s → 缓慢发散区 Lyapunov 收敛精度提升</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86" name="Rectangle 86"/>
          <p:cNvSpPr/>
          <p:nvPr/>
        </p:nvSpPr>
        <p:spPr>
          <a:xfrm>
            <a:off x="6953250" y="3962400"/>
            <a:ext cx="4381500" cy="647700"/>
          </a:xfrm>
          <a:prstGeom prst="roundRect">
            <a:avLst>
              <a:gd name="adj" fmla="val 8824"/>
            </a:avLst>
          </a:prstGeom>
          <a:solidFill>
            <a:srgbClr val="FFFFFF"/>
          </a:solidFill>
          <a:ln w="9525">
            <a:solidFill>
              <a:srgbClr val="D5D8DC"/>
            </a:solidFill>
          </a:ln>
        </p:spPr>
      </p:sp>
      <p:sp>
        <p:nvSpPr>
          <p:cNvPr id="87" name="Ellipse 87"/>
          <p:cNvSpPr/>
          <p:nvPr/>
        </p:nvSpPr>
        <p:spPr>
          <a:xfrm>
            <a:off x="7058025" y="4067175"/>
            <a:ext cx="209550" cy="209550"/>
          </a:xfrm>
          <a:prstGeom prst="ellipse">
            <a:avLst/>
          </a:prstGeom>
          <a:solidFill>
            <a:srgbClr val="8E44AD"/>
          </a:solidFill>
          <a:ln>
            <a:noFill/>
          </a:ln>
        </p:spPr>
      </p:sp>
      <p:sp>
        <p:nvSpPr>
          <p:cNvPr id="88" name="TextBox 88"/>
          <p:cNvSpPr txBox="1"/>
          <p:nvPr/>
        </p:nvSpPr>
        <p:spPr>
          <a:xfrm>
            <a:off x="7124396" y="41386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Consolas" panose="020B0609020204030204"/>
                <a:ea typeface="微软雅黑" panose="020B0503020204020204" charset="-122"/>
                <a:cs typeface="Consolas" panose="020B0609020204030204"/>
              </a:rPr>
              <a:t>4</a:t>
            </a:r>
            <a:endParaRPr lang="zh-CN" sz="750" b="1" dirty="0">
              <a:solidFill>
                <a:srgbClr val="FFFFFF"/>
              </a:solidFill>
              <a:latin typeface="Consolas" panose="020B0609020204030204"/>
              <a:ea typeface="微软雅黑" panose="020B0503020204020204" charset="-122"/>
              <a:cs typeface="Consolas" panose="020B0609020204030204"/>
            </a:endParaRPr>
          </a:p>
        </p:txBody>
      </p:sp>
      <p:sp>
        <p:nvSpPr>
          <p:cNvPr id="89" name="TextBox 89"/>
          <p:cNvSpPr txBox="1"/>
          <p:nvPr/>
        </p:nvSpPr>
        <p:spPr>
          <a:xfrm>
            <a:off x="7365682" y="4043839"/>
            <a:ext cx="1282041" cy="259080"/>
          </a:xfrm>
          <a:prstGeom prst="rect">
            <a:avLst/>
          </a:prstGeom>
          <a:noFill/>
          <a:ln>
            <a:noFill/>
          </a:ln>
        </p:spPr>
        <p:txBody>
          <a:bodyPr wrap="none" lIns="0" tIns="0" rIns="0" bIns="0" anchor="t" anchorCtr="0">
            <a:spAutoFit/>
          </a:bodyPr>
          <a:lstStyle/>
          <a:p>
            <a:pPr algn="l"/>
            <a:r>
              <a:rPr lang="zh-CN" sz="1275" b="1" dirty="0">
                <a:solidFill>
                  <a:srgbClr val="2C3E50"/>
                </a:solidFill>
                <a:latin typeface="Arial" panose="020B0604020202020204"/>
                <a:ea typeface="微软雅黑" panose="020B0503020204020204" charset="-122"/>
                <a:cs typeface="Arial" panose="020B0604020202020204"/>
              </a:rPr>
              <a:t>可视化教学资源</a:t>
            </a:r>
            <a:endParaRPr lang="zh-CN" sz="1275" b="1" dirty="0">
              <a:solidFill>
                <a:srgbClr val="2C3E50"/>
              </a:solidFill>
              <a:latin typeface="Arial" panose="020B0604020202020204"/>
              <a:ea typeface="微软雅黑" panose="020B0503020204020204" charset="-122"/>
              <a:cs typeface="Arial" panose="020B0604020202020204"/>
            </a:endParaRPr>
          </a:p>
        </p:txBody>
      </p:sp>
      <p:sp>
        <p:nvSpPr>
          <p:cNvPr id="90" name="TextBox 90"/>
          <p:cNvSpPr txBox="1"/>
          <p:nvPr/>
        </p:nvSpPr>
        <p:spPr>
          <a:xfrm>
            <a:off x="7367588" y="4279106"/>
            <a:ext cx="259389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panose="020B0604020202020204"/>
                <a:ea typeface="微软雅黑" panose="020B0503020204020204" charset="-122"/>
                <a:cs typeface="Arial" panose="020B0604020202020204"/>
              </a:rPr>
              <a:t>4个模拟动画GIF + 交互式参数探索工具</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91" name="Rectangle 91"/>
          <p:cNvSpPr/>
          <p:nvPr/>
        </p:nvSpPr>
        <p:spPr>
          <a:xfrm>
            <a:off x="571500" y="5429250"/>
            <a:ext cx="11049000" cy="590550"/>
          </a:xfrm>
          <a:prstGeom prst="roundRect">
            <a:avLst>
              <a:gd name="adj" fmla="val 12903"/>
            </a:avLst>
          </a:prstGeom>
          <a:solidFill>
            <a:srgbClr val="1A3A5C">
              <a:alpha val="6000"/>
            </a:srgbClr>
          </a:solidFill>
          <a:ln>
            <a:noFill/>
          </a:ln>
        </p:spPr>
      </p:sp>
      <p:sp>
        <p:nvSpPr>
          <p:cNvPr id="92" name="TextBox 92"/>
          <p:cNvSpPr txBox="1"/>
          <p:nvPr/>
        </p:nvSpPr>
        <p:spPr>
          <a:xfrm>
            <a:off x="2270029" y="5531168"/>
            <a:ext cx="7651942"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panose="020B0502040204020203"/>
                <a:ea typeface="黑体" panose="02010609060101010101" charset="-122"/>
                <a:cs typeface="Segoe UI" panose="020B0502040204020203"/>
              </a:rPr>
              <a:t>核心启示：确定性的方程 ≠ 可预测的运动 — 数值方法的选择与混沌诊断手段的应用相辅相成</a:t>
            </a:r>
            <a:endParaRPr lang="zh-CN" sz="1350" b="1" dirty="0">
              <a:solidFill>
                <a:srgbClr val="1A3A5C"/>
              </a:solidFill>
              <a:latin typeface="Segoe UI" panose="020B0502040204020203"/>
              <a:ea typeface="黑体" panose="02010609060101010101" charset="-122"/>
              <a:cs typeface="Segoe UI" panose="020B0502040204020203"/>
            </a:endParaRPr>
          </a:p>
        </p:txBody>
      </p:sp>
      <p:sp>
        <p:nvSpPr>
          <p:cNvPr id="93" name="TextBox 93"/>
          <p:cNvSpPr txBox="1"/>
          <p:nvPr/>
        </p:nvSpPr>
        <p:spPr>
          <a:xfrm>
            <a:off x="2256234" y="5765006"/>
            <a:ext cx="7679531"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所有数值结果由自主编写的 Python 代码生成 (DeepSeek-V4-pro 辅助编程) · 代码模块化、参数可配、结果可复现</a:t>
            </a:r>
            <a:endParaRPr lang="zh-CN" sz="1125" dirty="0">
              <a:solidFill>
                <a:srgbClr val="7F8C8D"/>
              </a:solidFill>
              <a:latin typeface="Arial" panose="020B0604020202020204"/>
              <a:ea typeface="微软雅黑" panose="020B0503020204020204" charset="-122"/>
              <a:cs typeface="Arial" panose="020B0604020202020204"/>
            </a:endParaRPr>
          </a:p>
        </p:txBody>
      </p:sp>
      <p:sp>
        <p:nvSpPr>
          <p:cNvPr id="94" name="TextBox 94"/>
          <p:cNvSpPr txBox="1"/>
          <p:nvPr/>
        </p:nvSpPr>
        <p:spPr>
          <a:xfrm>
            <a:off x="559118" y="6514624"/>
            <a:ext cx="305414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云南大学 · 物理与天文学院 · 计算物理课程期末答辩</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95" name="TextBox 95"/>
          <p:cNvSpPr txBox="1"/>
          <p:nvPr/>
        </p:nvSpPr>
        <p:spPr>
          <a:xfrm>
            <a:off x="11237571" y="6514624"/>
            <a:ext cx="395311" cy="198120"/>
          </a:xfrm>
          <a:prstGeom prst="rect">
            <a:avLst/>
          </a:prstGeom>
          <a:noFill/>
          <a:ln>
            <a:noFill/>
          </a:ln>
        </p:spPr>
        <p:txBody>
          <a:bodyPr wrap="none" lIns="0" tIns="0" rIns="0" bIns="0" anchor="t" anchorCtr="0">
            <a:spAutoFit/>
          </a:bodyPr>
          <a:lstStyle/>
          <a:p>
            <a:pPr algn="r"/>
            <a:r>
              <a:rPr lang="zh-CN" sz="975" dirty="0">
                <a:solidFill>
                  <a:srgbClr val="7F8C8D"/>
                </a:solidFill>
                <a:latin typeface="Arial" panose="020B0604020202020204"/>
                <a:ea typeface="微软雅黑" panose="020B0503020204020204" charset="-122"/>
                <a:cs typeface="Arial" panose="020B0604020202020204"/>
              </a:rPr>
              <a:t>10 / 10</a:t>
            </a:r>
            <a:endParaRPr lang="zh-CN" sz="975"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4536</Words>
  <Application>WPS 演示</Application>
  <PresentationFormat>On-screen Show (4:3)</PresentationFormat>
  <Paragraphs>489</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Arial</vt:lpstr>
      <vt:lpstr>Segoe UI</vt:lpstr>
      <vt:lpstr>黑体</vt:lpstr>
      <vt:lpstr>微软雅黑</vt:lpstr>
      <vt:lpstr>Consolas</vt:lpstr>
      <vt:lpstr>Arial Unicode MS</vt:lpstr>
      <vt:lpstr>Calibri</vt:lpstr>
      <vt:lpstr>Cambria Math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王翔熙</cp:lastModifiedBy>
  <cp:revision>2</cp:revision>
  <dcterms:created xsi:type="dcterms:W3CDTF">2013-01-27T09:14:00Z</dcterms:created>
  <dcterms:modified xsi:type="dcterms:W3CDTF">2026-07-01T16:30:42Z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502A43CF733F414084596DE83DCF37B4_12</vt:lpwstr>
  </property>
  <property fmtid="{D5CDD505-2E9C-101B-9397-08002B2CF9AE}" pid="3" name="KSOProductBuildVer">
    <vt:lpwstr>2052-12.1.0.21171</vt:lpwstr>
  </property>
</Properties>
</file>